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f3b3d7a421c06214fa4e3701c4b8b551" ContentType="image/f3b3d7a421c06214fa4e3701c4b8b551"/>
  <Default Extension="c45bd05b5b46ae46dcdf39e9a108e0f3" ContentType="image/c45bd05b5b46ae46dcdf39e9a108e0f3"/>
  <Default Extension="5ebb47e79b64be028315e8d12cd0ef16" ContentType="image/5ebb47e79b64be028315e8d12cd0ef16"/>
  <Default Extension="49d1cf55d30abe301dd811872597adce" ContentType="image/49d1cf55d30abe301dd811872597adce"/>
  <Default Extension="81a0e3f161ae08c814a462c29f8b1592" ContentType="image/81a0e3f161ae08c814a462c29f8b1592"/>
  <Default Extension="bd069f773fd486a88f45fc7ba30747a2" ContentType="image/bd069f773fd486a88f45fc7ba30747a2"/>
  <Default Extension="ec30a9c63b2c8afe8795e5ae53ae5b47" ContentType="image/ec30a9c63b2c8afe8795e5ae53ae5b47"/>
  <Default Extension="d7ea83a76b0bac6808b8db0f81f445f3" ContentType="image/d7ea83a76b0bac6808b8db0f81f445f3"/>
  <Default Extension="8bcd02fb621fde3f6381959954f0ec1c" ContentType="image/8bcd02fb621fde3f6381959954f0ec1c"/>
  <Default Extension="51aa9d42efc189fa2a9228bb6f894c3e" ContentType="image/51aa9d42efc189fa2a9228bb6f894c3e"/>
  <Default Extension="b3d245124f36a295d7bae5faaa5ab4c0" ContentType="image/b3d245124f36a295d7bae5faaa5ab4c0"/>
  <Default Extension="085824c4e49fff08355b9144128314e6" ContentType="image/085824c4e49fff08355b9144128314e6"/>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f3b3d7a421c06214fa4e3701c4b8b551"/><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c45bd05b5b46ae46dcdf39e9a108e0f3"/><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5ebb47e79b64be028315e8d12cd0ef16"/><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49d1cf55d30abe301dd811872597adce"/><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81a0e3f161ae08c814a462c29f8b1592"/><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bd069f773fd486a88f45fc7ba30747a2"/><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ec30a9c63b2c8afe8795e5ae53ae5b47"/><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d7ea83a76b0bac6808b8db0f81f445f3"/><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slideLayout" Target="../slideLayouts/slideLayout1.xml"/><Relationship Id="rId1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8bcd02fb621fde3f6381959954f0ec1c"/><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51aa9d42efc189fa2a9228bb6f894c3e"/><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b3d245124f36a295d7bae5faaa5ab4c0"/><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085824c4e49fff08355b9144128314e6"/><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4267505" y="1037844"/>
            <a:ext cx="4010558" cy="667512"/>
          </a:xfrm>
          <a:prstGeom prst="rect">
            <a:avLst/>
          </a:prstGeom>
          <a:noFill/>
          <a:ln/>
        </p:spPr>
        <p:txBody>
          <a:bodyPr wrap="square" lIns="0" tIns="0" rIns="0" bIns="0" rtlCol="0" anchor="ctr"/>
          <a:lstStyle/>
          <a:p>
            <a:pPr algn="ctr" indent="0" marL="0">
              <a:buNone/>
            </a:pPr>
            <a:r>
              <a:rPr lang="en-US" sz="3600" b="1" dirty="0">
                <a:solidFill>
                  <a:srgbClr val="005BAC"/>
                </a:solidFill>
                <a:latin typeface="Noto Sans JP" pitchFamily="34" charset="0"/>
                <a:ea typeface="Noto Sans JP" pitchFamily="34" charset="-122"/>
                <a:cs typeface="Noto Sans JP" pitchFamily="34" charset="-120"/>
              </a:rPr>
              <a:t>現地調査報告業務</a:t>
            </a:r>
            <a:endParaRPr lang="en-US" sz="3600" dirty="0"/>
          </a:p>
        </p:txBody>
      </p:sp>
      <p:sp>
        <p:nvSpPr>
          <p:cNvPr id="6" name="Text 4"/>
          <p:cNvSpPr txBox="1"/>
          <p:nvPr/>
        </p:nvSpPr>
        <p:spPr>
          <a:xfrm>
            <a:off x="4849978" y="1733702"/>
            <a:ext cx="2753258" cy="495605"/>
          </a:xfrm>
          <a:prstGeom prst="rect">
            <a:avLst/>
          </a:prstGeom>
          <a:noFill/>
          <a:ln/>
        </p:spPr>
        <p:txBody>
          <a:bodyPr wrap="square" lIns="0" tIns="0" rIns="0" bIns="0" rtlCol="0" anchor="ctr"/>
          <a:lstStyle/>
          <a:p>
            <a:pPr algn="ctr" indent="0" marL="0">
              <a:buNone/>
            </a:pPr>
            <a:r>
              <a:rPr lang="en-US" sz="2700" dirty="0">
                <a:solidFill>
                  <a:srgbClr val="005BAC"/>
                </a:solidFill>
                <a:latin typeface="Noto Sans JP" pitchFamily="34" charset="0"/>
                <a:ea typeface="Noto Sans JP" pitchFamily="34" charset="-122"/>
                <a:cs typeface="Noto Sans JP" pitchFamily="34" charset="-120"/>
              </a:rPr>
              <a:t>DX推進のご提案</a:t>
            </a:r>
            <a:endParaRPr lang="en-US" sz="2700" dirty="0"/>
          </a:p>
        </p:txBody>
      </p:sp>
      <p:sp>
        <p:nvSpPr>
          <p:cNvPr id="7" name="Shape 5"/>
          <p:cNvSpPr/>
          <p:nvPr/>
        </p:nvSpPr>
        <p:spPr>
          <a:xfrm>
            <a:off x="5143500" y="2933395"/>
            <a:ext cx="1904695" cy="75895"/>
          </a:xfrm>
          <a:prstGeom prst="roundRect">
            <a:avLst>
              <a:gd name="adj" fmla="val 602411"/>
            </a:avLst>
          </a:prstGeom>
          <a:solidFill>
            <a:srgbClr val="FFC400"/>
          </a:solidFill>
          <a:ln/>
        </p:spPr>
      </p:sp>
      <p:sp>
        <p:nvSpPr>
          <p:cNvPr id="8" name="Shape 6"/>
          <p:cNvSpPr/>
          <p:nvPr/>
        </p:nvSpPr>
        <p:spPr>
          <a:xfrm>
            <a:off x="4267505" y="3486607"/>
            <a:ext cx="914400" cy="914400"/>
          </a:xfrm>
          <a:prstGeom prst="roundRect">
            <a:avLst>
              <a:gd name="adj" fmla="val 100000"/>
            </a:avLst>
          </a:prstGeom>
          <a:solidFill>
            <a:srgbClr val="F3F4F6"/>
          </a:solidFill>
          <a:ln/>
          <a:effectLst>
            <a:outerShdw sx="100000" sy="100000" kx="0" ky="0" algn="bl" rotWithShape="0" blurRad="12700" dist="12700" dir="16200000">
              <a:srgbClr val="000000">
                <a:alpha val="75000"/>
              </a:srgbClr>
            </a:outerShdw>
          </a:effectLst>
        </p:spPr>
      </p:sp>
      <p:pic>
        <p:nvPicPr>
          <p:cNvPr id="9" name="Image 0" descr="preencoded.png">    </p:cNvPr>
          <p:cNvPicPr>
            <a:picLocks noChangeAspect="1"/>
          </p:cNvPicPr>
          <p:nvPr/>
        </p:nvPicPr>
        <p:blipFill>
          <a:blip r:embed="rId1"/>
          <a:srcRect l="-607" r="-607" t="0" b="0"/>
          <a:stretch/>
        </p:blipFill>
        <p:spPr>
          <a:xfrm>
            <a:off x="4481474" y="3771900"/>
            <a:ext cx="390449" cy="342900"/>
          </a:xfrm>
          <a:prstGeom prst="rect">
            <a:avLst/>
          </a:prstGeom>
        </p:spPr>
      </p:pic>
      <p:sp>
        <p:nvSpPr>
          <p:cNvPr id="10" name="Shape 7"/>
          <p:cNvSpPr/>
          <p:nvPr/>
        </p:nvSpPr>
        <p:spPr>
          <a:xfrm>
            <a:off x="5639105" y="3486607"/>
            <a:ext cx="914400" cy="914400"/>
          </a:xfrm>
          <a:prstGeom prst="roundRect">
            <a:avLst>
              <a:gd name="adj" fmla="val 100000"/>
            </a:avLst>
          </a:prstGeom>
          <a:solidFill>
            <a:srgbClr val="F3F4F6"/>
          </a:solidFill>
          <a:ln/>
          <a:effectLst>
            <a:outerShdw sx="100000" sy="100000" kx="0" ky="0" algn="bl" rotWithShape="0" blurRad="12700" dist="12700" dir="16200000">
              <a:srgbClr val="000000">
                <a:alpha val="75000"/>
              </a:srgbClr>
            </a:outerShdw>
          </a:effectLst>
        </p:spPr>
      </p:sp>
      <p:pic>
        <p:nvPicPr>
          <p:cNvPr id="11" name="Image 1" descr="preencoded.png">    </p:cNvPr>
          <p:cNvPicPr>
            <a:picLocks noChangeAspect="1"/>
          </p:cNvPicPr>
          <p:nvPr/>
        </p:nvPicPr>
        <p:blipFill>
          <a:blip r:embed="rId2"/>
          <a:srcRect l="0" r="0" t="-45" b="-45"/>
          <a:stretch/>
        </p:blipFill>
        <p:spPr>
          <a:xfrm>
            <a:off x="5919826" y="3771900"/>
            <a:ext cx="256946" cy="342900"/>
          </a:xfrm>
          <a:prstGeom prst="rect">
            <a:avLst/>
          </a:prstGeom>
        </p:spPr>
      </p:pic>
      <p:sp>
        <p:nvSpPr>
          <p:cNvPr id="12" name="Shape 8"/>
          <p:cNvSpPr/>
          <p:nvPr/>
        </p:nvSpPr>
        <p:spPr>
          <a:xfrm>
            <a:off x="7010705" y="3486607"/>
            <a:ext cx="914400" cy="914400"/>
          </a:xfrm>
          <a:prstGeom prst="roundRect">
            <a:avLst>
              <a:gd name="adj" fmla="val 100000"/>
            </a:avLst>
          </a:prstGeom>
          <a:solidFill>
            <a:srgbClr val="F3F4F6"/>
          </a:solidFill>
          <a:ln/>
          <a:effectLst>
            <a:outerShdw sx="100000" sy="100000" kx="0" ky="0" algn="bl" rotWithShape="0" blurRad="12700" dist="12700" dir="16200000">
              <a:srgbClr val="000000">
                <a:alpha val="75000"/>
              </a:srgbClr>
            </a:outerShdw>
          </a:effectLst>
        </p:spPr>
      </p:sp>
      <p:pic>
        <p:nvPicPr>
          <p:cNvPr id="13" name="Image 2" descr="preencoded.png">    </p:cNvPr>
          <p:cNvPicPr>
            <a:picLocks noChangeAspect="1"/>
          </p:cNvPicPr>
          <p:nvPr/>
        </p:nvPicPr>
        <p:blipFill>
          <a:blip r:embed="rId3"/>
          <a:srcRect l="0" r="0" t="0" b="0"/>
          <a:stretch/>
        </p:blipFill>
        <p:spPr>
          <a:xfrm>
            <a:off x="7248449" y="3771900"/>
            <a:ext cx="342900" cy="342900"/>
          </a:xfrm>
          <a:prstGeom prst="rect">
            <a:avLst/>
          </a:prstGeom>
        </p:spPr>
      </p:pic>
      <p:sp>
        <p:nvSpPr>
          <p:cNvPr id="14" name="Text 9"/>
          <p:cNvSpPr txBox="1"/>
          <p:nvPr/>
        </p:nvSpPr>
        <p:spPr>
          <a:xfrm>
            <a:off x="4809744" y="4876495"/>
            <a:ext cx="2701138" cy="247802"/>
          </a:xfrm>
          <a:prstGeom prst="rect">
            <a:avLst/>
          </a:prstGeom>
          <a:noFill/>
          <a:ln/>
        </p:spPr>
        <p:txBody>
          <a:bodyPr wrap="square" lIns="0" tIns="0" rIns="0" bIns="0" rtlCol="0" anchor="ctr"/>
          <a:lstStyle/>
          <a:p>
            <a:pPr algn="ctr" indent="0" marL="0">
              <a:buNone/>
            </a:pPr>
            <a:r>
              <a:rPr lang="en-US" sz="1300" dirty="0">
                <a:solidFill>
                  <a:srgbClr val="333333"/>
                </a:solidFill>
                <a:latin typeface="Noto Sans JP" pitchFamily="34" charset="0"/>
                <a:ea typeface="Noto Sans JP" pitchFamily="34" charset="-122"/>
                <a:cs typeface="Noto Sans JP" pitchFamily="34" charset="-120"/>
              </a:rPr>
              <a:t>ご提案先：株式会社グラフデポ様</a:t>
            </a:r>
            <a:endParaRPr lang="en-US" sz="1300" dirty="0"/>
          </a:p>
        </p:txBody>
      </p:sp>
      <p:sp>
        <p:nvSpPr>
          <p:cNvPr id="15" name="Text 10"/>
          <p:cNvSpPr txBox="1"/>
          <p:nvPr/>
        </p:nvSpPr>
        <p:spPr>
          <a:xfrm>
            <a:off x="4898441" y="5514746"/>
            <a:ext cx="2529230" cy="247802"/>
          </a:xfrm>
          <a:prstGeom prst="rect">
            <a:avLst/>
          </a:prstGeom>
          <a:noFill/>
          <a:ln/>
        </p:spPr>
        <p:txBody>
          <a:bodyPr wrap="square" lIns="0" tIns="0" rIns="0" bIns="0" rtlCol="0" anchor="ctr"/>
          <a:lstStyle/>
          <a:p>
            <a:pPr algn="ctr" indent="0" marL="0">
              <a:buNone/>
            </a:pPr>
            <a:r>
              <a:rPr lang="en-US" sz="1300" dirty="0">
                <a:solidFill>
                  <a:srgbClr val="333333"/>
                </a:solidFill>
                <a:latin typeface="Noto Sans JP" pitchFamily="34" charset="0"/>
                <a:ea typeface="Noto Sans JP" pitchFamily="34" charset="-122"/>
                <a:cs typeface="Noto Sans JP" pitchFamily="34" charset="-120"/>
              </a:rPr>
              <a:t>提案元：株式会社ミオシステム</a:t>
            </a:r>
            <a:endParaRPr lang="en-US" sz="1300" dirty="0"/>
          </a:p>
        </p:txBody>
      </p:sp>
      <p:sp>
        <p:nvSpPr>
          <p:cNvPr id="16" name="Text 11"/>
          <p:cNvSpPr txBox="1"/>
          <p:nvPr/>
        </p:nvSpPr>
        <p:spPr>
          <a:xfrm>
            <a:off x="5529377" y="5962802"/>
            <a:ext cx="1257300" cy="228600"/>
          </a:xfrm>
          <a:prstGeom prst="rect">
            <a:avLst/>
          </a:prstGeom>
          <a:noFill/>
          <a:ln/>
        </p:spPr>
        <p:txBody>
          <a:bodyPr wrap="square" lIns="0" tIns="0" rIns="0" bIns="0" rtlCol="0" anchor="ctr"/>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2025年10月13日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16386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はじめに</a:t>
            </a:r>
            <a:endParaRPr lang="en-US" sz="2700" dirty="0"/>
          </a:p>
        </p:txBody>
      </p:sp>
      <p:sp>
        <p:nvSpPr>
          <p:cNvPr id="6" name="Text 4"/>
          <p:cNvSpPr txBox="1"/>
          <p:nvPr/>
        </p:nvSpPr>
        <p:spPr>
          <a:xfrm>
            <a:off x="761695" y="1742846"/>
            <a:ext cx="5586984"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この度は、弊社の提案をご検討いただき、誠にありがとうございます。</a:t>
            </a:r>
            <a:endParaRPr lang="en-US" sz="1300" dirty="0"/>
          </a:p>
        </p:txBody>
      </p:sp>
      <p:sp>
        <p:nvSpPr>
          <p:cNvPr id="7" name="Text 5"/>
          <p:cNvSpPr txBox="1"/>
          <p:nvPr/>
        </p:nvSpPr>
        <p:spPr>
          <a:xfrm>
            <a:off x="761695" y="2280514"/>
            <a:ext cx="7329830" cy="562356"/>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本提案書では、株式会社グラフデポ様が抱える「現地調査における写真報告業務」の課題を解決し、業務効率化と品質向上を実現するためのDXソリューションをご提案いたします。</a:t>
            </a:r>
            <a:endParaRPr lang="en-US" sz="1300" dirty="0"/>
          </a:p>
        </p:txBody>
      </p:sp>
      <p:sp>
        <p:nvSpPr>
          <p:cNvPr id="8" name="Text 6"/>
          <p:cNvSpPr txBox="1"/>
          <p:nvPr/>
        </p:nvSpPr>
        <p:spPr>
          <a:xfrm>
            <a:off x="761695" y="5414162"/>
            <a:ext cx="7329830" cy="562356"/>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私たちは、御社の現場で起きている「パズルを解くような」複雑な作業と、担当者様の負担を真摯に受け止め、根本的な解決策をご提案いたします。</a:t>
            </a:r>
            <a:endParaRPr lang="en-US" sz="1300" dirty="0"/>
          </a:p>
        </p:txBody>
      </p:sp>
      <p:sp>
        <p:nvSpPr>
          <p:cNvPr id="9" name="Shape 7"/>
          <p:cNvSpPr/>
          <p:nvPr/>
        </p:nvSpPr>
        <p:spPr>
          <a:xfrm>
            <a:off x="761695" y="3154680"/>
            <a:ext cx="7334402" cy="1952244"/>
          </a:xfrm>
          <a:prstGeom prst="rect">
            <a:avLst/>
          </a:prstGeom>
          <a:solidFill>
            <a:srgbClr val="005BAC">
              <a:alpha val="5000"/>
            </a:srgbClr>
          </a:solidFill>
          <a:ln/>
        </p:spPr>
      </p:sp>
      <p:sp>
        <p:nvSpPr>
          <p:cNvPr id="10" name="Shape 8"/>
          <p:cNvSpPr/>
          <p:nvPr/>
        </p:nvSpPr>
        <p:spPr>
          <a:xfrm>
            <a:off x="761695" y="3154680"/>
            <a:ext cx="38405" cy="1952244"/>
          </a:xfrm>
          <a:prstGeom prst="rect">
            <a:avLst/>
          </a:prstGeom>
          <a:solidFill>
            <a:srgbClr val="005BAC"/>
          </a:solidFill>
          <a:ln/>
        </p:spPr>
      </p:sp>
      <p:sp>
        <p:nvSpPr>
          <p:cNvPr id="11" name="Text 9"/>
          <p:cNvSpPr txBox="1"/>
          <p:nvPr/>
        </p:nvSpPr>
        <p:spPr>
          <a:xfrm>
            <a:off x="1086307" y="3335731"/>
            <a:ext cx="1286561" cy="277063"/>
          </a:xfrm>
          <a:prstGeom prst="rect">
            <a:avLst/>
          </a:prstGeom>
          <a:noFill/>
          <a:ln/>
        </p:spPr>
        <p:txBody>
          <a:bodyPr wrap="square" lIns="0" tIns="0" rIns="0" bIns="0" rtlCol="0" anchor="ctr"/>
          <a:lstStyle/>
          <a:p>
            <a:pPr algn="l" indent="0" marL="0">
              <a:buNone/>
            </a:pPr>
            <a:r>
              <a:rPr lang="en-US" sz="1500" b="1" dirty="0">
                <a:solidFill>
                  <a:srgbClr val="005BAC"/>
                </a:solidFill>
                <a:latin typeface="Noto Sans JP" pitchFamily="34" charset="0"/>
                <a:ea typeface="Noto Sans JP" pitchFamily="34" charset="-122"/>
                <a:cs typeface="Noto Sans JP" pitchFamily="34" charset="-120"/>
              </a:rPr>
              <a:t>ご提案の目的</a:t>
            </a:r>
            <a:endParaRPr lang="en-US" sz="1500" dirty="0"/>
          </a:p>
        </p:txBody>
      </p:sp>
      <p:sp>
        <p:nvSpPr>
          <p:cNvPr id="12" name="Text 10"/>
          <p:cNvSpPr txBox="1"/>
          <p:nvPr/>
        </p:nvSpPr>
        <p:spPr>
          <a:xfrm>
            <a:off x="1314907" y="3783787"/>
            <a:ext cx="4758538"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現地調査における写真報告業務の著しい非効率性を解消する</a:t>
            </a:r>
            <a:endParaRPr lang="en-US" sz="1300" dirty="0"/>
          </a:p>
        </p:txBody>
      </p:sp>
      <p:sp>
        <p:nvSpPr>
          <p:cNvPr id="13" name="Text 11"/>
          <p:cNvSpPr txBox="1"/>
          <p:nvPr/>
        </p:nvSpPr>
        <p:spPr>
          <a:xfrm>
            <a:off x="1314907" y="4206240"/>
            <a:ext cx="3386938"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本社担当者様の業務負担を大幅に軽減する</a:t>
            </a:r>
            <a:endParaRPr lang="en-US" sz="1300" dirty="0"/>
          </a:p>
        </p:txBody>
      </p:sp>
      <p:sp>
        <p:nvSpPr>
          <p:cNvPr id="14" name="Text 12"/>
          <p:cNvSpPr txBox="1"/>
          <p:nvPr/>
        </p:nvSpPr>
        <p:spPr>
          <a:xfrm>
            <a:off x="1314907" y="4629607"/>
            <a:ext cx="4577486"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テクノロジーの活用により品質の標準化と向上を実現する</a:t>
            </a:r>
            <a:endParaRPr lang="en-US" sz="1300" dirty="0"/>
          </a:p>
        </p:txBody>
      </p:sp>
      <p:sp>
        <p:nvSpPr>
          <p:cNvPr id="15" name="Shape 13"/>
          <p:cNvSpPr/>
          <p:nvPr/>
        </p:nvSpPr>
        <p:spPr>
          <a:xfrm>
            <a:off x="9525305" y="2978201"/>
            <a:ext cx="952805" cy="952805"/>
          </a:xfrm>
          <a:prstGeom prst="ellipse">
            <a:avLst/>
          </a:prstGeom>
          <a:solidFill>
            <a:srgbClr val="005BAC"/>
          </a:solidFill>
          <a:ln/>
        </p:spPr>
      </p:sp>
      <p:pic>
        <p:nvPicPr>
          <p:cNvPr id="16" name="Image 0" descr="preencoded.png">    </p:cNvPr>
          <p:cNvPicPr>
            <a:picLocks noChangeAspect="1"/>
          </p:cNvPicPr>
          <p:nvPr/>
        </p:nvPicPr>
        <p:blipFill>
          <a:blip r:embed="rId1"/>
          <a:srcRect l="0" r="0" t="0" b="0"/>
          <a:stretch/>
        </p:blipFill>
        <p:spPr>
          <a:xfrm>
            <a:off x="9829800" y="3225089"/>
            <a:ext cx="342900" cy="457200"/>
          </a:xfrm>
          <a:prstGeom prst="rect">
            <a:avLst/>
          </a:prstGeom>
        </p:spPr>
      </p:pic>
      <p:sp>
        <p:nvSpPr>
          <p:cNvPr id="17" name="Text 14"/>
          <p:cNvSpPr txBox="1"/>
          <p:nvPr/>
        </p:nvSpPr>
        <p:spPr>
          <a:xfrm>
            <a:off x="9239098" y="4158691"/>
            <a:ext cx="1666951" cy="277063"/>
          </a:xfrm>
          <a:prstGeom prst="rect">
            <a:avLst/>
          </a:prstGeom>
          <a:noFill/>
          <a:ln/>
        </p:spPr>
        <p:txBody>
          <a:bodyPr wrap="square" lIns="0" tIns="0" rIns="0" bIns="0" rtlCol="0" anchor="ctr"/>
          <a:lstStyle/>
          <a:p>
            <a:pPr algn="ctr" indent="0" marL="0">
              <a:buNone/>
            </a:pPr>
            <a:r>
              <a:rPr lang="en-US" sz="1500" dirty="0">
                <a:solidFill>
                  <a:srgbClr val="374151"/>
                </a:solidFill>
                <a:latin typeface="Noto Sans JP" pitchFamily="34" charset="0"/>
                <a:ea typeface="Noto Sans JP" pitchFamily="34" charset="-122"/>
                <a:cs typeface="Noto Sans JP" pitchFamily="34" charset="-120"/>
              </a:rPr>
              <a:t>課題解決のための</a:t>
            </a:r>
            <a:endParaRPr lang="en-US" sz="1500" dirty="0"/>
          </a:p>
        </p:txBody>
      </p:sp>
      <p:sp>
        <p:nvSpPr>
          <p:cNvPr id="18" name="Text 15"/>
          <p:cNvSpPr txBox="1"/>
          <p:nvPr/>
        </p:nvSpPr>
        <p:spPr>
          <a:xfrm>
            <a:off x="9053474" y="4415638"/>
            <a:ext cx="2067458" cy="333756"/>
          </a:xfrm>
          <a:prstGeom prst="rect">
            <a:avLst/>
          </a:prstGeom>
          <a:noFill/>
          <a:ln/>
        </p:spPr>
        <p:txBody>
          <a:bodyPr wrap="square" lIns="0" tIns="0" rIns="0" bIns="0" rtlCol="0" anchor="ctr"/>
          <a:lstStyle/>
          <a:p>
            <a:pPr algn="ctr" indent="0" marL="0">
              <a:buNone/>
            </a:pPr>
            <a:r>
              <a:rPr lang="en-US" sz="1800" b="1" dirty="0">
                <a:solidFill>
                  <a:srgbClr val="1F2937"/>
                </a:solidFill>
                <a:latin typeface="Noto Sans JP" pitchFamily="34" charset="0"/>
                <a:ea typeface="Noto Sans JP" pitchFamily="34" charset="-122"/>
                <a:cs typeface="Noto Sans JP" pitchFamily="34" charset="-120"/>
              </a:rPr>
              <a:t>DXソリューション</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33531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現状の業務プロセス</a:t>
            </a:r>
            <a:endParaRPr lang="en-US" sz="2700" dirty="0"/>
          </a:p>
        </p:txBody>
      </p:sp>
      <p:sp>
        <p:nvSpPr>
          <p:cNvPr id="6" name="Text 4"/>
          <p:cNvSpPr txBox="1"/>
          <p:nvPr/>
        </p:nvSpPr>
        <p:spPr>
          <a:xfrm>
            <a:off x="761695" y="1410005"/>
            <a:ext cx="3048610"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【図1：現状の業務フロー】</a:t>
            </a:r>
            <a:endParaRPr lang="en-US" sz="1800" dirty="0"/>
          </a:p>
        </p:txBody>
      </p:sp>
      <p:sp>
        <p:nvSpPr>
          <p:cNvPr id="7" name="Text 5"/>
          <p:cNvSpPr txBox="1"/>
          <p:nvPr/>
        </p:nvSpPr>
        <p:spPr>
          <a:xfrm>
            <a:off x="761695" y="2029054"/>
            <a:ext cx="10692079"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現地調査における写真報告業務は、以下のような流れで行われています。特に手作業による照合・特定作業が大きな負担となっています。</a:t>
            </a:r>
            <a:endParaRPr lang="en-US" sz="1300" dirty="0"/>
          </a:p>
        </p:txBody>
      </p:sp>
      <p:sp>
        <p:nvSpPr>
          <p:cNvPr id="8" name="Shape 6"/>
          <p:cNvSpPr/>
          <p:nvPr/>
        </p:nvSpPr>
        <p:spPr>
          <a:xfrm>
            <a:off x="1524305" y="2667305"/>
            <a:ext cx="1143000" cy="1143000"/>
          </a:xfrm>
          <a:prstGeom prst="ellipse">
            <a:avLst/>
          </a:prstGeom>
          <a:solidFill>
            <a:srgbClr val="F5F5F5"/>
          </a:solidFill>
          <a:ln w="25400">
            <a:solidFill>
              <a:srgbClr val="005BAC"/>
            </a:solidFill>
            <a:prstDash val="solid"/>
          </a:ln>
        </p:spPr>
      </p:sp>
      <p:pic>
        <p:nvPicPr>
          <p:cNvPr id="9" name="Image 0" descr="preencoded.png">    </p:cNvPr>
          <p:cNvPicPr>
            <a:picLocks noChangeAspect="1"/>
          </p:cNvPicPr>
          <p:nvPr/>
        </p:nvPicPr>
        <p:blipFill>
          <a:blip r:embed="rId1"/>
          <a:srcRect l="0" r="0" t="0" b="0"/>
          <a:stretch/>
        </p:blipFill>
        <p:spPr>
          <a:xfrm>
            <a:off x="1867205" y="3010205"/>
            <a:ext cx="457200" cy="457200"/>
          </a:xfrm>
          <a:prstGeom prst="rect">
            <a:avLst/>
          </a:prstGeom>
        </p:spPr>
      </p:pic>
      <p:sp>
        <p:nvSpPr>
          <p:cNvPr id="10" name="Shape 7"/>
          <p:cNvSpPr/>
          <p:nvPr/>
        </p:nvSpPr>
        <p:spPr>
          <a:xfrm>
            <a:off x="4190695" y="2667305"/>
            <a:ext cx="1143000" cy="1143000"/>
          </a:xfrm>
          <a:prstGeom prst="ellipse">
            <a:avLst/>
          </a:prstGeom>
          <a:solidFill>
            <a:srgbClr val="F5F5F5"/>
          </a:solidFill>
          <a:ln w="25400">
            <a:solidFill>
              <a:srgbClr val="005BAC"/>
            </a:solidFill>
            <a:prstDash val="solid"/>
          </a:ln>
        </p:spPr>
      </p:sp>
      <p:sp>
        <p:nvSpPr>
          <p:cNvPr id="11" name="Shape 8"/>
          <p:cNvSpPr/>
          <p:nvPr/>
        </p:nvSpPr>
        <p:spPr>
          <a:xfrm>
            <a:off x="6858000" y="2667305"/>
            <a:ext cx="1143000" cy="1143000"/>
          </a:xfrm>
          <a:prstGeom prst="ellipse">
            <a:avLst/>
          </a:prstGeom>
          <a:solidFill>
            <a:srgbClr val="F5F5F5"/>
          </a:solidFill>
          <a:ln w="25400">
            <a:solidFill>
              <a:srgbClr val="005BAC"/>
            </a:solidFill>
            <a:prstDash val="solid"/>
          </a:ln>
        </p:spPr>
      </p:sp>
      <p:sp>
        <p:nvSpPr>
          <p:cNvPr id="12" name="Shape 9"/>
          <p:cNvSpPr/>
          <p:nvPr/>
        </p:nvSpPr>
        <p:spPr>
          <a:xfrm>
            <a:off x="9525305" y="2667305"/>
            <a:ext cx="1143000" cy="1143000"/>
          </a:xfrm>
          <a:prstGeom prst="ellipse">
            <a:avLst/>
          </a:prstGeom>
          <a:solidFill>
            <a:srgbClr val="F5F5F5"/>
          </a:solidFill>
          <a:ln w="25400">
            <a:solidFill>
              <a:srgbClr val="005BAC"/>
            </a:solidFill>
            <a:prstDash val="solid"/>
          </a:ln>
        </p:spPr>
      </p:sp>
      <p:sp>
        <p:nvSpPr>
          <p:cNvPr id="13" name="Text 10"/>
          <p:cNvSpPr txBox="1"/>
          <p:nvPr/>
        </p:nvSpPr>
        <p:spPr>
          <a:xfrm>
            <a:off x="1868119" y="4000500"/>
            <a:ext cx="571500"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Step 1</a:t>
            </a:r>
            <a:endParaRPr lang="en-US" sz="1200" dirty="0"/>
          </a:p>
        </p:txBody>
      </p:sp>
      <p:sp>
        <p:nvSpPr>
          <p:cNvPr id="14" name="Text 11"/>
          <p:cNvSpPr txBox="1"/>
          <p:nvPr/>
        </p:nvSpPr>
        <p:spPr>
          <a:xfrm>
            <a:off x="4535424" y="4000500"/>
            <a:ext cx="571500"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Step 2</a:t>
            </a:r>
            <a:endParaRPr lang="en-US" sz="1200" dirty="0"/>
          </a:p>
        </p:txBody>
      </p:sp>
      <p:sp>
        <p:nvSpPr>
          <p:cNvPr id="15" name="Text 12"/>
          <p:cNvSpPr txBox="1"/>
          <p:nvPr/>
        </p:nvSpPr>
        <p:spPr>
          <a:xfrm>
            <a:off x="9869119" y="4000500"/>
            <a:ext cx="571500"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Step 4</a:t>
            </a:r>
            <a:endParaRPr lang="en-US" sz="1200" dirty="0"/>
          </a:p>
        </p:txBody>
      </p:sp>
      <p:sp>
        <p:nvSpPr>
          <p:cNvPr id="16" name="Text 13"/>
          <p:cNvSpPr txBox="1"/>
          <p:nvPr/>
        </p:nvSpPr>
        <p:spPr>
          <a:xfrm>
            <a:off x="975665" y="4324198"/>
            <a:ext cx="1905610" cy="228600"/>
          </a:xfrm>
          <a:prstGeom prst="rect">
            <a:avLst/>
          </a:prstGeom>
          <a:noFill/>
          <a:ln/>
        </p:spPr>
        <p:txBody>
          <a:bodyPr wrap="square" lIns="0" tIns="0" rIns="0" bIns="0" rtlCol="0" anchor="ctr"/>
          <a:lstStyle/>
          <a:p>
            <a:pPr algn="ctr" indent="0" marL="0">
              <a:buNone/>
            </a:pPr>
            <a:r>
              <a:rPr lang="en-US" sz="1200" dirty="0">
                <a:solidFill>
                  <a:srgbClr val="005BAC"/>
                </a:solidFill>
                <a:latin typeface="Noto Sans JP" pitchFamily="34" charset="0"/>
                <a:ea typeface="Noto Sans JP" pitchFamily="34" charset="-122"/>
                <a:cs typeface="Noto Sans JP" pitchFamily="34" charset="-120"/>
              </a:rPr>
              <a:t>全国の調査員（約400名）</a:t>
            </a:r>
            <a:endParaRPr lang="en-US" sz="1200" dirty="0"/>
          </a:p>
        </p:txBody>
      </p:sp>
      <p:sp>
        <p:nvSpPr>
          <p:cNvPr id="17" name="Text 14"/>
          <p:cNvSpPr txBox="1"/>
          <p:nvPr/>
        </p:nvSpPr>
        <p:spPr>
          <a:xfrm>
            <a:off x="1028700" y="4324198"/>
            <a:ext cx="2305202" cy="6858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が、指示された場所で写真を撮影します。</a:t>
            </a:r>
            <a:endParaRPr lang="en-US" sz="1200" dirty="0"/>
          </a:p>
        </p:txBody>
      </p:sp>
      <p:pic>
        <p:nvPicPr>
          <p:cNvPr id="18" name="Image 1" descr="preencoded.png">    </p:cNvPr>
          <p:cNvPicPr>
            <a:picLocks noChangeAspect="1"/>
          </p:cNvPicPr>
          <p:nvPr/>
        </p:nvPicPr>
        <p:blipFill>
          <a:blip r:embed="rId2"/>
          <a:srcRect l="0" r="0" t="0" b="0"/>
          <a:stretch/>
        </p:blipFill>
        <p:spPr>
          <a:xfrm>
            <a:off x="4591202" y="3010205"/>
            <a:ext cx="342900" cy="457200"/>
          </a:xfrm>
          <a:prstGeom prst="rect">
            <a:avLst/>
          </a:prstGeom>
        </p:spPr>
      </p:pic>
      <p:sp>
        <p:nvSpPr>
          <p:cNvPr id="19" name="Text 15"/>
          <p:cNvSpPr txBox="1"/>
          <p:nvPr/>
        </p:nvSpPr>
        <p:spPr>
          <a:xfrm>
            <a:off x="3619195" y="4324198"/>
            <a:ext cx="2410358" cy="6858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調査員が帰社後、撮影した写真と簡単なメモ（例：「建物の北西から撮影」）を本社へ送付します。</a:t>
            </a:r>
            <a:endParaRPr lang="en-US" sz="1200" dirty="0"/>
          </a:p>
        </p:txBody>
      </p:sp>
      <p:pic>
        <p:nvPicPr>
          <p:cNvPr id="20" name="Image 2" descr="preencoded.png">    </p:cNvPr>
          <p:cNvPicPr>
            <a:picLocks noChangeAspect="1"/>
          </p:cNvPicPr>
          <p:nvPr/>
        </p:nvPicPr>
        <p:blipFill>
          <a:blip r:embed="rId3"/>
          <a:srcRect l="0" r="0" t="0" b="0"/>
          <a:stretch/>
        </p:blipFill>
        <p:spPr>
          <a:xfrm>
            <a:off x="7200900" y="3010205"/>
            <a:ext cx="457200" cy="457200"/>
          </a:xfrm>
          <a:prstGeom prst="rect">
            <a:avLst/>
          </a:prstGeom>
        </p:spPr>
      </p:pic>
      <p:sp>
        <p:nvSpPr>
          <p:cNvPr id="21" name="Text 16"/>
          <p:cNvSpPr txBox="1"/>
          <p:nvPr/>
        </p:nvSpPr>
        <p:spPr>
          <a:xfrm>
            <a:off x="7201814" y="4000500"/>
            <a:ext cx="571500"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Step 3</a:t>
            </a:r>
            <a:endParaRPr lang="en-US" sz="1200" dirty="0"/>
          </a:p>
        </p:txBody>
      </p:sp>
      <p:sp>
        <p:nvSpPr>
          <p:cNvPr id="22" name="Text 17"/>
          <p:cNvSpPr txBox="1"/>
          <p:nvPr/>
        </p:nvSpPr>
        <p:spPr>
          <a:xfrm>
            <a:off x="6277356" y="4324198"/>
            <a:ext cx="1819656" cy="228600"/>
          </a:xfrm>
          <a:prstGeom prst="rect">
            <a:avLst/>
          </a:prstGeom>
          <a:noFill/>
          <a:ln/>
        </p:spPr>
        <p:txBody>
          <a:bodyPr wrap="square" lIns="0" tIns="0" rIns="0" bIns="0" rtlCol="0" anchor="ctr"/>
          <a:lstStyle/>
          <a:p>
            <a:pPr algn="ctr" indent="0" marL="0">
              <a:buNone/>
            </a:pPr>
            <a:r>
              <a:rPr lang="en-US" sz="1200" dirty="0">
                <a:solidFill>
                  <a:srgbClr val="005BAC"/>
                </a:solidFill>
                <a:latin typeface="Noto Sans JP" pitchFamily="34" charset="0"/>
                <a:ea typeface="Noto Sans JP" pitchFamily="34" charset="-122"/>
                <a:cs typeface="Noto Sans JP" pitchFamily="34" charset="-120"/>
              </a:rPr>
              <a:t>本社の担当者（約10名）</a:t>
            </a:r>
            <a:endParaRPr lang="en-US" sz="1200" dirty="0"/>
          </a:p>
        </p:txBody>
      </p:sp>
      <p:sp>
        <p:nvSpPr>
          <p:cNvPr id="23" name="Text 18"/>
          <p:cNvSpPr txBox="1"/>
          <p:nvPr/>
        </p:nvSpPr>
        <p:spPr>
          <a:xfrm>
            <a:off x="6263640" y="4324198"/>
            <a:ext cx="2448763" cy="11430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が、受け取った写真とメモ、Googleマップのストリートビューなどを一つひとつ見比べ、撮影場所と方角を特定します。</a:t>
            </a:r>
            <a:endParaRPr lang="en-US" sz="1200" dirty="0"/>
          </a:p>
        </p:txBody>
      </p:sp>
      <p:pic>
        <p:nvPicPr>
          <p:cNvPr id="24" name="Image 3" descr="preencoded.png">    </p:cNvPr>
          <p:cNvPicPr>
            <a:picLocks noChangeAspect="1"/>
          </p:cNvPicPr>
          <p:nvPr/>
        </p:nvPicPr>
        <p:blipFill>
          <a:blip r:embed="rId4"/>
          <a:srcRect l="-44" r="-44" t="0" b="0"/>
          <a:stretch/>
        </p:blipFill>
        <p:spPr>
          <a:xfrm>
            <a:off x="9838944" y="3010205"/>
            <a:ext cx="514807" cy="457200"/>
          </a:xfrm>
          <a:prstGeom prst="rect">
            <a:avLst/>
          </a:prstGeom>
        </p:spPr>
      </p:pic>
      <p:sp>
        <p:nvSpPr>
          <p:cNvPr id="25" name="Text 19"/>
          <p:cNvSpPr txBox="1"/>
          <p:nvPr/>
        </p:nvSpPr>
        <p:spPr>
          <a:xfrm>
            <a:off x="8953805" y="4324198"/>
            <a:ext cx="2410358" cy="685800"/>
          </a:xfrm>
          <a:prstGeom prst="rect">
            <a:avLst/>
          </a:prstGeom>
          <a:noFill/>
          <a:ln/>
        </p:spPr>
        <p:txBody>
          <a:bodyPr wrap="square" lIns="0" tIns="0" rIns="0" bIns="0" rtlCol="0" anchor="ctr"/>
          <a:lstStyle/>
          <a:p>
            <a:pPr algn="ctr" indent="0" marL="0">
              <a:buNone/>
            </a:pPr>
            <a:r>
              <a:rPr lang="en-US" sz="1200" dirty="0">
                <a:solidFill>
                  <a:srgbClr val="005BAC"/>
                </a:solidFill>
                <a:latin typeface="Noto Sans JP" pitchFamily="34" charset="0"/>
                <a:ea typeface="Noto Sans JP" pitchFamily="34" charset="-122"/>
                <a:cs typeface="Noto Sans JP" pitchFamily="34" charset="-120"/>
              </a:rPr>
              <a:t>手作業で地図上に撮影ポイントを示す矢印など</a:t>
            </a:r>
            <a:endParaRPr lang="en-US" sz="1200" dirty="0"/>
          </a:p>
        </p:txBody>
      </p:sp>
      <p:sp>
        <p:nvSpPr>
          <p:cNvPr id="26" name="Text 20"/>
          <p:cNvSpPr txBox="1"/>
          <p:nvPr/>
        </p:nvSpPr>
        <p:spPr>
          <a:xfrm>
            <a:off x="8955634" y="4324198"/>
            <a:ext cx="1638605" cy="2286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特定した情報を基に、</a:t>
            </a:r>
            <a:endParaRPr lang="en-US" sz="1200" dirty="0"/>
          </a:p>
        </p:txBody>
      </p:sp>
      <p:sp>
        <p:nvSpPr>
          <p:cNvPr id="27" name="Text 21"/>
          <p:cNvSpPr txBox="1"/>
          <p:nvPr/>
        </p:nvSpPr>
        <p:spPr>
          <a:xfrm>
            <a:off x="9105595" y="4781398"/>
            <a:ext cx="2257654" cy="4572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を書き込み、報告書を作成します。</a:t>
            </a:r>
            <a:endParaRPr lang="en-US" sz="1200" dirty="0"/>
          </a:p>
        </p:txBody>
      </p:sp>
      <p:sp>
        <p:nvSpPr>
          <p:cNvPr id="28" name="Text 22"/>
          <p:cNvSpPr txBox="1"/>
          <p:nvPr/>
        </p:nvSpPr>
        <p:spPr>
          <a:xfrm>
            <a:off x="761695" y="6372454"/>
            <a:ext cx="6615684" cy="191110"/>
          </a:xfrm>
          <a:prstGeom prst="rect">
            <a:avLst/>
          </a:prstGeom>
          <a:noFill/>
          <a:ln/>
        </p:spPr>
        <p:txBody>
          <a:bodyPr wrap="square" lIns="0" tIns="0" rIns="0" bIns="0" rtlCol="0" anchor="ctr"/>
          <a:lstStyle/>
          <a:p>
            <a:pPr algn="l" indent="0" marL="0">
              <a:buNone/>
            </a:pPr>
            <a:r>
              <a:rPr lang="en-US" sz="1000" i="1" dirty="0">
                <a:solidFill>
                  <a:srgbClr val="666666"/>
                </a:solidFill>
                <a:latin typeface="Noto Sans JP" pitchFamily="34" charset="0"/>
                <a:ea typeface="Noto Sans JP" pitchFamily="34" charset="-122"/>
                <a:cs typeface="Noto Sans JP" pitchFamily="34" charset="-120"/>
              </a:rPr>
              <a:t>※本社担当者の作業は「パズルを解くよう」と表現されるほど複雑で、膨大な時間と手間がかかっています。</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563356"/>
          </a:xfrm>
          <a:prstGeom prst="rect">
            <a:avLst/>
          </a:prstGeom>
          <a:solidFill>
            <a:srgbClr val="FFFFFF"/>
          </a:solidFill>
          <a:ln/>
        </p:spPr>
      </p:sp>
      <p:sp>
        <p:nvSpPr>
          <p:cNvPr id="3" name="Shape 1"/>
          <p:cNvSpPr/>
          <p:nvPr/>
        </p:nvSpPr>
        <p:spPr>
          <a:xfrm>
            <a:off x="0" y="0"/>
            <a:ext cx="12191695" cy="8563356"/>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19815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現状の課題</a:t>
            </a:r>
            <a:endParaRPr lang="en-US" sz="2700" dirty="0"/>
          </a:p>
        </p:txBody>
      </p:sp>
      <p:sp>
        <p:nvSpPr>
          <p:cNvPr id="6" name="Text 4"/>
          <p:cNvSpPr txBox="1"/>
          <p:nvPr/>
        </p:nvSpPr>
        <p:spPr>
          <a:xfrm>
            <a:off x="761695" y="1410005"/>
            <a:ext cx="3048610"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【図2：現状課題の可視化】</a:t>
            </a:r>
            <a:endParaRPr lang="en-US" sz="1800" dirty="0"/>
          </a:p>
        </p:txBody>
      </p:sp>
      <p:sp>
        <p:nvSpPr>
          <p:cNvPr id="7" name="Text 5"/>
          <p:cNvSpPr txBox="1"/>
          <p:nvPr/>
        </p:nvSpPr>
        <p:spPr>
          <a:xfrm>
            <a:off x="761695" y="2029054"/>
            <a:ext cx="6977786"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現地調査における写真報告業務では、以下の課題が業務効率を著しく低下させています。</a:t>
            </a:r>
            <a:endParaRPr lang="en-US" sz="1300" dirty="0"/>
          </a:p>
        </p:txBody>
      </p:sp>
      <p:sp>
        <p:nvSpPr>
          <p:cNvPr id="8" name="Shape 6"/>
          <p:cNvSpPr/>
          <p:nvPr/>
        </p:nvSpPr>
        <p:spPr>
          <a:xfrm>
            <a:off x="761695" y="2667305"/>
            <a:ext cx="3372307" cy="2523744"/>
          </a:xfrm>
          <a:prstGeom prst="roundRect">
            <a:avLst>
              <a:gd name="adj" fmla="val 1367"/>
            </a:avLst>
          </a:prstGeom>
          <a:solidFill>
            <a:srgbClr val="F8F8F8"/>
          </a:solidFill>
          <a:ln/>
          <a:effectLst>
            <a:outerShdw sx="100000" sy="100000" kx="0" ky="0" algn="bl" rotWithShape="0" blurRad="63500" dist="38100" dir="5400000">
              <a:srgbClr val="000000">
                <a:alpha val="10000"/>
              </a:srgbClr>
            </a:outerShdw>
          </a:effectLst>
        </p:spPr>
      </p:sp>
      <p:sp>
        <p:nvSpPr>
          <p:cNvPr id="9" name="Shape 7"/>
          <p:cNvSpPr/>
          <p:nvPr/>
        </p:nvSpPr>
        <p:spPr>
          <a:xfrm>
            <a:off x="4412894" y="2667305"/>
            <a:ext cx="3372307" cy="2523744"/>
          </a:xfrm>
          <a:prstGeom prst="roundRect">
            <a:avLst>
              <a:gd name="adj" fmla="val 1367"/>
            </a:avLst>
          </a:prstGeom>
          <a:solidFill>
            <a:srgbClr val="F8F8F8"/>
          </a:solidFill>
          <a:ln/>
          <a:effectLst>
            <a:outerShdw sx="100000" sy="100000" kx="0" ky="0" algn="bl" rotWithShape="0" blurRad="63500" dist="38100" dir="5400000">
              <a:srgbClr val="000000">
                <a:alpha val="10000"/>
              </a:srgbClr>
            </a:outerShdw>
          </a:effectLst>
        </p:spPr>
      </p:sp>
      <p:sp>
        <p:nvSpPr>
          <p:cNvPr id="10" name="Shape 8"/>
          <p:cNvSpPr/>
          <p:nvPr/>
        </p:nvSpPr>
        <p:spPr>
          <a:xfrm>
            <a:off x="761695" y="5471770"/>
            <a:ext cx="3372307" cy="2523744"/>
          </a:xfrm>
          <a:prstGeom prst="roundRect">
            <a:avLst>
              <a:gd name="adj" fmla="val 1367"/>
            </a:avLst>
          </a:prstGeom>
          <a:solidFill>
            <a:srgbClr val="F8F8F8"/>
          </a:solidFill>
          <a:ln/>
          <a:effectLst>
            <a:outerShdw sx="100000" sy="100000" kx="0" ky="0" algn="bl" rotWithShape="0" blurRad="63500" dist="38100" dir="5400000">
              <a:srgbClr val="000000">
                <a:alpha val="10000"/>
              </a:srgbClr>
            </a:outerShdw>
          </a:effectLst>
        </p:spPr>
      </p:sp>
      <p:sp>
        <p:nvSpPr>
          <p:cNvPr id="11" name="Shape 9"/>
          <p:cNvSpPr/>
          <p:nvPr/>
        </p:nvSpPr>
        <p:spPr>
          <a:xfrm>
            <a:off x="1968703" y="2857500"/>
            <a:ext cx="952805" cy="952805"/>
          </a:xfrm>
          <a:prstGeom prst="ellipse">
            <a:avLst/>
          </a:prstGeom>
          <a:solidFill>
            <a:srgbClr val="FFFFFF"/>
          </a:solidFill>
          <a:ln w="25400">
            <a:solidFill>
              <a:srgbClr val="005BAC"/>
            </a:solidFill>
            <a:prstDash val="solid"/>
          </a:ln>
        </p:spPr>
      </p:sp>
      <p:pic>
        <p:nvPicPr>
          <p:cNvPr id="12" name="Image 0" descr="preencoded.png">    </p:cNvPr>
          <p:cNvPicPr>
            <a:picLocks noChangeAspect="1"/>
          </p:cNvPicPr>
          <p:nvPr/>
        </p:nvPicPr>
        <p:blipFill>
          <a:blip r:embed="rId1"/>
          <a:srcRect l="-40" r="-40" t="0" b="0"/>
          <a:stretch/>
        </p:blipFill>
        <p:spPr>
          <a:xfrm>
            <a:off x="2301545" y="3143707"/>
            <a:ext cx="286207" cy="381305"/>
          </a:xfrm>
          <a:prstGeom prst="rect">
            <a:avLst/>
          </a:prstGeom>
        </p:spPr>
      </p:pic>
      <p:sp>
        <p:nvSpPr>
          <p:cNvPr id="13" name="Shape 10"/>
          <p:cNvSpPr/>
          <p:nvPr/>
        </p:nvSpPr>
        <p:spPr>
          <a:xfrm>
            <a:off x="8064094" y="2667305"/>
            <a:ext cx="3372307" cy="2523744"/>
          </a:xfrm>
          <a:prstGeom prst="roundRect">
            <a:avLst>
              <a:gd name="adj" fmla="val 1367"/>
            </a:avLst>
          </a:prstGeom>
          <a:solidFill>
            <a:srgbClr val="F8F8F8"/>
          </a:solidFill>
          <a:ln/>
          <a:effectLst>
            <a:outerShdw sx="100000" sy="100000" kx="0" ky="0" algn="bl" rotWithShape="0" blurRad="63500" dist="38100" dir="5400000">
              <a:srgbClr val="000000">
                <a:alpha val="10000"/>
              </a:srgbClr>
            </a:outerShdw>
          </a:effectLst>
        </p:spPr>
      </p:sp>
      <p:sp>
        <p:nvSpPr>
          <p:cNvPr id="14" name="Shape 11"/>
          <p:cNvSpPr/>
          <p:nvPr/>
        </p:nvSpPr>
        <p:spPr>
          <a:xfrm>
            <a:off x="4412894" y="5471770"/>
            <a:ext cx="3372307" cy="2523744"/>
          </a:xfrm>
          <a:prstGeom prst="roundRect">
            <a:avLst>
              <a:gd name="adj" fmla="val 1367"/>
            </a:avLst>
          </a:prstGeom>
          <a:solidFill>
            <a:srgbClr val="F8F8F8"/>
          </a:solidFill>
          <a:ln/>
          <a:effectLst>
            <a:outerShdw sx="100000" sy="100000" kx="0" ky="0" algn="bl" rotWithShape="0" blurRad="63500" dist="38100" dir="5400000">
              <a:srgbClr val="000000">
                <a:alpha val="10000"/>
              </a:srgbClr>
            </a:outerShdw>
          </a:effectLst>
        </p:spPr>
      </p:sp>
      <p:sp>
        <p:nvSpPr>
          <p:cNvPr id="15" name="Shape 12"/>
          <p:cNvSpPr/>
          <p:nvPr/>
        </p:nvSpPr>
        <p:spPr>
          <a:xfrm>
            <a:off x="5619902" y="2857500"/>
            <a:ext cx="952805" cy="952805"/>
          </a:xfrm>
          <a:prstGeom prst="ellipse">
            <a:avLst/>
          </a:prstGeom>
          <a:solidFill>
            <a:srgbClr val="FFFFFF"/>
          </a:solidFill>
          <a:ln w="25400">
            <a:solidFill>
              <a:srgbClr val="005BAC"/>
            </a:solidFill>
            <a:prstDash val="solid"/>
          </a:ln>
        </p:spPr>
      </p:sp>
      <p:sp>
        <p:nvSpPr>
          <p:cNvPr id="16" name="Shape 13"/>
          <p:cNvSpPr/>
          <p:nvPr/>
        </p:nvSpPr>
        <p:spPr>
          <a:xfrm>
            <a:off x="9271102" y="2857500"/>
            <a:ext cx="952805" cy="952805"/>
          </a:xfrm>
          <a:prstGeom prst="ellipse">
            <a:avLst/>
          </a:prstGeom>
          <a:solidFill>
            <a:srgbClr val="FFFFFF"/>
          </a:solidFill>
          <a:ln w="25400">
            <a:solidFill>
              <a:srgbClr val="005BAC"/>
            </a:solidFill>
            <a:prstDash val="solid"/>
          </a:ln>
        </p:spPr>
      </p:sp>
      <p:sp>
        <p:nvSpPr>
          <p:cNvPr id="17" name="Shape 14"/>
          <p:cNvSpPr/>
          <p:nvPr/>
        </p:nvSpPr>
        <p:spPr>
          <a:xfrm>
            <a:off x="1968703" y="5662879"/>
            <a:ext cx="952805" cy="952805"/>
          </a:xfrm>
          <a:prstGeom prst="ellipse">
            <a:avLst/>
          </a:prstGeom>
          <a:solidFill>
            <a:srgbClr val="FFFFFF"/>
          </a:solidFill>
          <a:ln w="25400">
            <a:solidFill>
              <a:srgbClr val="005BAC"/>
            </a:solidFill>
            <a:prstDash val="solid"/>
          </a:ln>
        </p:spPr>
      </p:sp>
      <p:sp>
        <p:nvSpPr>
          <p:cNvPr id="18" name="Shape 15"/>
          <p:cNvSpPr/>
          <p:nvPr/>
        </p:nvSpPr>
        <p:spPr>
          <a:xfrm>
            <a:off x="5619902" y="5662879"/>
            <a:ext cx="952805" cy="952805"/>
          </a:xfrm>
          <a:prstGeom prst="ellipse">
            <a:avLst/>
          </a:prstGeom>
          <a:solidFill>
            <a:srgbClr val="FFFFFF"/>
          </a:solidFill>
          <a:ln w="25400">
            <a:solidFill>
              <a:srgbClr val="005BAC"/>
            </a:solidFill>
            <a:prstDash val="solid"/>
          </a:ln>
        </p:spPr>
      </p:sp>
      <p:sp>
        <p:nvSpPr>
          <p:cNvPr id="19" name="Text 16"/>
          <p:cNvSpPr txBox="1"/>
          <p:nvPr/>
        </p:nvSpPr>
        <p:spPr>
          <a:xfrm>
            <a:off x="1844345" y="4000500"/>
            <a:ext cx="1329538" cy="247802"/>
          </a:xfrm>
          <a:prstGeom prst="rect">
            <a:avLst/>
          </a:prstGeom>
          <a:noFill/>
          <a:ln/>
        </p:spPr>
        <p:txBody>
          <a:bodyPr wrap="square" lIns="0" tIns="0" rIns="0" bIns="0" rtlCol="0" anchor="ctr"/>
          <a:lstStyle/>
          <a:p>
            <a:pPr algn="ctr" indent="0" marL="0">
              <a:buNone/>
            </a:pPr>
            <a:r>
              <a:rPr lang="en-US" sz="1300" b="1" dirty="0">
                <a:solidFill>
                  <a:srgbClr val="005BAC"/>
                </a:solidFill>
                <a:latin typeface="Noto Sans JP" pitchFamily="34" charset="0"/>
                <a:ea typeface="Noto Sans JP" pitchFamily="34" charset="-122"/>
                <a:cs typeface="Noto Sans JP" pitchFamily="34" charset="-120"/>
              </a:rPr>
              <a:t>極端な非効率性</a:t>
            </a:r>
            <a:endParaRPr lang="en-US" sz="1300" dirty="0"/>
          </a:p>
        </p:txBody>
      </p:sp>
      <p:sp>
        <p:nvSpPr>
          <p:cNvPr id="20" name="Text 17"/>
          <p:cNvSpPr txBox="1"/>
          <p:nvPr/>
        </p:nvSpPr>
        <p:spPr>
          <a:xfrm>
            <a:off x="5324551" y="4000500"/>
            <a:ext cx="1672438" cy="247802"/>
          </a:xfrm>
          <a:prstGeom prst="rect">
            <a:avLst/>
          </a:prstGeom>
          <a:noFill/>
          <a:ln/>
        </p:spPr>
        <p:txBody>
          <a:bodyPr wrap="square" lIns="0" tIns="0" rIns="0" bIns="0" rtlCol="0" anchor="ctr"/>
          <a:lstStyle/>
          <a:p>
            <a:pPr algn="ctr" indent="0" marL="0">
              <a:buNone/>
            </a:pPr>
            <a:r>
              <a:rPr lang="en-US" sz="1300" b="1" dirty="0">
                <a:solidFill>
                  <a:srgbClr val="005BAC"/>
                </a:solidFill>
                <a:latin typeface="Noto Sans JP" pitchFamily="34" charset="0"/>
                <a:ea typeface="Noto Sans JP" pitchFamily="34" charset="-122"/>
                <a:cs typeface="Noto Sans JP" pitchFamily="34" charset="-120"/>
              </a:rPr>
              <a:t>業務のボトルネック</a:t>
            </a:r>
            <a:endParaRPr lang="en-US" sz="1300" dirty="0"/>
          </a:p>
        </p:txBody>
      </p:sp>
      <p:sp>
        <p:nvSpPr>
          <p:cNvPr id="21" name="Text 18"/>
          <p:cNvSpPr txBox="1"/>
          <p:nvPr/>
        </p:nvSpPr>
        <p:spPr>
          <a:xfrm>
            <a:off x="1844345" y="6805879"/>
            <a:ext cx="1329538" cy="247802"/>
          </a:xfrm>
          <a:prstGeom prst="rect">
            <a:avLst/>
          </a:prstGeom>
          <a:noFill/>
          <a:ln/>
        </p:spPr>
        <p:txBody>
          <a:bodyPr wrap="square" lIns="0" tIns="0" rIns="0" bIns="0" rtlCol="0" anchor="ctr"/>
          <a:lstStyle/>
          <a:p>
            <a:pPr algn="ctr" indent="0" marL="0">
              <a:buNone/>
            </a:pPr>
            <a:r>
              <a:rPr lang="en-US" sz="1300" b="1" dirty="0">
                <a:solidFill>
                  <a:srgbClr val="005BAC"/>
                </a:solidFill>
                <a:latin typeface="Noto Sans JP" pitchFamily="34" charset="0"/>
                <a:ea typeface="Noto Sans JP" pitchFamily="34" charset="-122"/>
                <a:cs typeface="Noto Sans JP" pitchFamily="34" charset="-120"/>
              </a:rPr>
              <a:t>品質のばらつき</a:t>
            </a:r>
            <a:endParaRPr lang="en-US" sz="1300" dirty="0"/>
          </a:p>
        </p:txBody>
      </p:sp>
      <p:sp>
        <p:nvSpPr>
          <p:cNvPr id="22" name="Text 19"/>
          <p:cNvSpPr txBox="1"/>
          <p:nvPr/>
        </p:nvSpPr>
        <p:spPr>
          <a:xfrm>
            <a:off x="5414162" y="6805879"/>
            <a:ext cx="1500530" cy="247802"/>
          </a:xfrm>
          <a:prstGeom prst="rect">
            <a:avLst/>
          </a:prstGeom>
          <a:noFill/>
          <a:ln/>
        </p:spPr>
        <p:txBody>
          <a:bodyPr wrap="square" lIns="0" tIns="0" rIns="0" bIns="0" rtlCol="0" anchor="ctr"/>
          <a:lstStyle/>
          <a:p>
            <a:pPr algn="ctr" indent="0" marL="0">
              <a:buNone/>
            </a:pPr>
            <a:r>
              <a:rPr lang="en-US" sz="1300" b="1" dirty="0">
                <a:solidFill>
                  <a:srgbClr val="005BAC"/>
                </a:solidFill>
                <a:latin typeface="Noto Sans JP" pitchFamily="34" charset="0"/>
                <a:ea typeface="Noto Sans JP" pitchFamily="34" charset="-122"/>
                <a:cs typeface="Noto Sans JP" pitchFamily="34" charset="-120"/>
              </a:rPr>
              <a:t>特定困難なケース</a:t>
            </a:r>
            <a:endParaRPr lang="en-US" sz="1300" dirty="0"/>
          </a:p>
        </p:txBody>
      </p:sp>
      <p:sp>
        <p:nvSpPr>
          <p:cNvPr id="23" name="Text 20"/>
          <p:cNvSpPr txBox="1"/>
          <p:nvPr/>
        </p:nvSpPr>
        <p:spPr>
          <a:xfrm>
            <a:off x="1015898" y="4352544"/>
            <a:ext cx="2974543" cy="419710"/>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本社担当者の作業は「パズルを解くよう」と表現されるほど複雑で、</a:t>
            </a:r>
            <a:endParaRPr lang="en-US" sz="1100" dirty="0"/>
          </a:p>
        </p:txBody>
      </p:sp>
      <p:sp>
        <p:nvSpPr>
          <p:cNvPr id="24" name="Text 21"/>
          <p:cNvSpPr txBox="1"/>
          <p:nvPr/>
        </p:nvSpPr>
        <p:spPr>
          <a:xfrm>
            <a:off x="1883664" y="4567428"/>
            <a:ext cx="2098548" cy="419710"/>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がかかっています。</a:t>
            </a:r>
            <a:endParaRPr lang="en-US" sz="1100" dirty="0"/>
          </a:p>
        </p:txBody>
      </p:sp>
      <p:sp>
        <p:nvSpPr>
          <p:cNvPr id="25" name="Text 22"/>
          <p:cNvSpPr txBox="1"/>
          <p:nvPr/>
        </p:nvSpPr>
        <p:spPr>
          <a:xfrm>
            <a:off x="5965546" y="4567428"/>
            <a:ext cx="1516990" cy="200254"/>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原因となっています。</a:t>
            </a:r>
            <a:endParaRPr lang="en-US" sz="1100" dirty="0"/>
          </a:p>
        </p:txBody>
      </p:sp>
      <p:sp>
        <p:nvSpPr>
          <p:cNvPr id="26" name="Text 23"/>
          <p:cNvSpPr txBox="1"/>
          <p:nvPr/>
        </p:nvSpPr>
        <p:spPr>
          <a:xfrm>
            <a:off x="6388913" y="7372807"/>
            <a:ext cx="955548" cy="200254"/>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を極めます。</a:t>
            </a:r>
            <a:endParaRPr lang="en-US" sz="1100" dirty="0"/>
          </a:p>
        </p:txBody>
      </p:sp>
      <p:sp>
        <p:nvSpPr>
          <p:cNvPr id="27" name="Text 24"/>
          <p:cNvSpPr txBox="1"/>
          <p:nvPr/>
        </p:nvSpPr>
        <p:spPr>
          <a:xfrm>
            <a:off x="2584094" y="4567428"/>
            <a:ext cx="1260043" cy="200254"/>
          </a:xfrm>
          <a:prstGeom prst="rect">
            <a:avLst/>
          </a:prstGeom>
          <a:noFill/>
          <a:ln/>
        </p:spPr>
        <p:txBody>
          <a:bodyPr wrap="square" lIns="0" tIns="0" rIns="0" bIns="0" rtlCol="0" anchor="ctr"/>
          <a:lstStyle/>
          <a:p>
            <a:pPr algn="ctr" indent="0" marL="0">
              <a:buNone/>
            </a:pPr>
            <a:r>
              <a:rPr lang="en-US" sz="1100" dirty="0">
                <a:solidFill>
                  <a:srgbClr val="005BAC"/>
                </a:solidFill>
                <a:latin typeface="Noto Sans JP" pitchFamily="34" charset="0"/>
                <a:ea typeface="Noto Sans JP" pitchFamily="34" charset="-122"/>
                <a:cs typeface="Noto Sans JP" pitchFamily="34" charset="-120"/>
              </a:rPr>
              <a:t>膨大な時間と手間</a:t>
            </a:r>
            <a:endParaRPr lang="en-US" sz="1100" dirty="0"/>
          </a:p>
        </p:txBody>
      </p:sp>
      <p:pic>
        <p:nvPicPr>
          <p:cNvPr id="28" name="Image 1" descr="preencoded.png">    </p:cNvPr>
          <p:cNvPicPr>
            <a:picLocks noChangeAspect="1"/>
          </p:cNvPicPr>
          <p:nvPr/>
        </p:nvPicPr>
        <p:blipFill>
          <a:blip r:embed="rId2"/>
          <a:srcRect l="0" r="0" t="-120" b="-120"/>
          <a:stretch/>
        </p:blipFill>
        <p:spPr>
          <a:xfrm>
            <a:off x="5976518" y="3143707"/>
            <a:ext cx="237744" cy="381305"/>
          </a:xfrm>
          <a:prstGeom prst="rect">
            <a:avLst/>
          </a:prstGeom>
        </p:spPr>
      </p:pic>
      <p:sp>
        <p:nvSpPr>
          <p:cNvPr id="29" name="Text 25"/>
          <p:cNvSpPr txBox="1"/>
          <p:nvPr/>
        </p:nvSpPr>
        <p:spPr>
          <a:xfrm>
            <a:off x="8975750" y="4000500"/>
            <a:ext cx="1672438" cy="247802"/>
          </a:xfrm>
          <a:prstGeom prst="rect">
            <a:avLst/>
          </a:prstGeom>
          <a:noFill/>
          <a:ln/>
        </p:spPr>
        <p:txBody>
          <a:bodyPr wrap="square" lIns="0" tIns="0" rIns="0" bIns="0" rtlCol="0" anchor="ctr"/>
          <a:lstStyle/>
          <a:p>
            <a:pPr algn="ctr" indent="0" marL="0">
              <a:buNone/>
            </a:pPr>
            <a:r>
              <a:rPr lang="en-US" sz="1300" b="1" dirty="0">
                <a:solidFill>
                  <a:srgbClr val="005BAC"/>
                </a:solidFill>
                <a:latin typeface="Noto Sans JP" pitchFamily="34" charset="0"/>
                <a:ea typeface="Noto Sans JP" pitchFamily="34" charset="-122"/>
                <a:cs typeface="Noto Sans JP" pitchFamily="34" charset="-120"/>
              </a:rPr>
              <a:t>担当者の大きな負担</a:t>
            </a:r>
            <a:endParaRPr lang="en-US" sz="1300" dirty="0"/>
          </a:p>
        </p:txBody>
      </p:sp>
      <p:sp>
        <p:nvSpPr>
          <p:cNvPr id="30" name="Text 26"/>
          <p:cNvSpPr txBox="1"/>
          <p:nvPr/>
        </p:nvSpPr>
        <p:spPr>
          <a:xfrm>
            <a:off x="4671670" y="4352544"/>
            <a:ext cx="2107692" cy="200254"/>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報告書作成作業の遅延により、</a:t>
            </a:r>
            <a:endParaRPr lang="en-US" sz="1100" dirty="0"/>
          </a:p>
        </p:txBody>
      </p:sp>
      <p:sp>
        <p:nvSpPr>
          <p:cNvPr id="31" name="Text 27"/>
          <p:cNvSpPr txBox="1"/>
          <p:nvPr/>
        </p:nvSpPr>
        <p:spPr>
          <a:xfrm>
            <a:off x="8318297" y="4352544"/>
            <a:ext cx="688543" cy="200254"/>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担当者の</a:t>
            </a:r>
            <a:endParaRPr lang="en-US" sz="1100" dirty="0"/>
          </a:p>
        </p:txBody>
      </p:sp>
      <p:sp>
        <p:nvSpPr>
          <p:cNvPr id="32" name="Text 28"/>
          <p:cNvSpPr txBox="1"/>
          <p:nvPr/>
        </p:nvSpPr>
        <p:spPr>
          <a:xfrm>
            <a:off x="8757209" y="4352544"/>
            <a:ext cx="2527402" cy="419710"/>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、業務の属人化も進んでいます。</a:t>
            </a:r>
            <a:endParaRPr lang="en-US" sz="1100" dirty="0"/>
          </a:p>
        </p:txBody>
      </p:sp>
      <p:sp>
        <p:nvSpPr>
          <p:cNvPr id="33" name="Text 29"/>
          <p:cNvSpPr txBox="1"/>
          <p:nvPr/>
        </p:nvSpPr>
        <p:spPr>
          <a:xfrm>
            <a:off x="1589227" y="7372807"/>
            <a:ext cx="2393899" cy="419710"/>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しやすく、報告書の品質が安定しません。</a:t>
            </a:r>
            <a:endParaRPr lang="en-US" sz="1100" dirty="0"/>
          </a:p>
        </p:txBody>
      </p:sp>
      <p:sp>
        <p:nvSpPr>
          <p:cNvPr id="34" name="Text 30"/>
          <p:cNvSpPr txBox="1"/>
          <p:nvPr/>
        </p:nvSpPr>
        <p:spPr>
          <a:xfrm>
            <a:off x="4667098" y="7157923"/>
            <a:ext cx="2831897" cy="200254"/>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ストリートビューがない地方の案件では、</a:t>
            </a:r>
            <a:endParaRPr lang="en-US" sz="1100" dirty="0"/>
          </a:p>
        </p:txBody>
      </p:sp>
      <p:sp>
        <p:nvSpPr>
          <p:cNvPr id="35" name="Text 31"/>
          <p:cNvSpPr txBox="1"/>
          <p:nvPr/>
        </p:nvSpPr>
        <p:spPr>
          <a:xfrm>
            <a:off x="4822546" y="4352544"/>
            <a:ext cx="2812694" cy="419710"/>
          </a:xfrm>
          <a:prstGeom prst="rect">
            <a:avLst/>
          </a:prstGeom>
          <a:noFill/>
          <a:ln/>
        </p:spPr>
        <p:txBody>
          <a:bodyPr wrap="square" lIns="0" tIns="0" rIns="0" bIns="0" rtlCol="0" anchor="ctr"/>
          <a:lstStyle/>
          <a:p>
            <a:pPr algn="ctr" indent="0" marL="0">
              <a:buNone/>
            </a:pPr>
            <a:r>
              <a:rPr lang="en-US" sz="1100" dirty="0">
                <a:solidFill>
                  <a:srgbClr val="005BAC"/>
                </a:solidFill>
                <a:latin typeface="Noto Sans JP" pitchFamily="34" charset="0"/>
                <a:ea typeface="Noto Sans JP" pitchFamily="34" charset="-122"/>
                <a:cs typeface="Noto Sans JP" pitchFamily="34" charset="-120"/>
              </a:rPr>
              <a:t>顧客への納品スピードが遅れる</a:t>
            </a:r>
            <a:endParaRPr lang="en-US" sz="1100" dirty="0"/>
          </a:p>
        </p:txBody>
      </p:sp>
      <p:pic>
        <p:nvPicPr>
          <p:cNvPr id="36" name="Image 2" descr="preencoded.png">    </p:cNvPr>
          <p:cNvPicPr>
            <a:picLocks noChangeAspect="1"/>
          </p:cNvPicPr>
          <p:nvPr/>
        </p:nvPicPr>
        <p:blipFill>
          <a:blip r:embed="rId3"/>
          <a:srcRect l="0" r="0" t="-24" b="-24"/>
          <a:stretch/>
        </p:blipFill>
        <p:spPr>
          <a:xfrm>
            <a:off x="9508846" y="3143707"/>
            <a:ext cx="476402" cy="381305"/>
          </a:xfrm>
          <a:prstGeom prst="rect">
            <a:avLst/>
          </a:prstGeom>
        </p:spPr>
      </p:pic>
      <p:sp>
        <p:nvSpPr>
          <p:cNvPr id="37" name="Text 32"/>
          <p:cNvSpPr txBox="1"/>
          <p:nvPr/>
        </p:nvSpPr>
        <p:spPr>
          <a:xfrm>
            <a:off x="8889797" y="4352544"/>
            <a:ext cx="2260397" cy="200254"/>
          </a:xfrm>
          <a:prstGeom prst="rect">
            <a:avLst/>
          </a:prstGeom>
          <a:noFill/>
          <a:ln/>
        </p:spPr>
        <p:txBody>
          <a:bodyPr wrap="square" lIns="0" tIns="0" rIns="0" bIns="0" rtlCol="0" anchor="ctr"/>
          <a:lstStyle/>
          <a:p>
            <a:pPr algn="ctr" indent="0" marL="0">
              <a:buNone/>
            </a:pPr>
            <a:r>
              <a:rPr lang="en-US" sz="1100" dirty="0">
                <a:solidFill>
                  <a:srgbClr val="005BAC"/>
                </a:solidFill>
                <a:latin typeface="Noto Sans JP" pitchFamily="34" charset="0"/>
                <a:ea typeface="Noto Sans JP" pitchFamily="34" charset="-122"/>
                <a:cs typeface="Noto Sans JP" pitchFamily="34" charset="-120"/>
              </a:rPr>
              <a:t>長時間労働や精神的負担が大きく</a:t>
            </a:r>
            <a:endParaRPr lang="en-US" sz="1100" dirty="0"/>
          </a:p>
        </p:txBody>
      </p:sp>
      <p:pic>
        <p:nvPicPr>
          <p:cNvPr id="38" name="Image 3" descr="preencoded.png">    </p:cNvPr>
          <p:cNvPicPr>
            <a:picLocks noChangeAspect="1"/>
          </p:cNvPicPr>
          <p:nvPr/>
        </p:nvPicPr>
        <p:blipFill>
          <a:blip r:embed="rId4"/>
          <a:srcRect l="0" r="0" t="-24" b="-24"/>
          <a:stretch/>
        </p:blipFill>
        <p:spPr>
          <a:xfrm>
            <a:off x="2206447" y="5948172"/>
            <a:ext cx="476402" cy="381305"/>
          </a:xfrm>
          <a:prstGeom prst="rect">
            <a:avLst/>
          </a:prstGeom>
        </p:spPr>
      </p:pic>
      <p:sp>
        <p:nvSpPr>
          <p:cNvPr id="39" name="Text 33"/>
          <p:cNvSpPr txBox="1"/>
          <p:nvPr/>
        </p:nvSpPr>
        <p:spPr>
          <a:xfrm>
            <a:off x="1016813" y="7157923"/>
            <a:ext cx="2898648" cy="419710"/>
          </a:xfrm>
          <a:prstGeom prst="rect">
            <a:avLst/>
          </a:prstGeom>
          <a:noFill/>
          <a:ln/>
        </p:spPr>
        <p:txBody>
          <a:bodyPr wrap="square" lIns="0" tIns="0" rIns="0" bIns="0" rtlCol="0" anchor="ctr"/>
          <a:lstStyle/>
          <a:p>
            <a:pPr algn="ctr" indent="0" marL="0">
              <a:buNone/>
            </a:pPr>
            <a:r>
              <a:rPr lang="en-US" sz="1100" dirty="0">
                <a:solidFill>
                  <a:srgbClr val="333333"/>
                </a:solidFill>
                <a:latin typeface="Noto Sans JP" pitchFamily="34" charset="0"/>
                <a:ea typeface="Noto Sans JP" pitchFamily="34" charset="-122"/>
                <a:cs typeface="Noto Sans JP" pitchFamily="34" charset="-120"/>
              </a:rPr>
              <a:t>調査員のスキルやメモの精度に依存するため、</a:t>
            </a:r>
            <a:endParaRPr lang="en-US" sz="1100" dirty="0"/>
          </a:p>
        </p:txBody>
      </p:sp>
      <p:sp>
        <p:nvSpPr>
          <p:cNvPr id="40" name="Text 34"/>
          <p:cNvSpPr txBox="1"/>
          <p:nvPr/>
        </p:nvSpPr>
        <p:spPr>
          <a:xfrm>
            <a:off x="1302106" y="7372807"/>
            <a:ext cx="1688897" cy="200254"/>
          </a:xfrm>
          <a:prstGeom prst="rect">
            <a:avLst/>
          </a:prstGeom>
          <a:noFill/>
          <a:ln/>
        </p:spPr>
        <p:txBody>
          <a:bodyPr wrap="square" lIns="0" tIns="0" rIns="0" bIns="0" rtlCol="0" anchor="ctr"/>
          <a:lstStyle/>
          <a:p>
            <a:pPr algn="ctr" indent="0" marL="0">
              <a:buNone/>
            </a:pPr>
            <a:r>
              <a:rPr lang="en-US" sz="1100" dirty="0">
                <a:solidFill>
                  <a:srgbClr val="005BAC"/>
                </a:solidFill>
                <a:latin typeface="Noto Sans JP" pitchFamily="34" charset="0"/>
                <a:ea typeface="Noto Sans JP" pitchFamily="34" charset="-122"/>
                <a:cs typeface="Noto Sans JP" pitchFamily="34" charset="-120"/>
              </a:rPr>
              <a:t>ヒューマンエラーが発生</a:t>
            </a:r>
            <a:endParaRPr lang="en-US" sz="1100" dirty="0"/>
          </a:p>
        </p:txBody>
      </p:sp>
      <p:pic>
        <p:nvPicPr>
          <p:cNvPr id="41" name="Image 4" descr="preencoded.png">    </p:cNvPr>
          <p:cNvPicPr>
            <a:picLocks noChangeAspect="1"/>
          </p:cNvPicPr>
          <p:nvPr/>
        </p:nvPicPr>
        <p:blipFill>
          <a:blip r:embed="rId5"/>
          <a:srcRect l="0" r="0" t="-13" b="-13"/>
          <a:stretch/>
        </p:blipFill>
        <p:spPr>
          <a:xfrm>
            <a:off x="5881421" y="5948172"/>
            <a:ext cx="428854" cy="381305"/>
          </a:xfrm>
          <a:prstGeom prst="rect">
            <a:avLst/>
          </a:prstGeom>
        </p:spPr>
      </p:pic>
      <p:sp>
        <p:nvSpPr>
          <p:cNvPr id="42" name="Text 35"/>
          <p:cNvSpPr txBox="1"/>
          <p:nvPr/>
        </p:nvSpPr>
        <p:spPr>
          <a:xfrm>
            <a:off x="4959706" y="7157923"/>
            <a:ext cx="2679192" cy="419710"/>
          </a:xfrm>
          <a:prstGeom prst="rect">
            <a:avLst/>
          </a:prstGeom>
          <a:noFill/>
          <a:ln/>
        </p:spPr>
        <p:txBody>
          <a:bodyPr wrap="square" lIns="0" tIns="0" rIns="0" bIns="0" rtlCol="0" anchor="ctr"/>
          <a:lstStyle/>
          <a:p>
            <a:pPr algn="ctr" indent="0" marL="0">
              <a:buNone/>
            </a:pPr>
            <a:r>
              <a:rPr lang="en-US" sz="1100" dirty="0">
                <a:solidFill>
                  <a:srgbClr val="005BAC"/>
                </a:solidFill>
                <a:latin typeface="Noto Sans JP" pitchFamily="34" charset="0"/>
                <a:ea typeface="Noto Sans JP" pitchFamily="34" charset="-122"/>
                <a:cs typeface="Noto Sans JP" pitchFamily="34" charset="-120"/>
              </a:rPr>
              <a:t>場所の特定がさらに困難</a:t>
            </a:r>
            <a:endParaRPr lang="en-US" sz="1100" dirty="0"/>
          </a:p>
        </p:txBody>
      </p:sp>
      <p:sp>
        <p:nvSpPr>
          <p:cNvPr id="43" name="Text 36"/>
          <p:cNvSpPr txBox="1"/>
          <p:nvPr/>
        </p:nvSpPr>
        <p:spPr>
          <a:xfrm>
            <a:off x="761695" y="8076895"/>
            <a:ext cx="7148779" cy="191110"/>
          </a:xfrm>
          <a:prstGeom prst="rect">
            <a:avLst/>
          </a:prstGeom>
          <a:noFill/>
          <a:ln/>
        </p:spPr>
        <p:txBody>
          <a:bodyPr wrap="square" lIns="0" tIns="0" rIns="0" bIns="0" rtlCol="0" anchor="ctr"/>
          <a:lstStyle/>
          <a:p>
            <a:pPr algn="l" indent="0" marL="0">
              <a:buNone/>
            </a:pPr>
            <a:r>
              <a:rPr lang="en-US" sz="1000" i="1" dirty="0">
                <a:solidFill>
                  <a:srgbClr val="666666"/>
                </a:solidFill>
                <a:latin typeface="Noto Sans JP" pitchFamily="34" charset="0"/>
                <a:ea typeface="Noto Sans JP" pitchFamily="34" charset="-122"/>
                <a:cs typeface="Noto Sans JP" pitchFamily="34" charset="-120"/>
              </a:rPr>
              <a:t>※これらの課題は、業務全体の効率を下げるだけでなく、従業員の満足度低下や顧客体験の悪化にも繋がっています。</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8496605"/>
          </a:xfrm>
          <a:prstGeom prst="rect">
            <a:avLst/>
          </a:prstGeom>
          <a:solidFill>
            <a:srgbClr val="FFFFFF"/>
          </a:solidFill>
          <a:ln/>
        </p:spPr>
      </p:sp>
      <p:sp>
        <p:nvSpPr>
          <p:cNvPr id="3" name="Shape 1"/>
          <p:cNvSpPr/>
          <p:nvPr/>
        </p:nvSpPr>
        <p:spPr>
          <a:xfrm>
            <a:off x="0" y="0"/>
            <a:ext cx="12191695" cy="8496605"/>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40389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解決策のご提案：全体像</a:t>
            </a:r>
            <a:endParaRPr lang="en-US" sz="2700" dirty="0"/>
          </a:p>
        </p:txBody>
      </p:sp>
      <p:sp>
        <p:nvSpPr>
          <p:cNvPr id="6" name="Text 4"/>
          <p:cNvSpPr txBox="1"/>
          <p:nvPr/>
        </p:nvSpPr>
        <p:spPr>
          <a:xfrm>
            <a:off x="761695" y="1410005"/>
            <a:ext cx="3505810"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【図3：提案システムの全体像】</a:t>
            </a:r>
            <a:endParaRPr lang="en-US" sz="1800" dirty="0"/>
          </a:p>
        </p:txBody>
      </p:sp>
      <p:sp>
        <p:nvSpPr>
          <p:cNvPr id="7" name="Text 5"/>
          <p:cNvSpPr txBox="1"/>
          <p:nvPr/>
        </p:nvSpPr>
        <p:spPr>
          <a:xfrm>
            <a:off x="761695" y="2029054"/>
            <a:ext cx="7339889"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現状の課題を解決するために、以下のシステム連携によるDXソリューションをご提案します。</a:t>
            </a:r>
            <a:endParaRPr lang="en-US" sz="1300" dirty="0"/>
          </a:p>
        </p:txBody>
      </p:sp>
      <p:sp>
        <p:nvSpPr>
          <p:cNvPr id="8" name="Shape 6"/>
          <p:cNvSpPr/>
          <p:nvPr/>
        </p:nvSpPr>
        <p:spPr>
          <a:xfrm>
            <a:off x="2514600" y="2857500"/>
            <a:ext cx="1143000" cy="1143000"/>
          </a:xfrm>
          <a:prstGeom prst="ellipse">
            <a:avLst/>
          </a:prstGeom>
          <a:solidFill>
            <a:srgbClr val="F5F5F5"/>
          </a:solidFill>
          <a:ln w="25400">
            <a:solidFill>
              <a:srgbClr val="005BAC"/>
            </a:solidFill>
            <a:prstDash val="solid"/>
          </a:ln>
        </p:spPr>
      </p:sp>
      <p:pic>
        <p:nvPicPr>
          <p:cNvPr id="9" name="Image 0" descr="preencoded.png">    </p:cNvPr>
          <p:cNvPicPr>
            <a:picLocks noChangeAspect="1"/>
          </p:cNvPicPr>
          <p:nvPr/>
        </p:nvPicPr>
        <p:blipFill>
          <a:blip r:embed="rId1"/>
          <a:srcRect l="0" r="0" t="0" b="0"/>
          <a:stretch/>
        </p:blipFill>
        <p:spPr>
          <a:xfrm>
            <a:off x="2915107" y="3200400"/>
            <a:ext cx="342900" cy="457200"/>
          </a:xfrm>
          <a:prstGeom prst="rect">
            <a:avLst/>
          </a:prstGeom>
        </p:spPr>
      </p:pic>
      <p:sp>
        <p:nvSpPr>
          <p:cNvPr id="10" name="Text 7"/>
          <p:cNvSpPr txBox="1"/>
          <p:nvPr/>
        </p:nvSpPr>
        <p:spPr>
          <a:xfrm>
            <a:off x="2326234" y="4190695"/>
            <a:ext cx="1638605"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スマートフォンアプリ</a:t>
            </a:r>
            <a:endParaRPr lang="en-US" sz="1200" dirty="0"/>
          </a:p>
        </p:txBody>
      </p:sp>
      <p:sp>
        <p:nvSpPr>
          <p:cNvPr id="11" name="Text 8"/>
          <p:cNvSpPr txBox="1"/>
          <p:nvPr/>
        </p:nvSpPr>
        <p:spPr>
          <a:xfrm>
            <a:off x="2553005" y="4515307"/>
            <a:ext cx="1191463" cy="2286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現場調査員向け</a:t>
            </a:r>
            <a:endParaRPr lang="en-US" sz="1200" dirty="0"/>
          </a:p>
        </p:txBody>
      </p:sp>
      <p:pic>
        <p:nvPicPr>
          <p:cNvPr id="12" name="Image 1" descr="preencoded.png">    </p:cNvPr>
          <p:cNvPicPr>
            <a:picLocks noChangeAspect="1"/>
          </p:cNvPicPr>
          <p:nvPr/>
        </p:nvPicPr>
        <p:blipFill>
          <a:blip r:embed="rId2"/>
          <a:srcRect l="0" r="0" t="0" b="0"/>
          <a:stretch/>
        </p:blipFill>
        <p:spPr>
          <a:xfrm>
            <a:off x="4419295" y="3629254"/>
            <a:ext cx="342900" cy="342900"/>
          </a:xfrm>
          <a:prstGeom prst="rect">
            <a:avLst/>
          </a:prstGeom>
        </p:spPr>
      </p:pic>
      <p:sp>
        <p:nvSpPr>
          <p:cNvPr id="13" name="Shape 9"/>
          <p:cNvSpPr/>
          <p:nvPr/>
        </p:nvSpPr>
        <p:spPr>
          <a:xfrm>
            <a:off x="5524805" y="2857500"/>
            <a:ext cx="1143000" cy="1143000"/>
          </a:xfrm>
          <a:prstGeom prst="ellipse">
            <a:avLst/>
          </a:prstGeom>
          <a:solidFill>
            <a:srgbClr val="F5F5F5"/>
          </a:solidFill>
          <a:ln w="25400">
            <a:solidFill>
              <a:srgbClr val="005BAC"/>
            </a:solidFill>
            <a:prstDash val="solid"/>
          </a:ln>
        </p:spPr>
      </p:sp>
      <p:pic>
        <p:nvPicPr>
          <p:cNvPr id="14" name="Image 2" descr="preencoded.png">    </p:cNvPr>
          <p:cNvPicPr>
            <a:picLocks noChangeAspect="1"/>
          </p:cNvPicPr>
          <p:nvPr/>
        </p:nvPicPr>
        <p:blipFill>
          <a:blip r:embed="rId3"/>
          <a:srcRect l="0" r="0" t="0" b="0"/>
          <a:stretch/>
        </p:blipFill>
        <p:spPr>
          <a:xfrm>
            <a:off x="5810098" y="3200400"/>
            <a:ext cx="571500" cy="457200"/>
          </a:xfrm>
          <a:prstGeom prst="rect">
            <a:avLst/>
          </a:prstGeom>
        </p:spPr>
      </p:pic>
      <p:sp>
        <p:nvSpPr>
          <p:cNvPr id="15" name="Text 10"/>
          <p:cNvSpPr txBox="1"/>
          <p:nvPr/>
        </p:nvSpPr>
        <p:spPr>
          <a:xfrm>
            <a:off x="5487314" y="4190695"/>
            <a:ext cx="1334110"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クラウドサーバー</a:t>
            </a:r>
            <a:endParaRPr lang="en-US" sz="1200" dirty="0"/>
          </a:p>
        </p:txBody>
      </p:sp>
      <p:sp>
        <p:nvSpPr>
          <p:cNvPr id="16" name="Text 11"/>
          <p:cNvSpPr txBox="1"/>
          <p:nvPr/>
        </p:nvSpPr>
        <p:spPr>
          <a:xfrm>
            <a:off x="5486400" y="4515307"/>
            <a:ext cx="1343254" cy="2286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データ保存・連携</a:t>
            </a:r>
            <a:endParaRPr lang="en-US" sz="1200" dirty="0"/>
          </a:p>
        </p:txBody>
      </p:sp>
      <p:pic>
        <p:nvPicPr>
          <p:cNvPr id="17" name="Image 3" descr="preencoded.png">    </p:cNvPr>
          <p:cNvPicPr>
            <a:picLocks noChangeAspect="1"/>
          </p:cNvPicPr>
          <p:nvPr/>
        </p:nvPicPr>
        <p:blipFill>
          <a:blip r:embed="rId4"/>
          <a:srcRect l="0" r="0" t="0" b="0"/>
          <a:stretch/>
        </p:blipFill>
        <p:spPr>
          <a:xfrm>
            <a:off x="7429500" y="3629254"/>
            <a:ext cx="342900" cy="342900"/>
          </a:xfrm>
          <a:prstGeom prst="rect">
            <a:avLst/>
          </a:prstGeom>
        </p:spPr>
      </p:pic>
      <p:sp>
        <p:nvSpPr>
          <p:cNvPr id="18" name="Shape 12"/>
          <p:cNvSpPr/>
          <p:nvPr/>
        </p:nvSpPr>
        <p:spPr>
          <a:xfrm>
            <a:off x="8534095" y="2857500"/>
            <a:ext cx="1143000" cy="1143000"/>
          </a:xfrm>
          <a:prstGeom prst="ellipse">
            <a:avLst/>
          </a:prstGeom>
          <a:solidFill>
            <a:srgbClr val="F5F5F5"/>
          </a:solidFill>
          <a:ln w="25400">
            <a:solidFill>
              <a:srgbClr val="005BAC"/>
            </a:solidFill>
            <a:prstDash val="solid"/>
          </a:ln>
        </p:spPr>
      </p:sp>
      <p:pic>
        <p:nvPicPr>
          <p:cNvPr id="19" name="Image 4" descr="preencoded.png">    </p:cNvPr>
          <p:cNvPicPr>
            <a:picLocks noChangeAspect="1"/>
          </p:cNvPicPr>
          <p:nvPr/>
        </p:nvPicPr>
        <p:blipFill>
          <a:blip r:embed="rId5"/>
          <a:srcRect l="-44" r="-44" t="0" b="0"/>
          <a:stretch/>
        </p:blipFill>
        <p:spPr>
          <a:xfrm>
            <a:off x="8848649" y="3200400"/>
            <a:ext cx="514807" cy="457200"/>
          </a:xfrm>
          <a:prstGeom prst="rect">
            <a:avLst/>
          </a:prstGeom>
        </p:spPr>
      </p:pic>
      <p:sp>
        <p:nvSpPr>
          <p:cNvPr id="20" name="Text 13"/>
          <p:cNvSpPr txBox="1"/>
          <p:nvPr/>
        </p:nvSpPr>
        <p:spPr>
          <a:xfrm>
            <a:off x="8641994" y="4190695"/>
            <a:ext cx="1047902" cy="228600"/>
          </a:xfrm>
          <a:prstGeom prst="rect">
            <a:avLst/>
          </a:prstGeom>
          <a:noFill/>
          <a:ln/>
        </p:spPr>
        <p:txBody>
          <a:bodyPr wrap="square" lIns="0" tIns="0" rIns="0" bIns="0" rtlCol="0" anchor="ctr"/>
          <a:lstStyle/>
          <a:p>
            <a:pPr algn="ctr" indent="0" marL="0">
              <a:buNone/>
            </a:pPr>
            <a:r>
              <a:rPr lang="en-US" sz="1200" b="1" dirty="0">
                <a:solidFill>
                  <a:srgbClr val="005BAC"/>
                </a:solidFill>
                <a:latin typeface="Noto Sans JP" pitchFamily="34" charset="0"/>
                <a:ea typeface="Noto Sans JP" pitchFamily="34" charset="-122"/>
                <a:cs typeface="Noto Sans JP" pitchFamily="34" charset="-120"/>
              </a:rPr>
              <a:t>Webシステム</a:t>
            </a:r>
            <a:endParaRPr lang="en-US" sz="1200" dirty="0"/>
          </a:p>
        </p:txBody>
      </p:sp>
      <p:sp>
        <p:nvSpPr>
          <p:cNvPr id="21" name="Text 14"/>
          <p:cNvSpPr txBox="1"/>
          <p:nvPr/>
        </p:nvSpPr>
        <p:spPr>
          <a:xfrm>
            <a:off x="8572500" y="4515307"/>
            <a:ext cx="1191463" cy="2286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本社担当者向け</a:t>
            </a:r>
            <a:endParaRPr lang="en-US" sz="1200" dirty="0"/>
          </a:p>
        </p:txBody>
      </p:sp>
      <p:pic>
        <p:nvPicPr>
          <p:cNvPr id="22" name="Image 5" descr="preencoded.png">    </p:cNvPr>
          <p:cNvPicPr>
            <a:picLocks noChangeAspect="1"/>
          </p:cNvPicPr>
          <p:nvPr/>
        </p:nvPicPr>
        <p:blipFill>
          <a:blip r:embed="rId6"/>
          <a:srcRect l="-1200" r="-1200" t="0" b="0"/>
          <a:stretch/>
        </p:blipFill>
        <p:spPr>
          <a:xfrm>
            <a:off x="5986577" y="5219395"/>
            <a:ext cx="219456" cy="342900"/>
          </a:xfrm>
          <a:prstGeom prst="rect">
            <a:avLst/>
          </a:prstGeom>
        </p:spPr>
      </p:pic>
      <p:sp>
        <p:nvSpPr>
          <p:cNvPr id="23" name="Shape 15"/>
          <p:cNvSpPr/>
          <p:nvPr/>
        </p:nvSpPr>
        <p:spPr>
          <a:xfrm>
            <a:off x="761695" y="6038698"/>
            <a:ext cx="10668305" cy="1886407"/>
          </a:xfrm>
          <a:prstGeom prst="roundRect">
            <a:avLst>
              <a:gd name="adj" fmla="val 2448"/>
            </a:avLst>
          </a:prstGeom>
          <a:solidFill>
            <a:srgbClr val="F5F5F5"/>
          </a:solidFill>
          <a:ln w="12700">
            <a:solidFill>
              <a:srgbClr val="E0E0E0"/>
            </a:solidFill>
            <a:prstDash val="solid"/>
          </a:ln>
          <a:effectLst>
            <a:outerShdw sx="100000" sy="100000" kx="0" ky="0" algn="bl" rotWithShape="0" blurRad="38100" dist="25400" dir="5400000">
              <a:srgbClr val="000000">
                <a:alpha val="10000"/>
              </a:srgbClr>
            </a:outerShdw>
          </a:effectLst>
        </p:spPr>
      </p:sp>
      <p:sp>
        <p:nvSpPr>
          <p:cNvPr id="24" name="Text 16"/>
          <p:cNvSpPr txBox="1"/>
          <p:nvPr/>
        </p:nvSpPr>
        <p:spPr>
          <a:xfrm>
            <a:off x="5524805" y="6229807"/>
            <a:ext cx="1286561" cy="277063"/>
          </a:xfrm>
          <a:prstGeom prst="rect">
            <a:avLst/>
          </a:prstGeom>
          <a:noFill/>
          <a:ln/>
        </p:spPr>
        <p:txBody>
          <a:bodyPr wrap="square" lIns="0" tIns="0" rIns="0" bIns="0" rtlCol="0" anchor="ctr"/>
          <a:lstStyle/>
          <a:p>
            <a:pPr algn="ctr" indent="0" marL="0">
              <a:buNone/>
            </a:pPr>
            <a:r>
              <a:rPr lang="en-US" sz="1500" b="1" dirty="0">
                <a:solidFill>
                  <a:srgbClr val="333333"/>
                </a:solidFill>
                <a:latin typeface="Noto Sans JP" pitchFamily="34" charset="0"/>
                <a:ea typeface="Noto Sans JP" pitchFamily="34" charset="-122"/>
                <a:cs typeface="Noto Sans JP" pitchFamily="34" charset="-120"/>
              </a:rPr>
              <a:t>データの流れ</a:t>
            </a:r>
            <a:endParaRPr lang="en-US" sz="1500" dirty="0"/>
          </a:p>
        </p:txBody>
      </p:sp>
      <p:pic>
        <p:nvPicPr>
          <p:cNvPr id="25" name="Image 6" descr="preencoded.png">    </p:cNvPr>
          <p:cNvPicPr>
            <a:picLocks noChangeAspect="1"/>
          </p:cNvPicPr>
          <p:nvPr/>
        </p:nvPicPr>
        <p:blipFill>
          <a:blip r:embed="rId7"/>
          <a:srcRect l="0" r="0" t="0" b="0"/>
          <a:stretch/>
        </p:blipFill>
        <p:spPr>
          <a:xfrm>
            <a:off x="2562149" y="6657746"/>
            <a:ext cx="286207" cy="286207"/>
          </a:xfrm>
          <a:prstGeom prst="rect">
            <a:avLst/>
          </a:prstGeom>
        </p:spPr>
      </p:pic>
      <p:sp>
        <p:nvSpPr>
          <p:cNvPr id="26" name="Text 17"/>
          <p:cNvSpPr txBox="1"/>
          <p:nvPr/>
        </p:nvSpPr>
        <p:spPr>
          <a:xfrm>
            <a:off x="1333195" y="7031736"/>
            <a:ext cx="2867558" cy="6858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写真撮影時に位置・方位情報を自動記録スマートフォンのGPSと電子コンパスを活用</a:t>
            </a:r>
            <a:endParaRPr lang="en-US" sz="1200" dirty="0"/>
          </a:p>
        </p:txBody>
      </p:sp>
      <p:pic>
        <p:nvPicPr>
          <p:cNvPr id="27" name="Image 7" descr="preencoded.png">    </p:cNvPr>
          <p:cNvPicPr>
            <a:picLocks noChangeAspect="1"/>
          </p:cNvPicPr>
          <p:nvPr/>
        </p:nvPicPr>
        <p:blipFill>
          <a:blip r:embed="rId8"/>
          <a:srcRect l="0" r="0" t="-43" b="-43"/>
          <a:stretch/>
        </p:blipFill>
        <p:spPr>
          <a:xfrm>
            <a:off x="4334256" y="7111289"/>
            <a:ext cx="133502" cy="152705"/>
          </a:xfrm>
          <a:prstGeom prst="rect">
            <a:avLst/>
          </a:prstGeom>
        </p:spPr>
      </p:pic>
      <p:pic>
        <p:nvPicPr>
          <p:cNvPr id="28" name="Image 8" descr="preencoded.png">    </p:cNvPr>
          <p:cNvPicPr>
            <a:picLocks noChangeAspect="1"/>
          </p:cNvPicPr>
          <p:nvPr/>
        </p:nvPicPr>
        <p:blipFill>
          <a:blip r:embed="rId9"/>
          <a:srcRect l="0" r="0" t="0" b="0"/>
          <a:stretch/>
        </p:blipFill>
        <p:spPr>
          <a:xfrm>
            <a:off x="5952744" y="6772046"/>
            <a:ext cx="286207" cy="286207"/>
          </a:xfrm>
          <a:prstGeom prst="rect">
            <a:avLst/>
          </a:prstGeom>
        </p:spPr>
      </p:pic>
      <p:sp>
        <p:nvSpPr>
          <p:cNvPr id="29" name="Text 18"/>
          <p:cNvSpPr txBox="1"/>
          <p:nvPr/>
        </p:nvSpPr>
        <p:spPr>
          <a:xfrm>
            <a:off x="4726534" y="7146036"/>
            <a:ext cx="2857500" cy="4572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リアルタイムデータ連携撮影データをクラウドへ即時アップロード</a:t>
            </a:r>
            <a:endParaRPr lang="en-US" sz="1200" dirty="0"/>
          </a:p>
        </p:txBody>
      </p:sp>
      <p:pic>
        <p:nvPicPr>
          <p:cNvPr id="30" name="Image 9" descr="preencoded.png">    </p:cNvPr>
          <p:cNvPicPr>
            <a:picLocks noChangeAspect="1"/>
          </p:cNvPicPr>
          <p:nvPr/>
        </p:nvPicPr>
        <p:blipFill>
          <a:blip r:embed="rId10"/>
          <a:srcRect l="0" r="0" t="-43" b="-43"/>
          <a:stretch/>
        </p:blipFill>
        <p:spPr>
          <a:xfrm>
            <a:off x="7724851" y="7111289"/>
            <a:ext cx="133502" cy="152705"/>
          </a:xfrm>
          <a:prstGeom prst="rect">
            <a:avLst/>
          </a:prstGeom>
        </p:spPr>
      </p:pic>
      <p:pic>
        <p:nvPicPr>
          <p:cNvPr id="31" name="Image 10" descr="preencoded.png">    </p:cNvPr>
          <p:cNvPicPr>
            <a:picLocks noChangeAspect="1"/>
          </p:cNvPicPr>
          <p:nvPr/>
        </p:nvPicPr>
        <p:blipFill>
          <a:blip r:embed="rId11"/>
          <a:srcRect l="-266" r="-266" t="0" b="0"/>
          <a:stretch/>
        </p:blipFill>
        <p:spPr>
          <a:xfrm>
            <a:off x="9325051" y="6772046"/>
            <a:ext cx="323698" cy="286207"/>
          </a:xfrm>
          <a:prstGeom prst="rect">
            <a:avLst/>
          </a:prstGeom>
        </p:spPr>
      </p:pic>
      <p:sp>
        <p:nvSpPr>
          <p:cNvPr id="32" name="Text 19"/>
          <p:cNvSpPr txBox="1"/>
          <p:nvPr/>
        </p:nvSpPr>
        <p:spPr>
          <a:xfrm>
            <a:off x="8115300" y="7146036"/>
            <a:ext cx="2867558" cy="457200"/>
          </a:xfrm>
          <a:prstGeom prst="rect">
            <a:avLst/>
          </a:prstGeom>
          <a:noFill/>
          <a:ln/>
        </p:spPr>
        <p:txBody>
          <a:bodyPr wrap="square" lIns="0" tIns="0" rIns="0" bIns="0" rtlCol="0" anchor="ctr"/>
          <a:lstStyle/>
          <a:p>
            <a:pPr algn="ctr" indent="0" marL="0">
              <a:buNone/>
            </a:pPr>
            <a:r>
              <a:rPr lang="en-US" sz="1200" dirty="0">
                <a:solidFill>
                  <a:srgbClr val="333333"/>
                </a:solidFill>
                <a:latin typeface="Noto Sans JP" pitchFamily="34" charset="0"/>
                <a:ea typeface="Noto Sans JP" pitchFamily="34" charset="-122"/>
                <a:cs typeface="Noto Sans JP" pitchFamily="34" charset="-120"/>
              </a:rPr>
              <a:t>自動マッピング・レポート作成撮影データを地図上に自動プロット</a:t>
            </a:r>
            <a:endParaRPr lang="en-US" sz="1200" dirty="0"/>
          </a:p>
        </p:txBody>
      </p:sp>
      <p:sp>
        <p:nvSpPr>
          <p:cNvPr id="33" name="Text 20"/>
          <p:cNvSpPr txBox="1"/>
          <p:nvPr/>
        </p:nvSpPr>
        <p:spPr>
          <a:xfrm>
            <a:off x="761695" y="8003743"/>
            <a:ext cx="6443777"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 この連携により、「パズルを解くような」複雑な照合作業が不要になり、業務効率が大幅に向上します。</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86346"/>
          </a:xfrm>
          <a:prstGeom prst="rect">
            <a:avLst/>
          </a:prstGeom>
          <a:solidFill>
            <a:srgbClr val="FFFFFF"/>
          </a:solidFill>
          <a:ln/>
        </p:spPr>
      </p:sp>
      <p:sp>
        <p:nvSpPr>
          <p:cNvPr id="3" name="Shape 1"/>
          <p:cNvSpPr/>
          <p:nvPr/>
        </p:nvSpPr>
        <p:spPr>
          <a:xfrm>
            <a:off x="0" y="0"/>
            <a:ext cx="12191695" cy="6886346"/>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6344107"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スマートフォンアプリ(現場調査員向け)</a:t>
            </a:r>
            <a:endParaRPr lang="en-US" sz="2700" dirty="0"/>
          </a:p>
        </p:txBody>
      </p:sp>
      <p:pic>
        <p:nvPicPr>
          <p:cNvPr id="6" name="Image 0" descr="https://page.gensparksite.com/slides_images/d703597e78f70b724a43aba09174a690.png">    </p:cNvPr>
          <p:cNvPicPr>
            <a:picLocks noChangeAspect="1"/>
          </p:cNvPicPr>
          <p:nvPr/>
        </p:nvPicPr>
        <p:blipFill>
          <a:blip r:embed="rId1"/>
          <a:srcRect l="5" r="5" t="0" b="0"/>
          <a:stretch/>
        </p:blipFill>
        <p:spPr>
          <a:xfrm>
            <a:off x="838505" y="1679753"/>
            <a:ext cx="3047695" cy="4572000"/>
          </a:xfrm>
          <a:prstGeom prst="rect">
            <a:avLst/>
          </a:prstGeom>
        </p:spPr>
      </p:pic>
      <p:sp>
        <p:nvSpPr>
          <p:cNvPr id="7" name="Shape 4"/>
          <p:cNvSpPr/>
          <p:nvPr/>
        </p:nvSpPr>
        <p:spPr>
          <a:xfrm>
            <a:off x="5410505" y="1619402"/>
            <a:ext cx="6019495" cy="1837944"/>
          </a:xfrm>
          <a:prstGeom prst="roundRect">
            <a:avLst>
              <a:gd name="adj" fmla="val 2578"/>
            </a:avLst>
          </a:prstGeom>
          <a:solidFill>
            <a:srgbClr val="F5F5F5"/>
          </a:solidFill>
          <a:ln/>
          <a:effectLst>
            <a:outerShdw sx="100000" sy="100000" kx="0" ky="0" algn="bl" rotWithShape="0" blurRad="63500" dist="38100" dir="5400000">
              <a:srgbClr val="000000">
                <a:alpha val="5000"/>
              </a:srgbClr>
            </a:outerShdw>
          </a:effectLst>
        </p:spPr>
      </p:sp>
      <p:sp>
        <p:nvSpPr>
          <p:cNvPr id="8" name="Shape 5"/>
          <p:cNvSpPr/>
          <p:nvPr/>
        </p:nvSpPr>
        <p:spPr>
          <a:xfrm>
            <a:off x="5410505" y="1619402"/>
            <a:ext cx="47549" cy="1837944"/>
          </a:xfrm>
          <a:prstGeom prst="rect">
            <a:avLst/>
          </a:prstGeom>
          <a:solidFill>
            <a:srgbClr val="005BAC"/>
          </a:solidFill>
          <a:ln/>
        </p:spPr>
      </p:sp>
      <p:sp>
        <p:nvSpPr>
          <p:cNvPr id="9" name="Shape 6"/>
          <p:cNvSpPr/>
          <p:nvPr/>
        </p:nvSpPr>
        <p:spPr>
          <a:xfrm>
            <a:off x="5695798" y="1857146"/>
            <a:ext cx="571500" cy="571500"/>
          </a:xfrm>
          <a:prstGeom prst="ellipse">
            <a:avLst/>
          </a:prstGeom>
          <a:solidFill>
            <a:srgbClr val="005BAC"/>
          </a:solidFill>
          <a:ln/>
        </p:spPr>
      </p:sp>
      <p:pic>
        <p:nvPicPr>
          <p:cNvPr id="10" name="Image 1" descr="preencoded.png">    </p:cNvPr>
          <p:cNvPicPr>
            <a:picLocks noChangeAspect="1"/>
          </p:cNvPicPr>
          <p:nvPr/>
        </p:nvPicPr>
        <p:blipFill>
          <a:blip r:embed="rId2"/>
          <a:srcRect l="0" r="0" t="0" b="0"/>
          <a:stretch/>
        </p:blipFill>
        <p:spPr>
          <a:xfrm>
            <a:off x="5867705" y="2029054"/>
            <a:ext cx="228600" cy="228600"/>
          </a:xfrm>
          <a:prstGeom prst="rect">
            <a:avLst/>
          </a:prstGeom>
        </p:spPr>
      </p:pic>
      <p:sp>
        <p:nvSpPr>
          <p:cNvPr id="11" name="Shape 7"/>
          <p:cNvSpPr/>
          <p:nvPr/>
        </p:nvSpPr>
        <p:spPr>
          <a:xfrm>
            <a:off x="5410505" y="3737153"/>
            <a:ext cx="6019495" cy="1837944"/>
          </a:xfrm>
          <a:prstGeom prst="roundRect">
            <a:avLst>
              <a:gd name="adj" fmla="val 2578"/>
            </a:avLst>
          </a:prstGeom>
          <a:solidFill>
            <a:srgbClr val="F5F5F5"/>
          </a:solidFill>
          <a:ln/>
          <a:effectLst>
            <a:outerShdw sx="100000" sy="100000" kx="0" ky="0" algn="bl" rotWithShape="0" blurRad="63500" dist="38100" dir="5400000">
              <a:srgbClr val="000000">
                <a:alpha val="5000"/>
              </a:srgbClr>
            </a:outerShdw>
          </a:effectLst>
        </p:spPr>
      </p:sp>
      <p:sp>
        <p:nvSpPr>
          <p:cNvPr id="12" name="Shape 8"/>
          <p:cNvSpPr/>
          <p:nvPr/>
        </p:nvSpPr>
        <p:spPr>
          <a:xfrm>
            <a:off x="5410505" y="3737153"/>
            <a:ext cx="47549" cy="1837944"/>
          </a:xfrm>
          <a:prstGeom prst="rect">
            <a:avLst/>
          </a:prstGeom>
          <a:solidFill>
            <a:srgbClr val="005BAC"/>
          </a:solidFill>
          <a:ln/>
        </p:spPr>
      </p:sp>
      <p:sp>
        <p:nvSpPr>
          <p:cNvPr id="13" name="Shape 9"/>
          <p:cNvSpPr/>
          <p:nvPr/>
        </p:nvSpPr>
        <p:spPr>
          <a:xfrm>
            <a:off x="5695798" y="3975811"/>
            <a:ext cx="571500" cy="571500"/>
          </a:xfrm>
          <a:prstGeom prst="ellipse">
            <a:avLst/>
          </a:prstGeom>
          <a:solidFill>
            <a:srgbClr val="005BAC"/>
          </a:solidFill>
          <a:ln/>
        </p:spPr>
      </p:sp>
      <p:sp>
        <p:nvSpPr>
          <p:cNvPr id="14" name="Text 10"/>
          <p:cNvSpPr txBox="1"/>
          <p:nvPr/>
        </p:nvSpPr>
        <p:spPr>
          <a:xfrm>
            <a:off x="6458407" y="1857146"/>
            <a:ext cx="2429561" cy="277063"/>
          </a:xfrm>
          <a:prstGeom prst="rect">
            <a:avLst/>
          </a:prstGeom>
          <a:noFill/>
          <a:ln/>
        </p:spPr>
        <p:txBody>
          <a:bodyPr wrap="square" lIns="0" tIns="0" rIns="0" bIns="0" rtlCol="0" anchor="ctr"/>
          <a:lstStyle/>
          <a:p>
            <a:pPr algn="l" indent="0" marL="0">
              <a:buNone/>
            </a:pPr>
            <a:r>
              <a:rPr lang="en-US" sz="1500" b="1" dirty="0">
                <a:solidFill>
                  <a:srgbClr val="005BAC"/>
                </a:solidFill>
                <a:latin typeface="Noto Sans JP" pitchFamily="34" charset="0"/>
                <a:ea typeface="Noto Sans JP" pitchFamily="34" charset="-122"/>
                <a:cs typeface="Noto Sans JP" pitchFamily="34" charset="-120"/>
              </a:rPr>
              <a:t>位置・方位情報の自動記録</a:t>
            </a:r>
            <a:endParaRPr lang="en-US" sz="1500" dirty="0"/>
          </a:p>
        </p:txBody>
      </p:sp>
      <p:sp>
        <p:nvSpPr>
          <p:cNvPr id="15" name="Text 11"/>
          <p:cNvSpPr txBox="1"/>
          <p:nvPr/>
        </p:nvSpPr>
        <p:spPr>
          <a:xfrm>
            <a:off x="6458407" y="3975811"/>
            <a:ext cx="2238451" cy="277063"/>
          </a:xfrm>
          <a:prstGeom prst="rect">
            <a:avLst/>
          </a:prstGeom>
          <a:noFill/>
          <a:ln/>
        </p:spPr>
        <p:txBody>
          <a:bodyPr wrap="square" lIns="0" tIns="0" rIns="0" bIns="0" rtlCol="0" anchor="ctr"/>
          <a:lstStyle/>
          <a:p>
            <a:pPr algn="l" indent="0" marL="0">
              <a:buNone/>
            </a:pPr>
            <a:r>
              <a:rPr lang="en-US" sz="1500" b="1" dirty="0">
                <a:solidFill>
                  <a:srgbClr val="005BAC"/>
                </a:solidFill>
                <a:latin typeface="Noto Sans JP" pitchFamily="34" charset="0"/>
                <a:ea typeface="Noto Sans JP" pitchFamily="34" charset="-122"/>
                <a:cs typeface="Noto Sans JP" pitchFamily="34" charset="-120"/>
              </a:rPr>
              <a:t>リアルタイムデータ連携</a:t>
            </a:r>
            <a:endParaRPr lang="en-US" sz="1500" dirty="0"/>
          </a:p>
        </p:txBody>
      </p:sp>
      <p:sp>
        <p:nvSpPr>
          <p:cNvPr id="16" name="Text 12"/>
          <p:cNvSpPr txBox="1"/>
          <p:nvPr/>
        </p:nvSpPr>
        <p:spPr>
          <a:xfrm>
            <a:off x="6458407" y="2238451"/>
            <a:ext cx="2400300"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アプリで写真を撮影するだけで、</a:t>
            </a:r>
            <a:endParaRPr lang="en-US" sz="1200" dirty="0"/>
          </a:p>
        </p:txBody>
      </p:sp>
      <p:sp>
        <p:nvSpPr>
          <p:cNvPr id="17" name="Text 13"/>
          <p:cNvSpPr txBox="1"/>
          <p:nvPr/>
        </p:nvSpPr>
        <p:spPr>
          <a:xfrm>
            <a:off x="10095890" y="2238451"/>
            <a:ext cx="2770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と</a:t>
            </a:r>
            <a:endParaRPr lang="en-US" sz="1200" dirty="0"/>
          </a:p>
        </p:txBody>
      </p:sp>
      <p:sp>
        <p:nvSpPr>
          <p:cNvPr id="18" name="Text 14"/>
          <p:cNvSpPr txBox="1"/>
          <p:nvPr/>
        </p:nvSpPr>
        <p:spPr>
          <a:xfrm>
            <a:off x="6458407" y="2482596"/>
            <a:ext cx="4839005" cy="724205"/>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を自動で写真データに紐づけて保存します。調査員は複雑な操作や情報の手入力が不要となり、単純撮影のみに集中できます。</a:t>
            </a:r>
            <a:endParaRPr lang="en-US" sz="1200" dirty="0"/>
          </a:p>
        </p:txBody>
      </p:sp>
      <p:sp>
        <p:nvSpPr>
          <p:cNvPr id="19" name="Text 15"/>
          <p:cNvSpPr txBox="1"/>
          <p:nvPr/>
        </p:nvSpPr>
        <p:spPr>
          <a:xfrm>
            <a:off x="6458407" y="4356202"/>
            <a:ext cx="13432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撮影したデータは</a:t>
            </a:r>
            <a:endParaRPr lang="en-US" sz="1200" dirty="0"/>
          </a:p>
        </p:txBody>
      </p:sp>
      <p:sp>
        <p:nvSpPr>
          <p:cNvPr id="20" name="Text 16"/>
          <p:cNvSpPr txBox="1"/>
          <p:nvPr/>
        </p:nvSpPr>
        <p:spPr>
          <a:xfrm>
            <a:off x="6458407" y="4356202"/>
            <a:ext cx="4839005" cy="962863"/>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されるため、本社での処理をリアルタイムに開始できます。インターネット接続がない場合でも、自動でオフライン保存され、接続回復時に自動送信される安心設計です。</a:t>
            </a:r>
            <a:endParaRPr lang="en-US" sz="1200" dirty="0"/>
          </a:p>
        </p:txBody>
      </p:sp>
      <p:sp>
        <p:nvSpPr>
          <p:cNvPr id="21" name="Text 17"/>
          <p:cNvSpPr txBox="1"/>
          <p:nvPr/>
        </p:nvSpPr>
        <p:spPr>
          <a:xfrm>
            <a:off x="8738006" y="2238451"/>
            <a:ext cx="1476756" cy="2286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GPSによる位置情報</a:t>
            </a:r>
            <a:endParaRPr lang="en-US" sz="1200" dirty="0"/>
          </a:p>
        </p:txBody>
      </p:sp>
      <p:sp>
        <p:nvSpPr>
          <p:cNvPr id="22" name="Text 18"/>
          <p:cNvSpPr txBox="1"/>
          <p:nvPr/>
        </p:nvSpPr>
        <p:spPr>
          <a:xfrm>
            <a:off x="6458407" y="2238451"/>
            <a:ext cx="4819802" cy="476402"/>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スマートフォンの電子コンパスによる方角</a:t>
            </a:r>
            <a:endParaRPr lang="en-US" sz="1200" dirty="0"/>
          </a:p>
        </p:txBody>
      </p:sp>
      <p:pic>
        <p:nvPicPr>
          <p:cNvPr id="23" name="Image 2" descr="preencoded.png">    </p:cNvPr>
          <p:cNvPicPr>
            <a:picLocks noChangeAspect="1"/>
          </p:cNvPicPr>
          <p:nvPr/>
        </p:nvPicPr>
        <p:blipFill>
          <a:blip r:embed="rId3"/>
          <a:srcRect l="-80" r="-80" t="0" b="0"/>
          <a:stretch/>
        </p:blipFill>
        <p:spPr>
          <a:xfrm>
            <a:off x="5838444" y="4146804"/>
            <a:ext cx="286207" cy="228600"/>
          </a:xfrm>
          <a:prstGeom prst="rect">
            <a:avLst/>
          </a:prstGeom>
        </p:spPr>
      </p:pic>
      <p:sp>
        <p:nvSpPr>
          <p:cNvPr id="24" name="Text 19"/>
          <p:cNvSpPr txBox="1"/>
          <p:nvPr/>
        </p:nvSpPr>
        <p:spPr>
          <a:xfrm>
            <a:off x="7677302" y="4356202"/>
            <a:ext cx="2857500" cy="2286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即時にクラウドサーバーへアップロード</a:t>
            </a:r>
            <a:endParaRPr lang="en-US" sz="1200" dirty="0"/>
          </a:p>
        </p:txBody>
      </p:sp>
      <p:pic>
        <p:nvPicPr>
          <p:cNvPr id="25" name="Image 3" descr="preencoded.png">    </p:cNvPr>
          <p:cNvPicPr>
            <a:picLocks noChangeAspect="1"/>
          </p:cNvPicPr>
          <p:nvPr/>
        </p:nvPicPr>
        <p:blipFill>
          <a:blip r:embed="rId4"/>
          <a:srcRect l="0" r="0" t="0" b="0"/>
          <a:stretch/>
        </p:blipFill>
        <p:spPr>
          <a:xfrm>
            <a:off x="5410505" y="5903366"/>
            <a:ext cx="152705" cy="152705"/>
          </a:xfrm>
          <a:prstGeom prst="rect">
            <a:avLst/>
          </a:prstGeom>
        </p:spPr>
      </p:pic>
      <p:sp>
        <p:nvSpPr>
          <p:cNvPr id="26" name="Text 20"/>
          <p:cNvSpPr txBox="1"/>
          <p:nvPr/>
        </p:nvSpPr>
        <p:spPr>
          <a:xfrm>
            <a:off x="5410505" y="5855818"/>
            <a:ext cx="6124651" cy="4572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シンプルで直感的な操作性を実現し、調査員の年齢や技術レベルに関わらず、誰でも簡単に使用できます。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048195"/>
          </a:xfrm>
          <a:prstGeom prst="rect">
            <a:avLst/>
          </a:prstGeom>
          <a:solidFill>
            <a:srgbClr val="FFFFFF"/>
          </a:solidFill>
          <a:ln/>
        </p:spPr>
      </p:sp>
      <p:sp>
        <p:nvSpPr>
          <p:cNvPr id="3" name="Shape 1"/>
          <p:cNvSpPr/>
          <p:nvPr/>
        </p:nvSpPr>
        <p:spPr>
          <a:xfrm>
            <a:off x="0" y="0"/>
            <a:ext cx="12191695" cy="7048195"/>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571500" y="323698"/>
            <a:ext cx="4648810"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Phase1 ホーム画面 Phase 1</a:t>
            </a:r>
            <a:endParaRPr lang="en-US" sz="2700" dirty="0"/>
          </a:p>
        </p:txBody>
      </p:sp>
      <p:pic>
        <p:nvPicPr>
          <p:cNvPr id="6" name="Image 0" descr="https://page.gensparksite.com/v1/base64_upload/f3b3d7a421c06214fa4e3701c4b8b551">    </p:cNvPr>
          <p:cNvPicPr>
            <a:picLocks noChangeAspect="1"/>
          </p:cNvPicPr>
          <p:nvPr/>
        </p:nvPicPr>
        <p:blipFill>
          <a:blip r:embed="rId1"/>
          <a:srcRect l="23304" r="23304" t="0" b="0"/>
          <a:stretch/>
        </p:blipFill>
        <p:spPr>
          <a:xfrm>
            <a:off x="571500" y="1429207"/>
            <a:ext cx="4972507" cy="5238598"/>
          </a:xfrm>
          <a:prstGeom prst="rect">
            <a:avLst/>
          </a:prstGeom>
        </p:spPr>
      </p:pic>
      <p:sp>
        <p:nvSpPr>
          <p:cNvPr id="7" name="Shape 4"/>
          <p:cNvSpPr/>
          <p:nvPr/>
        </p:nvSpPr>
        <p:spPr>
          <a:xfrm>
            <a:off x="6096305" y="1429207"/>
            <a:ext cx="476402" cy="476402"/>
          </a:xfrm>
          <a:prstGeom prst="ellipse">
            <a:avLst/>
          </a:prstGeom>
          <a:solidFill>
            <a:srgbClr val="F5F5F5"/>
          </a:solidFill>
          <a:ln w="25400">
            <a:solidFill>
              <a:srgbClr val="005BAC"/>
            </a:solidFill>
            <a:prstDash val="solid"/>
          </a:ln>
        </p:spPr>
      </p:sp>
      <p:pic>
        <p:nvPicPr>
          <p:cNvPr id="8" name="Image 1" descr="preencoded.png">    </p:cNvPr>
          <p:cNvPicPr>
            <a:picLocks noChangeAspect="1"/>
          </p:cNvPicPr>
          <p:nvPr/>
        </p:nvPicPr>
        <p:blipFill>
          <a:blip r:embed="rId2"/>
          <a:srcRect l="0" r="0" t="0" b="0"/>
          <a:stretch/>
        </p:blipFill>
        <p:spPr>
          <a:xfrm>
            <a:off x="6238951" y="1571854"/>
            <a:ext cx="190195" cy="190195"/>
          </a:xfrm>
          <a:prstGeom prst="rect">
            <a:avLst/>
          </a:prstGeom>
        </p:spPr>
      </p:pic>
      <p:sp>
        <p:nvSpPr>
          <p:cNvPr id="9" name="Shape 5"/>
          <p:cNvSpPr/>
          <p:nvPr/>
        </p:nvSpPr>
        <p:spPr>
          <a:xfrm>
            <a:off x="6096305" y="2381098"/>
            <a:ext cx="476402" cy="476402"/>
          </a:xfrm>
          <a:prstGeom prst="ellipse">
            <a:avLst/>
          </a:prstGeom>
          <a:solidFill>
            <a:srgbClr val="F5F5F5"/>
          </a:solidFill>
          <a:ln w="25400">
            <a:solidFill>
              <a:srgbClr val="005BAC"/>
            </a:solidFill>
            <a:prstDash val="solid"/>
          </a:ln>
        </p:spPr>
      </p:sp>
      <p:sp>
        <p:nvSpPr>
          <p:cNvPr id="10" name="Shape 6"/>
          <p:cNvSpPr/>
          <p:nvPr/>
        </p:nvSpPr>
        <p:spPr>
          <a:xfrm>
            <a:off x="6096305" y="3333902"/>
            <a:ext cx="476402" cy="476402"/>
          </a:xfrm>
          <a:prstGeom prst="ellipse">
            <a:avLst/>
          </a:prstGeom>
          <a:solidFill>
            <a:srgbClr val="F5F5F5"/>
          </a:solidFill>
          <a:ln w="25400">
            <a:solidFill>
              <a:srgbClr val="005BAC"/>
            </a:solidFill>
            <a:prstDash val="solid"/>
          </a:ln>
        </p:spPr>
      </p:sp>
      <p:sp>
        <p:nvSpPr>
          <p:cNvPr id="11" name="Shape 7"/>
          <p:cNvSpPr/>
          <p:nvPr/>
        </p:nvSpPr>
        <p:spPr>
          <a:xfrm>
            <a:off x="6096305" y="4286707"/>
            <a:ext cx="476402" cy="476402"/>
          </a:xfrm>
          <a:prstGeom prst="ellipse">
            <a:avLst/>
          </a:prstGeom>
          <a:solidFill>
            <a:srgbClr val="F5F5F5"/>
          </a:solidFill>
          <a:ln w="25400">
            <a:solidFill>
              <a:srgbClr val="005BAC"/>
            </a:solidFill>
            <a:prstDash val="solid"/>
          </a:ln>
        </p:spPr>
      </p:sp>
      <p:sp>
        <p:nvSpPr>
          <p:cNvPr id="12" name="Text 8"/>
          <p:cNvSpPr txBox="1"/>
          <p:nvPr/>
        </p:nvSpPr>
        <p:spPr>
          <a:xfrm>
            <a:off x="6715354" y="1429207"/>
            <a:ext cx="8147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写真撮影</a:t>
            </a:r>
            <a:endParaRPr lang="en-US" sz="1300" dirty="0"/>
          </a:p>
        </p:txBody>
      </p:sp>
      <p:sp>
        <p:nvSpPr>
          <p:cNvPr id="13" name="Text 9"/>
          <p:cNvSpPr txBox="1"/>
          <p:nvPr/>
        </p:nvSpPr>
        <p:spPr>
          <a:xfrm>
            <a:off x="6715354" y="2381098"/>
            <a:ext cx="9866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撮影リスト</a:t>
            </a:r>
            <a:endParaRPr lang="en-US" sz="1300" dirty="0"/>
          </a:p>
        </p:txBody>
      </p:sp>
      <p:sp>
        <p:nvSpPr>
          <p:cNvPr id="14" name="Text 10"/>
          <p:cNvSpPr txBox="1"/>
          <p:nvPr/>
        </p:nvSpPr>
        <p:spPr>
          <a:xfrm>
            <a:off x="6715354" y="1733702"/>
            <a:ext cx="4972507"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撮影と同時にGPS位置情報と方位情報を自動記録。メモ入力不要で、正確な位置・方向データを写真に紐づけます。</a:t>
            </a:r>
            <a:endParaRPr lang="en-US" sz="1200" dirty="0"/>
          </a:p>
        </p:txBody>
      </p:sp>
      <p:pic>
        <p:nvPicPr>
          <p:cNvPr id="15" name="Image 2" descr="preencoded.png">    </p:cNvPr>
          <p:cNvPicPr>
            <a:picLocks noChangeAspect="1"/>
          </p:cNvPicPr>
          <p:nvPr/>
        </p:nvPicPr>
        <p:blipFill>
          <a:blip r:embed="rId3"/>
          <a:srcRect l="0" r="0" t="0" b="0"/>
          <a:stretch/>
        </p:blipFill>
        <p:spPr>
          <a:xfrm>
            <a:off x="6238951" y="2523744"/>
            <a:ext cx="190195" cy="190195"/>
          </a:xfrm>
          <a:prstGeom prst="rect">
            <a:avLst/>
          </a:prstGeom>
        </p:spPr>
      </p:pic>
      <p:sp>
        <p:nvSpPr>
          <p:cNvPr id="16" name="Text 11"/>
          <p:cNvSpPr txBox="1"/>
          <p:nvPr/>
        </p:nvSpPr>
        <p:spPr>
          <a:xfrm>
            <a:off x="6715354" y="2686507"/>
            <a:ext cx="4972507"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撮影した写真をリスト形式で管理。GPSデータ付きの一覧表示で、進捗状況や撮影枚数を一目で確認できます。</a:t>
            </a:r>
            <a:endParaRPr lang="en-US" sz="1200" dirty="0"/>
          </a:p>
        </p:txBody>
      </p:sp>
      <p:pic>
        <p:nvPicPr>
          <p:cNvPr id="17" name="Image 3" descr="preencoded.png">    </p:cNvPr>
          <p:cNvPicPr>
            <a:picLocks noChangeAspect="1"/>
          </p:cNvPicPr>
          <p:nvPr/>
        </p:nvPicPr>
        <p:blipFill>
          <a:blip r:embed="rId4"/>
          <a:srcRect l="0" r="0" t="0" b="0"/>
          <a:stretch/>
        </p:blipFill>
        <p:spPr>
          <a:xfrm>
            <a:off x="6238951" y="3476549"/>
            <a:ext cx="190195" cy="190195"/>
          </a:xfrm>
          <a:prstGeom prst="rect">
            <a:avLst/>
          </a:prstGeom>
        </p:spPr>
      </p:pic>
      <p:sp>
        <p:nvSpPr>
          <p:cNvPr id="18" name="Text 12"/>
          <p:cNvSpPr txBox="1"/>
          <p:nvPr/>
        </p:nvSpPr>
        <p:spPr>
          <a:xfrm>
            <a:off x="6715354" y="3333902"/>
            <a:ext cx="9866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報告書編集</a:t>
            </a:r>
            <a:endParaRPr lang="en-US" sz="1300" dirty="0"/>
          </a:p>
        </p:txBody>
      </p:sp>
      <p:sp>
        <p:nvSpPr>
          <p:cNvPr id="19" name="Text 13"/>
          <p:cNvSpPr txBox="1"/>
          <p:nvPr/>
        </p:nvSpPr>
        <p:spPr>
          <a:xfrm>
            <a:off x="6715354" y="4286707"/>
            <a:ext cx="11576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クラウド同期</a:t>
            </a:r>
            <a:endParaRPr lang="en-US" sz="1300" dirty="0"/>
          </a:p>
        </p:txBody>
      </p:sp>
      <p:sp>
        <p:nvSpPr>
          <p:cNvPr id="20" name="Text 14"/>
          <p:cNvSpPr txBox="1"/>
          <p:nvPr/>
        </p:nvSpPr>
        <p:spPr>
          <a:xfrm>
            <a:off x="6715354" y="3638398"/>
            <a:ext cx="4972507"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シンプルな編集インターフェースで、写真と位置情報を活用した報告書を現場で作成可能。直感的な操作で効率的に編集できます。</a:t>
            </a:r>
            <a:endParaRPr lang="en-US" sz="1200" dirty="0"/>
          </a:p>
        </p:txBody>
      </p:sp>
      <p:pic>
        <p:nvPicPr>
          <p:cNvPr id="21" name="Image 4" descr="preencoded.png">    </p:cNvPr>
          <p:cNvPicPr>
            <a:picLocks noChangeAspect="1"/>
          </p:cNvPicPr>
          <p:nvPr/>
        </p:nvPicPr>
        <p:blipFill>
          <a:blip r:embed="rId5"/>
          <a:srcRect l="0" r="0" t="0" b="0"/>
          <a:stretch/>
        </p:blipFill>
        <p:spPr>
          <a:xfrm>
            <a:off x="6215177" y="4429354"/>
            <a:ext cx="237744" cy="190195"/>
          </a:xfrm>
          <a:prstGeom prst="rect">
            <a:avLst/>
          </a:prstGeom>
        </p:spPr>
      </p:pic>
      <p:sp>
        <p:nvSpPr>
          <p:cNvPr id="22" name="Text 15"/>
          <p:cNvSpPr txBox="1"/>
          <p:nvPr/>
        </p:nvSpPr>
        <p:spPr>
          <a:xfrm>
            <a:off x="6715354" y="4591202"/>
            <a:ext cx="4991710"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撮影データをリアルタイムでクラウドへ自動送信。通信状況に応じて送信を最適化し、本社とのシームレスな情報共有を実現します。</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114946"/>
          </a:xfrm>
          <a:prstGeom prst="rect">
            <a:avLst/>
          </a:prstGeom>
          <a:solidFill>
            <a:srgbClr val="FFFFFF"/>
          </a:solidFill>
          <a:ln/>
        </p:spPr>
      </p:sp>
      <p:sp>
        <p:nvSpPr>
          <p:cNvPr id="3" name="Shape 1"/>
          <p:cNvSpPr/>
          <p:nvPr/>
        </p:nvSpPr>
        <p:spPr>
          <a:xfrm>
            <a:off x="0" y="0"/>
            <a:ext cx="12191695" cy="7114946"/>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43154"/>
            <a:ext cx="3277210"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Phase1 カメラ画面</a:t>
            </a:r>
            <a:endParaRPr lang="en-US" sz="2700" dirty="0"/>
          </a:p>
        </p:txBody>
      </p:sp>
      <p:sp>
        <p:nvSpPr>
          <p:cNvPr id="6" name="Shape 4"/>
          <p:cNvSpPr/>
          <p:nvPr/>
        </p:nvSpPr>
        <p:spPr>
          <a:xfrm>
            <a:off x="3919118" y="571500"/>
            <a:ext cx="1095451" cy="437998"/>
          </a:xfrm>
          <a:prstGeom prst="roundRect">
            <a:avLst>
              <a:gd name="adj" fmla="val 90769"/>
            </a:avLst>
          </a:prstGeom>
          <a:solidFill>
            <a:srgbClr val="005BAC"/>
          </a:solidFill>
          <a:ln/>
        </p:spPr>
      </p:sp>
      <p:sp>
        <p:nvSpPr>
          <p:cNvPr id="7" name="Text 5"/>
          <p:cNvSpPr txBox="1"/>
          <p:nvPr/>
        </p:nvSpPr>
        <p:spPr>
          <a:xfrm>
            <a:off x="4110228" y="647395"/>
            <a:ext cx="857707"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Phase 1</a:t>
            </a:r>
            <a:endParaRPr lang="en-US" sz="1500" dirty="0"/>
          </a:p>
        </p:txBody>
      </p:sp>
      <p:pic>
        <p:nvPicPr>
          <p:cNvPr id="8" name="Image 0" descr="https://page.gensparksite.com/v1/base64_upload/c45bd05b5b46ae46dcdf39e9a108e0f3">    </p:cNvPr>
          <p:cNvPicPr>
            <a:picLocks noChangeAspect="1"/>
          </p:cNvPicPr>
          <p:nvPr/>
        </p:nvPicPr>
        <p:blipFill>
          <a:blip r:embed="rId1"/>
          <a:srcRect l="34855" r="34855" t="0" b="0"/>
          <a:stretch/>
        </p:blipFill>
        <p:spPr>
          <a:xfrm>
            <a:off x="2514600" y="1295705"/>
            <a:ext cx="2667305" cy="4953305"/>
          </a:xfrm>
          <a:prstGeom prst="rect">
            <a:avLst/>
          </a:prstGeom>
        </p:spPr>
      </p:pic>
      <p:pic>
        <p:nvPicPr>
          <p:cNvPr id="9" name="Image 1" descr="preencoded.png">    </p:cNvPr>
          <p:cNvPicPr>
            <a:picLocks noChangeAspect="1"/>
          </p:cNvPicPr>
          <p:nvPr/>
        </p:nvPicPr>
        <p:blipFill>
          <a:blip r:embed="rId2"/>
          <a:srcRect l="-133" r="-133" t="0" b="0"/>
          <a:stretch/>
        </p:blipFill>
        <p:spPr>
          <a:xfrm>
            <a:off x="7315200" y="1777594"/>
            <a:ext cx="171907" cy="228600"/>
          </a:xfrm>
          <a:prstGeom prst="rect">
            <a:avLst/>
          </a:prstGeom>
        </p:spPr>
      </p:pic>
      <p:sp>
        <p:nvSpPr>
          <p:cNvPr id="10" name="Text 6"/>
          <p:cNvSpPr txBox="1"/>
          <p:nvPr/>
        </p:nvSpPr>
        <p:spPr>
          <a:xfrm>
            <a:off x="7487107" y="1719986"/>
            <a:ext cx="2915107" cy="342900"/>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GPS・方位情報の自動記録</a:t>
            </a:r>
            <a:endParaRPr lang="en-US" sz="1800" dirty="0"/>
          </a:p>
        </p:txBody>
      </p:sp>
      <p:sp>
        <p:nvSpPr>
          <p:cNvPr id="11" name="Text 7"/>
          <p:cNvSpPr txBox="1"/>
          <p:nvPr/>
        </p:nvSpPr>
        <p:spPr>
          <a:xfrm>
            <a:off x="7315200" y="2263140"/>
            <a:ext cx="4243730" cy="10479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カメラ画面では撮影と同時に位置情報・方角を自動取得し、写真に紐づけて保存します。現場での作業をシンプル化し、後工程での位置特定作業を大幅に効率化します。</a:t>
            </a:r>
            <a:endParaRPr lang="en-US" sz="1300" dirty="0"/>
          </a:p>
        </p:txBody>
      </p:sp>
      <p:sp>
        <p:nvSpPr>
          <p:cNvPr id="12" name="Shape 8"/>
          <p:cNvSpPr/>
          <p:nvPr/>
        </p:nvSpPr>
        <p:spPr>
          <a:xfrm>
            <a:off x="7315200" y="3606394"/>
            <a:ext cx="381305" cy="381305"/>
          </a:xfrm>
          <a:prstGeom prst="ellipse">
            <a:avLst/>
          </a:prstGeom>
          <a:solidFill>
            <a:srgbClr val="005BAC"/>
          </a:solidFill>
          <a:ln/>
        </p:spPr>
      </p:sp>
      <p:pic>
        <p:nvPicPr>
          <p:cNvPr id="13" name="Image 2" descr="preencoded.png">    </p:cNvPr>
          <p:cNvPicPr>
            <a:picLocks noChangeAspect="1"/>
          </p:cNvPicPr>
          <p:nvPr/>
        </p:nvPicPr>
        <p:blipFill>
          <a:blip r:embed="rId3"/>
          <a:srcRect l="0" r="0" t="-43" b="-43"/>
          <a:stretch/>
        </p:blipFill>
        <p:spPr>
          <a:xfrm>
            <a:off x="7438644" y="3720694"/>
            <a:ext cx="133502" cy="152705"/>
          </a:xfrm>
          <a:prstGeom prst="rect">
            <a:avLst/>
          </a:prstGeom>
        </p:spPr>
      </p:pic>
      <p:sp>
        <p:nvSpPr>
          <p:cNvPr id="14" name="Shape 9"/>
          <p:cNvSpPr/>
          <p:nvPr/>
        </p:nvSpPr>
        <p:spPr>
          <a:xfrm>
            <a:off x="7315200" y="4345229"/>
            <a:ext cx="381305" cy="381305"/>
          </a:xfrm>
          <a:prstGeom prst="ellipse">
            <a:avLst/>
          </a:prstGeom>
          <a:solidFill>
            <a:srgbClr val="005BAC"/>
          </a:solidFill>
          <a:ln/>
        </p:spPr>
      </p:sp>
      <p:sp>
        <p:nvSpPr>
          <p:cNvPr id="15" name="Shape 10"/>
          <p:cNvSpPr/>
          <p:nvPr/>
        </p:nvSpPr>
        <p:spPr>
          <a:xfrm>
            <a:off x="7315200" y="5084064"/>
            <a:ext cx="381305" cy="381305"/>
          </a:xfrm>
          <a:prstGeom prst="ellipse">
            <a:avLst/>
          </a:prstGeom>
          <a:solidFill>
            <a:srgbClr val="005BAC"/>
          </a:solidFill>
          <a:ln/>
        </p:spPr>
      </p:sp>
      <p:sp>
        <p:nvSpPr>
          <p:cNvPr id="16" name="Text 11"/>
          <p:cNvSpPr txBox="1"/>
          <p:nvPr/>
        </p:nvSpPr>
        <p:spPr>
          <a:xfrm>
            <a:off x="7839151" y="3615538"/>
            <a:ext cx="814730"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撮影時の</a:t>
            </a:r>
            <a:endParaRPr lang="en-US" sz="1300" dirty="0"/>
          </a:p>
        </p:txBody>
      </p:sp>
      <p:sp>
        <p:nvSpPr>
          <p:cNvPr id="17" name="Text 12"/>
          <p:cNvSpPr txBox="1"/>
          <p:nvPr/>
        </p:nvSpPr>
        <p:spPr>
          <a:xfrm>
            <a:off x="7839151" y="3615538"/>
            <a:ext cx="3548786" cy="523951"/>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を自動取得し、画面上部に表示・記録</a:t>
            </a:r>
            <a:endParaRPr lang="en-US" sz="1300" dirty="0"/>
          </a:p>
        </p:txBody>
      </p:sp>
      <p:sp>
        <p:nvSpPr>
          <p:cNvPr id="18" name="Text 13"/>
          <p:cNvSpPr txBox="1"/>
          <p:nvPr/>
        </p:nvSpPr>
        <p:spPr>
          <a:xfrm>
            <a:off x="9038844" y="4629607"/>
            <a:ext cx="1157630"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も同時に記録</a:t>
            </a:r>
            <a:endParaRPr lang="en-US" sz="1300" dirty="0"/>
          </a:p>
        </p:txBody>
      </p:sp>
      <p:sp>
        <p:nvSpPr>
          <p:cNvPr id="19" name="Text 14"/>
          <p:cNvSpPr txBox="1"/>
          <p:nvPr/>
        </p:nvSpPr>
        <p:spPr>
          <a:xfrm>
            <a:off x="8524951" y="3615538"/>
            <a:ext cx="2005279" cy="247802"/>
          </a:xfrm>
          <a:prstGeom prst="rect">
            <a:avLst/>
          </a:prstGeom>
          <a:noFill/>
          <a:ln/>
        </p:spPr>
        <p:txBody>
          <a:bodyPr wrap="square" lIns="0" tIns="0" rIns="0" bIns="0" rtlCol="0" anchor="ctr"/>
          <a:lstStyle/>
          <a:p>
            <a:pPr algn="l" indent="0" marL="0">
              <a:buNone/>
            </a:pPr>
            <a:r>
              <a:rPr lang="en-US" sz="1300" dirty="0">
                <a:solidFill>
                  <a:srgbClr val="005BAC"/>
                </a:solidFill>
                <a:latin typeface="Noto Sans JP" pitchFamily="34" charset="0"/>
                <a:ea typeface="Noto Sans JP" pitchFamily="34" charset="-122"/>
                <a:cs typeface="Noto Sans JP" pitchFamily="34" charset="-120"/>
              </a:rPr>
              <a:t>GPS座標（緯度・経度）</a:t>
            </a:r>
            <a:endParaRPr lang="en-US" sz="1300" dirty="0"/>
          </a:p>
        </p:txBody>
      </p:sp>
      <p:pic>
        <p:nvPicPr>
          <p:cNvPr id="20" name="Image 3" descr="preencoded.png">    </p:cNvPr>
          <p:cNvPicPr>
            <a:picLocks noChangeAspect="1"/>
          </p:cNvPicPr>
          <p:nvPr/>
        </p:nvPicPr>
        <p:blipFill>
          <a:blip r:embed="rId4"/>
          <a:srcRect l="0" r="0" t="0" b="0"/>
          <a:stretch/>
        </p:blipFill>
        <p:spPr>
          <a:xfrm>
            <a:off x="7429500" y="4459529"/>
            <a:ext cx="152705" cy="152705"/>
          </a:xfrm>
          <a:prstGeom prst="rect">
            <a:avLst/>
          </a:prstGeom>
        </p:spPr>
      </p:pic>
      <p:sp>
        <p:nvSpPr>
          <p:cNvPr id="21" name="Text 15"/>
          <p:cNvSpPr txBox="1"/>
          <p:nvPr/>
        </p:nvSpPr>
        <p:spPr>
          <a:xfrm>
            <a:off x="7839151" y="4355287"/>
            <a:ext cx="3044038"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スマートフォンの電子コンパスにより</a:t>
            </a:r>
            <a:endParaRPr lang="en-US" sz="1300" dirty="0"/>
          </a:p>
        </p:txBody>
      </p:sp>
      <p:sp>
        <p:nvSpPr>
          <p:cNvPr id="22" name="Text 16"/>
          <p:cNvSpPr txBox="1"/>
          <p:nvPr/>
        </p:nvSpPr>
        <p:spPr>
          <a:xfrm>
            <a:off x="7839151" y="5094122"/>
            <a:ext cx="2529230"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写真データと位置・方位情報を</a:t>
            </a:r>
            <a:endParaRPr lang="en-US" sz="1300" dirty="0"/>
          </a:p>
        </p:txBody>
      </p:sp>
      <p:sp>
        <p:nvSpPr>
          <p:cNvPr id="23" name="Text 17"/>
          <p:cNvSpPr txBox="1"/>
          <p:nvPr/>
        </p:nvSpPr>
        <p:spPr>
          <a:xfrm>
            <a:off x="9208922" y="5368442"/>
            <a:ext cx="1843430"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し、リアルタイム連携</a:t>
            </a:r>
            <a:endParaRPr lang="en-US" sz="1300" dirty="0"/>
          </a:p>
        </p:txBody>
      </p:sp>
      <p:sp>
        <p:nvSpPr>
          <p:cNvPr id="24" name="Text 18"/>
          <p:cNvSpPr txBox="1"/>
          <p:nvPr/>
        </p:nvSpPr>
        <p:spPr>
          <a:xfrm>
            <a:off x="7839151" y="4355287"/>
            <a:ext cx="3557930" cy="523951"/>
          </a:xfrm>
          <a:prstGeom prst="rect">
            <a:avLst/>
          </a:prstGeom>
          <a:noFill/>
          <a:ln/>
        </p:spPr>
        <p:txBody>
          <a:bodyPr wrap="square" lIns="0" tIns="0" rIns="0" bIns="0" rtlCol="0" anchor="ctr"/>
          <a:lstStyle/>
          <a:p>
            <a:pPr algn="l" indent="0" marL="0">
              <a:buNone/>
            </a:pPr>
            <a:r>
              <a:rPr lang="en-US" sz="1300" dirty="0">
                <a:solidFill>
                  <a:srgbClr val="005BAC"/>
                </a:solidFill>
                <a:latin typeface="Noto Sans JP" pitchFamily="34" charset="0"/>
                <a:ea typeface="Noto Sans JP" pitchFamily="34" charset="-122"/>
                <a:cs typeface="Noto Sans JP" pitchFamily="34" charset="-120"/>
              </a:rPr>
              <a:t>撮影方角（方位角度）</a:t>
            </a:r>
            <a:endParaRPr lang="en-US" sz="1300" dirty="0"/>
          </a:p>
        </p:txBody>
      </p:sp>
      <p:pic>
        <p:nvPicPr>
          <p:cNvPr id="25" name="Image 4" descr="preencoded.png">    </p:cNvPr>
          <p:cNvPicPr>
            <a:picLocks noChangeAspect="1"/>
          </p:cNvPicPr>
          <p:nvPr/>
        </p:nvPicPr>
        <p:blipFill>
          <a:blip r:embed="rId5"/>
          <a:srcRect l="0" r="0" t="-180" b="-180"/>
          <a:stretch/>
        </p:blipFill>
        <p:spPr>
          <a:xfrm>
            <a:off x="7410298" y="5198364"/>
            <a:ext cx="190195" cy="152705"/>
          </a:xfrm>
          <a:prstGeom prst="rect">
            <a:avLst/>
          </a:prstGeom>
        </p:spPr>
      </p:pic>
      <p:sp>
        <p:nvSpPr>
          <p:cNvPr id="26" name="Text 19"/>
          <p:cNvSpPr txBox="1"/>
          <p:nvPr/>
        </p:nvSpPr>
        <p:spPr>
          <a:xfrm>
            <a:off x="7839151" y="5094122"/>
            <a:ext cx="3557930" cy="523951"/>
          </a:xfrm>
          <a:prstGeom prst="rect">
            <a:avLst/>
          </a:prstGeom>
          <a:noFill/>
          <a:ln/>
        </p:spPr>
        <p:txBody>
          <a:bodyPr wrap="square" lIns="0" tIns="0" rIns="0" bIns="0" rtlCol="0" anchor="ctr"/>
          <a:lstStyle/>
          <a:p>
            <a:pPr algn="l" indent="0" marL="0">
              <a:buNone/>
            </a:pPr>
            <a:r>
              <a:rPr lang="en-US" sz="1300" dirty="0">
                <a:solidFill>
                  <a:srgbClr val="005BAC"/>
                </a:solidFill>
                <a:latin typeface="Noto Sans JP" pitchFamily="34" charset="0"/>
                <a:ea typeface="Noto Sans JP" pitchFamily="34" charset="-122"/>
                <a:cs typeface="Noto Sans JP" pitchFamily="34" charset="-120"/>
              </a:rPr>
              <a:t>自動でクラウドサーバーに送信</a:t>
            </a:r>
            <a:endParaRPr lang="en-US" sz="1300" dirty="0"/>
          </a:p>
        </p:txBody>
      </p:sp>
      <p:sp>
        <p:nvSpPr>
          <p:cNvPr id="27" name="Text 20"/>
          <p:cNvSpPr txBox="1"/>
          <p:nvPr/>
        </p:nvSpPr>
        <p:spPr>
          <a:xfrm>
            <a:off x="761695" y="6344107"/>
            <a:ext cx="5168189" cy="191110"/>
          </a:xfrm>
          <a:prstGeom prst="rect">
            <a:avLst/>
          </a:prstGeom>
          <a:noFill/>
          <a:ln/>
        </p:spPr>
        <p:txBody>
          <a:bodyPr wrap="square" lIns="0" tIns="0" rIns="0" bIns="0" rtlCol="0" anchor="ctr"/>
          <a:lstStyle/>
          <a:p>
            <a:pPr algn="l" indent="0" marL="0">
              <a:buNone/>
            </a:pPr>
            <a:r>
              <a:rPr lang="en-US" sz="1000" i="1" dirty="0">
                <a:solidFill>
                  <a:srgbClr val="666666"/>
                </a:solidFill>
                <a:latin typeface="Noto Sans JP" pitchFamily="34" charset="0"/>
                <a:ea typeface="Noto Sans JP" pitchFamily="34" charset="-122"/>
                <a:cs typeface="Noto Sans JP" pitchFamily="34" charset="-120"/>
              </a:rPr>
              <a:t>※ GPS信号が弱い場所でも、後からの調整が可能なバッファ機能を搭載しています。</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43154"/>
            <a:ext cx="3963010"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Phase1 撮影リスト画面</a:t>
            </a:r>
            <a:endParaRPr lang="en-US" sz="2700" dirty="0"/>
          </a:p>
        </p:txBody>
      </p:sp>
      <p:sp>
        <p:nvSpPr>
          <p:cNvPr id="6" name="Shape 4"/>
          <p:cNvSpPr/>
          <p:nvPr/>
        </p:nvSpPr>
        <p:spPr>
          <a:xfrm>
            <a:off x="4604918" y="571500"/>
            <a:ext cx="1095451" cy="437998"/>
          </a:xfrm>
          <a:prstGeom prst="roundRect">
            <a:avLst>
              <a:gd name="adj" fmla="val 90769"/>
            </a:avLst>
          </a:prstGeom>
          <a:solidFill>
            <a:srgbClr val="005BAC"/>
          </a:solidFill>
          <a:ln/>
        </p:spPr>
      </p:sp>
      <p:sp>
        <p:nvSpPr>
          <p:cNvPr id="7" name="Text 5"/>
          <p:cNvSpPr txBox="1"/>
          <p:nvPr/>
        </p:nvSpPr>
        <p:spPr>
          <a:xfrm>
            <a:off x="4796028" y="647395"/>
            <a:ext cx="857707"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Phase 1</a:t>
            </a:r>
            <a:endParaRPr lang="en-US" sz="1500" dirty="0"/>
          </a:p>
        </p:txBody>
      </p:sp>
      <p:pic>
        <p:nvPicPr>
          <p:cNvPr id="8" name="Image 0" descr="https://page.gensparksite.com/v1/base64_upload/5ebb47e79b64be028315e8d12cd0ef16">    </p:cNvPr>
          <p:cNvPicPr>
            <a:picLocks noChangeAspect="1"/>
          </p:cNvPicPr>
          <p:nvPr/>
        </p:nvPicPr>
        <p:blipFill>
          <a:blip r:embed="rId1"/>
          <a:srcRect l="11677" r="11677" t="0" b="0"/>
          <a:stretch/>
        </p:blipFill>
        <p:spPr>
          <a:xfrm>
            <a:off x="761695" y="1390802"/>
            <a:ext cx="6229807" cy="4572000"/>
          </a:xfrm>
          <a:prstGeom prst="rect">
            <a:avLst/>
          </a:prstGeom>
        </p:spPr>
      </p:pic>
      <p:sp>
        <p:nvSpPr>
          <p:cNvPr id="9" name="Shape 6"/>
          <p:cNvSpPr/>
          <p:nvPr/>
        </p:nvSpPr>
        <p:spPr>
          <a:xfrm>
            <a:off x="7276795" y="1390802"/>
            <a:ext cx="400507" cy="400507"/>
          </a:xfrm>
          <a:prstGeom prst="ellipse">
            <a:avLst/>
          </a:prstGeom>
          <a:solidFill>
            <a:srgbClr val="005BAC"/>
          </a:solidFill>
          <a:ln/>
        </p:spPr>
      </p:sp>
      <p:pic>
        <p:nvPicPr>
          <p:cNvPr id="10" name="Image 1" descr="preencoded.png">    </p:cNvPr>
          <p:cNvPicPr>
            <a:picLocks noChangeAspect="1"/>
          </p:cNvPicPr>
          <p:nvPr/>
        </p:nvPicPr>
        <p:blipFill>
          <a:blip r:embed="rId2"/>
          <a:srcRect l="-989999" r="-989999" t="0" b="0"/>
          <a:stretch/>
        </p:blipFill>
        <p:spPr>
          <a:xfrm>
            <a:off x="7381951" y="1585570"/>
            <a:ext cx="190195" cy="9144"/>
          </a:xfrm>
          <a:prstGeom prst="rect">
            <a:avLst/>
          </a:prstGeom>
        </p:spPr>
      </p:pic>
      <p:sp>
        <p:nvSpPr>
          <p:cNvPr id="11" name="Shape 7"/>
          <p:cNvSpPr/>
          <p:nvPr/>
        </p:nvSpPr>
        <p:spPr>
          <a:xfrm>
            <a:off x="7276795" y="2400300"/>
            <a:ext cx="400507" cy="400507"/>
          </a:xfrm>
          <a:prstGeom prst="ellipse">
            <a:avLst/>
          </a:prstGeom>
          <a:solidFill>
            <a:srgbClr val="005BAC"/>
          </a:solidFill>
          <a:ln/>
        </p:spPr>
      </p:sp>
      <p:sp>
        <p:nvSpPr>
          <p:cNvPr id="12" name="Text 8"/>
          <p:cNvSpPr txBox="1"/>
          <p:nvPr/>
        </p:nvSpPr>
        <p:spPr>
          <a:xfrm>
            <a:off x="7791602" y="1390802"/>
            <a:ext cx="1495958"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撮影写真の一覧管理</a:t>
            </a:r>
            <a:endParaRPr lang="en-US" sz="1200" dirty="0"/>
          </a:p>
        </p:txBody>
      </p:sp>
      <p:sp>
        <p:nvSpPr>
          <p:cNvPr id="13" name="Text 9"/>
          <p:cNvSpPr txBox="1"/>
          <p:nvPr/>
        </p:nvSpPr>
        <p:spPr>
          <a:xfrm>
            <a:off x="7791602" y="1657807"/>
            <a:ext cx="3700577" cy="590702"/>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撮影日時や場所情報とともに写真を一覧表示。各写真には緯度・経度情報が自動記録され、位置の特定が容易になります。</a:t>
            </a:r>
            <a:endParaRPr lang="en-US" sz="1000" dirty="0"/>
          </a:p>
        </p:txBody>
      </p:sp>
      <p:pic>
        <p:nvPicPr>
          <p:cNvPr id="14" name="Image 2" descr="preencoded.png">    </p:cNvPr>
          <p:cNvPicPr>
            <a:picLocks noChangeAspect="1"/>
          </p:cNvPicPr>
          <p:nvPr/>
        </p:nvPicPr>
        <p:blipFill>
          <a:blip r:embed="rId3"/>
          <a:srcRect l="-1016667" r="-1016667" t="0" b="0"/>
          <a:stretch/>
        </p:blipFill>
        <p:spPr>
          <a:xfrm>
            <a:off x="7367321" y="2595982"/>
            <a:ext cx="219456" cy="9144"/>
          </a:xfrm>
          <a:prstGeom prst="rect">
            <a:avLst/>
          </a:prstGeom>
        </p:spPr>
      </p:pic>
      <p:sp>
        <p:nvSpPr>
          <p:cNvPr id="15" name="Shape 10"/>
          <p:cNvSpPr/>
          <p:nvPr/>
        </p:nvSpPr>
        <p:spPr>
          <a:xfrm>
            <a:off x="7276795" y="3409798"/>
            <a:ext cx="400507" cy="400507"/>
          </a:xfrm>
          <a:prstGeom prst="ellipse">
            <a:avLst/>
          </a:prstGeom>
          <a:solidFill>
            <a:srgbClr val="005BAC"/>
          </a:solidFill>
          <a:ln/>
        </p:spPr>
      </p:sp>
      <p:sp>
        <p:nvSpPr>
          <p:cNvPr id="16" name="Shape 11"/>
          <p:cNvSpPr/>
          <p:nvPr/>
        </p:nvSpPr>
        <p:spPr>
          <a:xfrm>
            <a:off x="7276795" y="4219956"/>
            <a:ext cx="400507" cy="400507"/>
          </a:xfrm>
          <a:prstGeom prst="ellipse">
            <a:avLst/>
          </a:prstGeom>
          <a:solidFill>
            <a:srgbClr val="005BAC"/>
          </a:solidFill>
          <a:ln/>
        </p:spPr>
      </p:sp>
      <p:sp>
        <p:nvSpPr>
          <p:cNvPr id="17" name="Text 12"/>
          <p:cNvSpPr txBox="1"/>
          <p:nvPr/>
        </p:nvSpPr>
        <p:spPr>
          <a:xfrm>
            <a:off x="7791602" y="2400300"/>
            <a:ext cx="1343254"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進捗状況の可視化</a:t>
            </a:r>
            <a:endParaRPr lang="en-US" sz="1200" dirty="0"/>
          </a:p>
        </p:txBody>
      </p:sp>
      <p:sp>
        <p:nvSpPr>
          <p:cNvPr id="18" name="Text 13"/>
          <p:cNvSpPr txBox="1"/>
          <p:nvPr/>
        </p:nvSpPr>
        <p:spPr>
          <a:xfrm>
            <a:off x="7791602" y="3409798"/>
            <a:ext cx="1791310"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GPS位置情報の自動記録</a:t>
            </a:r>
            <a:endParaRPr lang="en-US" sz="1200" dirty="0"/>
          </a:p>
        </p:txBody>
      </p:sp>
      <p:sp>
        <p:nvSpPr>
          <p:cNvPr id="19" name="Text 14"/>
          <p:cNvSpPr txBox="1"/>
          <p:nvPr/>
        </p:nvSpPr>
        <p:spPr>
          <a:xfrm>
            <a:off x="7791602" y="4219956"/>
            <a:ext cx="1343254"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報告書の簡易作成</a:t>
            </a:r>
            <a:endParaRPr lang="en-US" sz="1200" dirty="0"/>
          </a:p>
        </p:txBody>
      </p:sp>
      <p:sp>
        <p:nvSpPr>
          <p:cNvPr id="20" name="Text 15"/>
          <p:cNvSpPr txBox="1"/>
          <p:nvPr/>
        </p:nvSpPr>
        <p:spPr>
          <a:xfrm>
            <a:off x="7791602" y="2667305"/>
            <a:ext cx="3167482"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撮影枚数や達成率を数値とグラフで視覚的に表示。</a:t>
            </a:r>
            <a:endParaRPr lang="en-US" sz="1000" dirty="0"/>
          </a:p>
        </p:txBody>
      </p:sp>
      <p:sp>
        <p:nvSpPr>
          <p:cNvPr id="21" name="Text 16"/>
          <p:cNvSpPr txBox="1"/>
          <p:nvPr/>
        </p:nvSpPr>
        <p:spPr>
          <a:xfrm>
            <a:off x="7791602" y="2866644"/>
            <a:ext cx="3719779" cy="391363"/>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など、現場での作業進捗が一目で分かります。</a:t>
            </a:r>
            <a:endParaRPr lang="en-US" sz="1000" dirty="0"/>
          </a:p>
        </p:txBody>
      </p:sp>
      <p:sp>
        <p:nvSpPr>
          <p:cNvPr id="22" name="Text 17"/>
          <p:cNvSpPr txBox="1"/>
          <p:nvPr/>
        </p:nvSpPr>
        <p:spPr>
          <a:xfrm>
            <a:off x="7791602" y="3676802"/>
            <a:ext cx="633679"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各写真に</a:t>
            </a:r>
            <a:endParaRPr lang="en-US" sz="1000" dirty="0"/>
          </a:p>
        </p:txBody>
      </p:sp>
      <p:sp>
        <p:nvSpPr>
          <p:cNvPr id="23" name="Text 18"/>
          <p:cNvSpPr txBox="1"/>
          <p:nvPr/>
        </p:nvSpPr>
        <p:spPr>
          <a:xfrm>
            <a:off x="7791602" y="4486046"/>
            <a:ext cx="3700577" cy="590702"/>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「プレビュー」と「PDF生成」ボタンを使って、撮影した写真から素早く報告書の作成が可能。手作業による書類作成の手間を大幅に削減します。</a:t>
            </a:r>
            <a:endParaRPr lang="en-US" sz="1000" dirty="0"/>
          </a:p>
        </p:txBody>
      </p:sp>
      <p:sp>
        <p:nvSpPr>
          <p:cNvPr id="24" name="Text 19"/>
          <p:cNvSpPr txBox="1"/>
          <p:nvPr/>
        </p:nvSpPr>
        <p:spPr>
          <a:xfrm>
            <a:off x="7791602" y="2667305"/>
            <a:ext cx="3719779" cy="391363"/>
          </a:xfrm>
          <a:prstGeom prst="rect">
            <a:avLst/>
          </a:prstGeom>
          <a:noFill/>
          <a:ln/>
        </p:spPr>
        <p:txBody>
          <a:bodyPr wrap="square" lIns="0" tIns="0" rIns="0" bIns="0" rtlCol="0" anchor="ctr"/>
          <a:lstStyle/>
          <a:p>
            <a:pPr algn="l" indent="0" marL="0">
              <a:buNone/>
            </a:pPr>
            <a:r>
              <a:rPr lang="en-US" sz="1000" dirty="0">
                <a:solidFill>
                  <a:srgbClr val="005BAC"/>
                </a:solidFill>
                <a:latin typeface="Noto Sans JP" pitchFamily="34" charset="0"/>
                <a:ea typeface="Noto Sans JP" pitchFamily="34" charset="-122"/>
                <a:cs typeface="Noto Sans JP" pitchFamily="34" charset="-120"/>
              </a:rPr>
              <a:t>「6枚中6枚撮影完了（100%）」</a:t>
            </a:r>
            <a:endParaRPr lang="en-US" sz="1000" dirty="0"/>
          </a:p>
        </p:txBody>
      </p:sp>
      <p:pic>
        <p:nvPicPr>
          <p:cNvPr id="25" name="Image 3" descr="preencoded.png">    </p:cNvPr>
          <p:cNvPicPr>
            <a:picLocks noChangeAspect="1"/>
          </p:cNvPicPr>
          <p:nvPr/>
        </p:nvPicPr>
        <p:blipFill>
          <a:blip r:embed="rId4"/>
          <a:srcRect l="-989999" r="-989999" t="0" b="0"/>
          <a:stretch/>
        </p:blipFill>
        <p:spPr>
          <a:xfrm>
            <a:off x="7405726" y="3605479"/>
            <a:ext cx="142646" cy="9144"/>
          </a:xfrm>
          <a:prstGeom prst="rect">
            <a:avLst/>
          </a:prstGeom>
        </p:spPr>
      </p:pic>
      <p:sp>
        <p:nvSpPr>
          <p:cNvPr id="26" name="Text 20"/>
          <p:cNvSpPr txBox="1"/>
          <p:nvPr/>
        </p:nvSpPr>
        <p:spPr>
          <a:xfrm>
            <a:off x="7791602" y="3676802"/>
            <a:ext cx="3700577" cy="391363"/>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が自動的に記録され、撮影場所の特定作業が不要になります。</a:t>
            </a:r>
            <a:endParaRPr lang="en-US" sz="1000" dirty="0"/>
          </a:p>
        </p:txBody>
      </p:sp>
      <p:sp>
        <p:nvSpPr>
          <p:cNvPr id="27" name="Text 21"/>
          <p:cNvSpPr txBox="1"/>
          <p:nvPr/>
        </p:nvSpPr>
        <p:spPr>
          <a:xfrm>
            <a:off x="8324698" y="3676802"/>
            <a:ext cx="1567282" cy="191110"/>
          </a:xfrm>
          <a:prstGeom prst="rect">
            <a:avLst/>
          </a:prstGeom>
          <a:noFill/>
          <a:ln/>
        </p:spPr>
        <p:txBody>
          <a:bodyPr wrap="square" lIns="0" tIns="0" rIns="0" bIns="0" rtlCol="0" anchor="ctr"/>
          <a:lstStyle/>
          <a:p>
            <a:pPr algn="l" indent="0" marL="0">
              <a:buNone/>
            </a:pPr>
            <a:r>
              <a:rPr lang="en-US" sz="1000" dirty="0">
                <a:solidFill>
                  <a:srgbClr val="005BAC"/>
                </a:solidFill>
                <a:latin typeface="Noto Sans JP" pitchFamily="34" charset="0"/>
                <a:ea typeface="Noto Sans JP" pitchFamily="34" charset="-122"/>
                <a:cs typeface="Noto Sans JP" pitchFamily="34" charset="-120"/>
              </a:rPr>
              <a:t>GPS座標（緯度・経度）</a:t>
            </a:r>
            <a:endParaRPr lang="en-US" sz="1000" dirty="0"/>
          </a:p>
        </p:txBody>
      </p:sp>
      <p:pic>
        <p:nvPicPr>
          <p:cNvPr id="28" name="Image 4" descr="preencoded.png">    </p:cNvPr>
          <p:cNvPicPr>
            <a:picLocks noChangeAspect="1"/>
          </p:cNvPicPr>
          <p:nvPr/>
        </p:nvPicPr>
        <p:blipFill>
          <a:blip r:embed="rId5"/>
          <a:srcRect l="-989999" r="-989999" t="0" b="0"/>
          <a:stretch/>
        </p:blipFill>
        <p:spPr>
          <a:xfrm>
            <a:off x="7381951" y="4414723"/>
            <a:ext cx="190195" cy="91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7248449"/>
          </a:xfrm>
          <a:prstGeom prst="rect">
            <a:avLst/>
          </a:prstGeom>
          <a:solidFill>
            <a:srgbClr val="FFFFFF"/>
          </a:solidFill>
          <a:ln/>
        </p:spPr>
      </p:sp>
      <p:sp>
        <p:nvSpPr>
          <p:cNvPr id="3" name="Shape 1"/>
          <p:cNvSpPr/>
          <p:nvPr/>
        </p:nvSpPr>
        <p:spPr>
          <a:xfrm>
            <a:off x="0" y="0"/>
            <a:ext cx="12191695" cy="7248449"/>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3963010"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Phase1 報告書編集画面</a:t>
            </a:r>
            <a:endParaRPr lang="en-US" sz="2700" dirty="0"/>
          </a:p>
        </p:txBody>
      </p:sp>
      <p:sp>
        <p:nvSpPr>
          <p:cNvPr id="6" name="Shape 4"/>
          <p:cNvSpPr/>
          <p:nvPr/>
        </p:nvSpPr>
        <p:spPr>
          <a:xfrm>
            <a:off x="4604918" y="685800"/>
            <a:ext cx="1086307" cy="437998"/>
          </a:xfrm>
          <a:prstGeom prst="roundRect">
            <a:avLst>
              <a:gd name="adj" fmla="val 90769"/>
            </a:avLst>
          </a:prstGeom>
          <a:solidFill>
            <a:srgbClr val="005BAC"/>
          </a:solidFill>
          <a:ln/>
        </p:spPr>
      </p:sp>
      <p:sp>
        <p:nvSpPr>
          <p:cNvPr id="7" name="Text 5"/>
          <p:cNvSpPr txBox="1"/>
          <p:nvPr/>
        </p:nvSpPr>
        <p:spPr>
          <a:xfrm>
            <a:off x="4796028" y="761695"/>
            <a:ext cx="848563" cy="277063"/>
          </a:xfrm>
          <a:prstGeom prst="rect">
            <a:avLst/>
          </a:prstGeom>
          <a:noFill/>
          <a:ln/>
        </p:spPr>
        <p:txBody>
          <a:bodyPr wrap="square" lIns="0" tIns="0" rIns="0" bIns="0" rtlCol="0" anchor="ctr"/>
          <a:lstStyle/>
          <a:p>
            <a:pPr algn="l" indent="0" marL="0">
              <a:buNone/>
            </a:pPr>
            <a:r>
              <a:rPr lang="en-US" sz="1500" dirty="0">
                <a:solidFill>
                  <a:srgbClr val="FFFFFF"/>
                </a:solidFill>
                <a:latin typeface="Noto Sans JP" pitchFamily="34" charset="0"/>
                <a:ea typeface="Noto Sans JP" pitchFamily="34" charset="-122"/>
                <a:cs typeface="Noto Sans JP" pitchFamily="34" charset="-120"/>
              </a:rPr>
              <a:t>Phase 1</a:t>
            </a:r>
            <a:endParaRPr lang="en-US" sz="1500" dirty="0"/>
          </a:p>
        </p:txBody>
      </p:sp>
      <p:pic>
        <p:nvPicPr>
          <p:cNvPr id="8" name="Image 0" descr="https://page.gensparksite.com/v1/base64_upload/49d1cf55d30abe301dd811872597adce">    </p:cNvPr>
          <p:cNvPicPr>
            <a:picLocks noChangeAspect="1"/>
          </p:cNvPicPr>
          <p:nvPr/>
        </p:nvPicPr>
        <p:blipFill>
          <a:blip r:embed="rId1"/>
          <a:srcRect l="33124" r="33124" t="0" b="0"/>
          <a:stretch/>
        </p:blipFill>
        <p:spPr>
          <a:xfrm>
            <a:off x="2447849" y="1524305"/>
            <a:ext cx="2857500" cy="4762195"/>
          </a:xfrm>
          <a:prstGeom prst="rect">
            <a:avLst/>
          </a:prstGeom>
        </p:spPr>
      </p:pic>
      <p:sp>
        <p:nvSpPr>
          <p:cNvPr id="9" name="Shape 6"/>
          <p:cNvSpPr/>
          <p:nvPr/>
        </p:nvSpPr>
        <p:spPr>
          <a:xfrm>
            <a:off x="7276795" y="1619402"/>
            <a:ext cx="381305" cy="381305"/>
          </a:xfrm>
          <a:prstGeom prst="roundRect">
            <a:avLst>
              <a:gd name="adj" fmla="val 47962"/>
            </a:avLst>
          </a:prstGeom>
          <a:solidFill>
            <a:srgbClr val="005BAC"/>
          </a:solidFill>
          <a:ln/>
        </p:spPr>
      </p:sp>
      <p:pic>
        <p:nvPicPr>
          <p:cNvPr id="10" name="Image 1" descr="preencoded.png">    </p:cNvPr>
          <p:cNvPicPr>
            <a:picLocks noChangeAspect="1"/>
          </p:cNvPicPr>
          <p:nvPr/>
        </p:nvPicPr>
        <p:blipFill>
          <a:blip r:embed="rId2"/>
          <a:srcRect l="0" r="0" t="0" b="0"/>
          <a:stretch/>
        </p:blipFill>
        <p:spPr>
          <a:xfrm>
            <a:off x="7372807" y="1714500"/>
            <a:ext cx="190195" cy="190195"/>
          </a:xfrm>
          <a:prstGeom prst="rect">
            <a:avLst/>
          </a:prstGeom>
        </p:spPr>
      </p:pic>
      <p:sp>
        <p:nvSpPr>
          <p:cNvPr id="11" name="Shape 7"/>
          <p:cNvSpPr/>
          <p:nvPr/>
        </p:nvSpPr>
        <p:spPr>
          <a:xfrm>
            <a:off x="7276795" y="2762402"/>
            <a:ext cx="381305" cy="381305"/>
          </a:xfrm>
          <a:prstGeom prst="roundRect">
            <a:avLst>
              <a:gd name="adj" fmla="val 47962"/>
            </a:avLst>
          </a:prstGeom>
          <a:solidFill>
            <a:srgbClr val="005BAC"/>
          </a:solidFill>
          <a:ln/>
        </p:spPr>
      </p:sp>
      <p:sp>
        <p:nvSpPr>
          <p:cNvPr id="12" name="Shape 8"/>
          <p:cNvSpPr/>
          <p:nvPr/>
        </p:nvSpPr>
        <p:spPr>
          <a:xfrm>
            <a:off x="7276795" y="5048402"/>
            <a:ext cx="381305" cy="381305"/>
          </a:xfrm>
          <a:prstGeom prst="roundRect">
            <a:avLst>
              <a:gd name="adj" fmla="val 47962"/>
            </a:avLst>
          </a:prstGeom>
          <a:solidFill>
            <a:srgbClr val="005BAC"/>
          </a:solidFill>
          <a:ln/>
        </p:spPr>
      </p:sp>
      <p:sp>
        <p:nvSpPr>
          <p:cNvPr id="13" name="Text 9"/>
          <p:cNvSpPr txBox="1"/>
          <p:nvPr/>
        </p:nvSpPr>
        <p:spPr>
          <a:xfrm>
            <a:off x="7800746" y="1619402"/>
            <a:ext cx="16724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報告書タイトル入力</a:t>
            </a:r>
            <a:endParaRPr lang="en-US" sz="1300" dirty="0"/>
          </a:p>
        </p:txBody>
      </p:sp>
      <p:sp>
        <p:nvSpPr>
          <p:cNvPr id="14" name="Text 10"/>
          <p:cNvSpPr txBox="1"/>
          <p:nvPr/>
        </p:nvSpPr>
        <p:spPr>
          <a:xfrm>
            <a:off x="7800746" y="1923898"/>
            <a:ext cx="3610051"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シンプルな入力フォームで、報告書のタイトルを設定できます。直感的なUIで初めての方でも簡単に操作可能です。</a:t>
            </a:r>
            <a:endParaRPr lang="en-US" sz="1200" dirty="0"/>
          </a:p>
        </p:txBody>
      </p:sp>
      <p:pic>
        <p:nvPicPr>
          <p:cNvPr id="15" name="Image 2" descr="preencoded.png">    </p:cNvPr>
          <p:cNvPicPr>
            <a:picLocks noChangeAspect="1"/>
          </p:cNvPicPr>
          <p:nvPr/>
        </p:nvPicPr>
        <p:blipFill>
          <a:blip r:embed="rId3"/>
          <a:srcRect l="0" r="0" t="0" b="0"/>
          <a:stretch/>
        </p:blipFill>
        <p:spPr>
          <a:xfrm>
            <a:off x="7396582" y="2857500"/>
            <a:ext cx="142646" cy="190195"/>
          </a:xfrm>
          <a:prstGeom prst="rect">
            <a:avLst/>
          </a:prstGeom>
        </p:spPr>
      </p:pic>
      <p:sp>
        <p:nvSpPr>
          <p:cNvPr id="16" name="Shape 11"/>
          <p:cNvSpPr/>
          <p:nvPr/>
        </p:nvSpPr>
        <p:spPr>
          <a:xfrm>
            <a:off x="7276795" y="3905402"/>
            <a:ext cx="381305" cy="381305"/>
          </a:xfrm>
          <a:prstGeom prst="roundRect">
            <a:avLst>
              <a:gd name="adj" fmla="val 47962"/>
            </a:avLst>
          </a:prstGeom>
          <a:solidFill>
            <a:srgbClr val="005BAC"/>
          </a:solidFill>
          <a:ln/>
        </p:spPr>
      </p:sp>
      <p:sp>
        <p:nvSpPr>
          <p:cNvPr id="17" name="Text 12"/>
          <p:cNvSpPr txBox="1"/>
          <p:nvPr/>
        </p:nvSpPr>
        <p:spPr>
          <a:xfrm>
            <a:off x="7800746" y="2762402"/>
            <a:ext cx="16724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位置情報の自動連携</a:t>
            </a:r>
            <a:endParaRPr lang="en-US" sz="1300" dirty="0"/>
          </a:p>
        </p:txBody>
      </p:sp>
      <p:sp>
        <p:nvSpPr>
          <p:cNvPr id="18" name="Text 13"/>
          <p:cNvSpPr txBox="1"/>
          <p:nvPr/>
        </p:nvSpPr>
        <p:spPr>
          <a:xfrm>
            <a:off x="7800746" y="3905402"/>
            <a:ext cx="13295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報告日時の記録</a:t>
            </a:r>
            <a:endParaRPr lang="en-US" sz="1300" dirty="0"/>
          </a:p>
        </p:txBody>
      </p:sp>
      <p:sp>
        <p:nvSpPr>
          <p:cNvPr id="19" name="Text 14"/>
          <p:cNvSpPr txBox="1"/>
          <p:nvPr/>
        </p:nvSpPr>
        <p:spPr>
          <a:xfrm>
            <a:off x="7800746" y="5048402"/>
            <a:ext cx="13295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写真の簡単添付</a:t>
            </a:r>
            <a:endParaRPr lang="en-US" sz="1300" dirty="0"/>
          </a:p>
        </p:txBody>
      </p:sp>
      <p:sp>
        <p:nvSpPr>
          <p:cNvPr id="20" name="Text 15"/>
          <p:cNvSpPr txBox="1"/>
          <p:nvPr/>
        </p:nvSpPr>
        <p:spPr>
          <a:xfrm>
            <a:off x="7800746" y="3066898"/>
            <a:ext cx="18004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写真撮影時に記録された</a:t>
            </a:r>
            <a:endParaRPr lang="en-US" sz="1200" dirty="0"/>
          </a:p>
        </p:txBody>
      </p:sp>
      <p:sp>
        <p:nvSpPr>
          <p:cNvPr id="21" name="Text 16"/>
          <p:cNvSpPr txBox="1"/>
          <p:nvPr/>
        </p:nvSpPr>
        <p:spPr>
          <a:xfrm>
            <a:off x="7800746" y="3066898"/>
            <a:ext cx="3629254"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が自動的に表示され、報告書に紐づけられます。位置特定の手間が大幅に削減されます。</a:t>
            </a:r>
            <a:endParaRPr lang="en-US" sz="1200" dirty="0"/>
          </a:p>
        </p:txBody>
      </p:sp>
      <p:sp>
        <p:nvSpPr>
          <p:cNvPr id="22" name="Text 17"/>
          <p:cNvSpPr txBox="1"/>
          <p:nvPr/>
        </p:nvSpPr>
        <p:spPr>
          <a:xfrm>
            <a:off x="7800746" y="4209898"/>
            <a:ext cx="3629254"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撮影日時が自動的に記録され、報告書に反映されます。過去の報告との比較や時系列管理も容易になります。</a:t>
            </a:r>
            <a:endParaRPr lang="en-US" sz="1200" dirty="0"/>
          </a:p>
        </p:txBody>
      </p:sp>
      <p:sp>
        <p:nvSpPr>
          <p:cNvPr id="23" name="Text 18"/>
          <p:cNvSpPr txBox="1"/>
          <p:nvPr/>
        </p:nvSpPr>
        <p:spPr>
          <a:xfrm>
            <a:off x="9477756" y="3066898"/>
            <a:ext cx="1343254" cy="2286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緯度・経度の情報</a:t>
            </a:r>
            <a:endParaRPr lang="en-US" sz="1200" dirty="0"/>
          </a:p>
        </p:txBody>
      </p:sp>
      <p:pic>
        <p:nvPicPr>
          <p:cNvPr id="24" name="Image 3" descr="preencoded.png">    </p:cNvPr>
          <p:cNvPicPr>
            <a:picLocks noChangeAspect="1"/>
          </p:cNvPicPr>
          <p:nvPr/>
        </p:nvPicPr>
        <p:blipFill>
          <a:blip r:embed="rId4"/>
          <a:srcRect l="-1648" r="-1648" t="0" b="0"/>
          <a:stretch/>
        </p:blipFill>
        <p:spPr>
          <a:xfrm>
            <a:off x="7381951" y="4000500"/>
            <a:ext cx="171907" cy="190195"/>
          </a:xfrm>
          <a:prstGeom prst="rect">
            <a:avLst/>
          </a:prstGeom>
        </p:spPr>
      </p:pic>
      <p:pic>
        <p:nvPicPr>
          <p:cNvPr id="25" name="Image 4" descr="preencoded.png">    </p:cNvPr>
          <p:cNvPicPr>
            <a:picLocks noChangeAspect="1"/>
          </p:cNvPicPr>
          <p:nvPr/>
        </p:nvPicPr>
        <p:blipFill>
          <a:blip r:embed="rId5"/>
          <a:srcRect l="-1282" r="-1282" t="0" b="0"/>
          <a:stretch/>
        </p:blipFill>
        <p:spPr>
          <a:xfrm>
            <a:off x="7358177" y="5143500"/>
            <a:ext cx="219456" cy="190195"/>
          </a:xfrm>
          <a:prstGeom prst="rect">
            <a:avLst/>
          </a:prstGeom>
        </p:spPr>
      </p:pic>
      <p:sp>
        <p:nvSpPr>
          <p:cNvPr id="26" name="Text 19"/>
          <p:cNvSpPr txBox="1"/>
          <p:nvPr/>
        </p:nvSpPr>
        <p:spPr>
          <a:xfrm>
            <a:off x="7800746" y="5352898"/>
            <a:ext cx="3629254"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撮影した写真をプレビュー表示しながら、簡単に報告書に添付できます。複数写真の管理も直感的なUIで操作可能です。</a:t>
            </a:r>
            <a:endParaRPr lang="en-US" sz="1200" dirty="0"/>
          </a:p>
        </p:txBody>
      </p:sp>
      <p:sp>
        <p:nvSpPr>
          <p:cNvPr id="27" name="Text 20"/>
          <p:cNvSpPr txBox="1"/>
          <p:nvPr/>
        </p:nvSpPr>
        <p:spPr>
          <a:xfrm>
            <a:off x="761695" y="6476695"/>
            <a:ext cx="8205826" cy="191110"/>
          </a:xfrm>
          <a:prstGeom prst="rect">
            <a:avLst/>
          </a:prstGeom>
          <a:noFill/>
          <a:ln/>
        </p:spPr>
        <p:txBody>
          <a:bodyPr wrap="square" lIns="0" tIns="0" rIns="0" bIns="0" rtlCol="0" anchor="ctr"/>
          <a:lstStyle/>
          <a:p>
            <a:pPr algn="l" indent="0" marL="0">
              <a:buNone/>
            </a:pPr>
            <a:r>
              <a:rPr lang="en-US" sz="1000" i="1" dirty="0">
                <a:solidFill>
                  <a:srgbClr val="666666"/>
                </a:solidFill>
                <a:latin typeface="Noto Sans JP" pitchFamily="34" charset="0"/>
                <a:ea typeface="Noto Sans JP" pitchFamily="34" charset="-122"/>
                <a:cs typeface="Noto Sans JP" pitchFamily="34" charset="-120"/>
              </a:rPr>
              <a:t>※入力内容は自動保存され、フィールドワーク中でも安心して利用できます。報告書は後から本社Webシステムで詳細編集が可能です。</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276795"/>
          </a:xfrm>
          <a:prstGeom prst="rect">
            <a:avLst/>
          </a:prstGeom>
          <a:solidFill>
            <a:srgbClr val="FFFFFF"/>
          </a:solidFill>
          <a:ln/>
        </p:spPr>
      </p:sp>
      <p:sp>
        <p:nvSpPr>
          <p:cNvPr id="3" name="Shape 1"/>
          <p:cNvSpPr/>
          <p:nvPr/>
        </p:nvSpPr>
        <p:spPr>
          <a:xfrm>
            <a:off x="0" y="0"/>
            <a:ext cx="12191695" cy="7276795"/>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43154"/>
            <a:ext cx="3267151"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Phase2 ホーム画面</a:t>
            </a:r>
            <a:endParaRPr lang="en-US" sz="2700" dirty="0"/>
          </a:p>
        </p:txBody>
      </p:sp>
      <p:sp>
        <p:nvSpPr>
          <p:cNvPr id="6" name="Shape 4"/>
          <p:cNvSpPr/>
          <p:nvPr/>
        </p:nvSpPr>
        <p:spPr>
          <a:xfrm>
            <a:off x="3909060" y="571500"/>
            <a:ext cx="1095451" cy="437998"/>
          </a:xfrm>
          <a:prstGeom prst="roundRect">
            <a:avLst>
              <a:gd name="adj" fmla="val 90769"/>
            </a:avLst>
          </a:prstGeom>
          <a:solidFill>
            <a:srgbClr val="FFC400"/>
          </a:solidFill>
          <a:ln/>
        </p:spPr>
      </p:sp>
      <p:sp>
        <p:nvSpPr>
          <p:cNvPr id="7" name="Text 5"/>
          <p:cNvSpPr txBox="1"/>
          <p:nvPr/>
        </p:nvSpPr>
        <p:spPr>
          <a:xfrm>
            <a:off x="4099255" y="647395"/>
            <a:ext cx="857707"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Phase 2</a:t>
            </a:r>
            <a:endParaRPr lang="en-US" sz="1500" dirty="0"/>
          </a:p>
        </p:txBody>
      </p:sp>
      <p:sp>
        <p:nvSpPr>
          <p:cNvPr id="8" name="Text 6"/>
          <p:cNvSpPr txBox="1"/>
          <p:nvPr/>
        </p:nvSpPr>
        <p:spPr>
          <a:xfrm>
            <a:off x="761695" y="1209751"/>
            <a:ext cx="9263786"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Phase2ではチームでの作業に対応した機能が追加され、現場調査業務の効率とコラボレーションが大幅に向上します。</a:t>
            </a:r>
            <a:endParaRPr lang="en-US" sz="1300" dirty="0"/>
          </a:p>
        </p:txBody>
      </p:sp>
      <p:pic>
        <p:nvPicPr>
          <p:cNvPr id="9" name="Image 0" descr="https://page.gensparksite.com/v1/base64_upload/81a0e3f161ae08c814a462c29f8b1592">    </p:cNvPr>
          <p:cNvPicPr>
            <a:picLocks noChangeAspect="1"/>
          </p:cNvPicPr>
          <p:nvPr/>
        </p:nvPicPr>
        <p:blipFill>
          <a:blip r:embed="rId1"/>
          <a:srcRect l="34855" r="34855" t="0" b="0"/>
          <a:stretch/>
        </p:blipFill>
        <p:spPr>
          <a:xfrm>
            <a:off x="1809598" y="1752905"/>
            <a:ext cx="2667305" cy="4953305"/>
          </a:xfrm>
          <a:prstGeom prst="rect">
            <a:avLst/>
          </a:prstGeom>
        </p:spPr>
      </p:pic>
      <p:sp>
        <p:nvSpPr>
          <p:cNvPr id="10" name="Shape 7"/>
          <p:cNvSpPr/>
          <p:nvPr/>
        </p:nvSpPr>
        <p:spPr>
          <a:xfrm>
            <a:off x="5810098" y="1752905"/>
            <a:ext cx="476402" cy="476402"/>
          </a:xfrm>
          <a:prstGeom prst="ellipse">
            <a:avLst/>
          </a:prstGeom>
          <a:solidFill>
            <a:srgbClr val="EBF2FA"/>
          </a:solidFill>
          <a:ln/>
        </p:spPr>
      </p:sp>
      <p:pic>
        <p:nvPicPr>
          <p:cNvPr id="11" name="Image 1" descr="preencoded.png">    </p:cNvPr>
          <p:cNvPicPr>
            <a:picLocks noChangeAspect="1"/>
          </p:cNvPicPr>
          <p:nvPr/>
        </p:nvPicPr>
        <p:blipFill>
          <a:blip r:embed="rId2"/>
          <a:srcRect l="0" r="0" t="0" b="0"/>
          <a:stretch/>
        </p:blipFill>
        <p:spPr>
          <a:xfrm>
            <a:off x="5943600" y="1886407"/>
            <a:ext cx="209398" cy="209398"/>
          </a:xfrm>
          <a:prstGeom prst="rect">
            <a:avLst/>
          </a:prstGeom>
        </p:spPr>
      </p:pic>
      <p:sp>
        <p:nvSpPr>
          <p:cNvPr id="12" name="Shape 8"/>
          <p:cNvSpPr/>
          <p:nvPr/>
        </p:nvSpPr>
        <p:spPr>
          <a:xfrm>
            <a:off x="5810098" y="2676449"/>
            <a:ext cx="476402" cy="476402"/>
          </a:xfrm>
          <a:prstGeom prst="ellipse">
            <a:avLst/>
          </a:prstGeom>
          <a:solidFill>
            <a:srgbClr val="EBF2FA"/>
          </a:solidFill>
          <a:ln/>
        </p:spPr>
      </p:sp>
      <p:sp>
        <p:nvSpPr>
          <p:cNvPr id="13" name="Shape 9"/>
          <p:cNvSpPr/>
          <p:nvPr/>
        </p:nvSpPr>
        <p:spPr>
          <a:xfrm>
            <a:off x="5810098" y="3600907"/>
            <a:ext cx="476402" cy="476402"/>
          </a:xfrm>
          <a:prstGeom prst="ellipse">
            <a:avLst/>
          </a:prstGeom>
          <a:solidFill>
            <a:srgbClr val="EBF2FA"/>
          </a:solidFill>
          <a:ln/>
        </p:spPr>
      </p:sp>
      <p:sp>
        <p:nvSpPr>
          <p:cNvPr id="14" name="Text 10"/>
          <p:cNvSpPr txBox="1"/>
          <p:nvPr/>
        </p:nvSpPr>
        <p:spPr>
          <a:xfrm>
            <a:off x="6476695" y="1752905"/>
            <a:ext cx="1386230" cy="257861"/>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AR対応写真撮影</a:t>
            </a:r>
            <a:endParaRPr lang="en-US" sz="1300" dirty="0"/>
          </a:p>
        </p:txBody>
      </p:sp>
      <p:sp>
        <p:nvSpPr>
          <p:cNvPr id="15" name="Text 11"/>
          <p:cNvSpPr txBox="1"/>
          <p:nvPr/>
        </p:nvSpPr>
        <p:spPr>
          <a:xfrm>
            <a:off x="6476695" y="2676449"/>
            <a:ext cx="986638" cy="257861"/>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報告書編集</a:t>
            </a:r>
            <a:endParaRPr lang="en-US" sz="1300" dirty="0"/>
          </a:p>
        </p:txBody>
      </p:sp>
      <p:sp>
        <p:nvSpPr>
          <p:cNvPr id="16" name="Text 12"/>
          <p:cNvSpPr txBox="1"/>
          <p:nvPr/>
        </p:nvSpPr>
        <p:spPr>
          <a:xfrm>
            <a:off x="6476695" y="3600907"/>
            <a:ext cx="1672438" cy="257861"/>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共有チェックリスト</a:t>
            </a:r>
            <a:endParaRPr lang="en-US" sz="1300" dirty="0"/>
          </a:p>
        </p:txBody>
      </p:sp>
      <p:sp>
        <p:nvSpPr>
          <p:cNvPr id="17" name="Shape 13"/>
          <p:cNvSpPr/>
          <p:nvPr/>
        </p:nvSpPr>
        <p:spPr>
          <a:xfrm>
            <a:off x="7823606" y="1766621"/>
            <a:ext cx="590702" cy="228600"/>
          </a:xfrm>
          <a:prstGeom prst="roundRect">
            <a:avLst>
              <a:gd name="adj" fmla="val 200000"/>
            </a:avLst>
          </a:prstGeom>
          <a:solidFill>
            <a:srgbClr val="FFE9A6"/>
          </a:solidFill>
          <a:ln/>
        </p:spPr>
      </p:sp>
      <p:sp>
        <p:nvSpPr>
          <p:cNvPr id="18" name="Text 14"/>
          <p:cNvSpPr txBox="1"/>
          <p:nvPr/>
        </p:nvSpPr>
        <p:spPr>
          <a:xfrm>
            <a:off x="7919618" y="1795882"/>
            <a:ext cx="486461" cy="162763"/>
          </a:xfrm>
          <a:prstGeom prst="rect">
            <a:avLst/>
          </a:prstGeom>
          <a:noFill/>
          <a:ln/>
        </p:spPr>
        <p:txBody>
          <a:bodyPr wrap="square" lIns="0" tIns="0" rIns="0" bIns="0" rtlCol="0" anchor="ctr"/>
          <a:lstStyle/>
          <a:p>
            <a:pPr algn="l" indent="0" marL="0">
              <a:buNone/>
            </a:pPr>
            <a:r>
              <a:rPr lang="en-US" sz="900" dirty="0">
                <a:solidFill>
                  <a:srgbClr val="D18700"/>
                </a:solidFill>
                <a:latin typeface="Noto Sans JP" pitchFamily="34" charset="0"/>
                <a:ea typeface="Noto Sans JP" pitchFamily="34" charset="-122"/>
                <a:cs typeface="Noto Sans JP" pitchFamily="34" charset="-120"/>
              </a:rPr>
              <a:t>Phase2</a:t>
            </a:r>
            <a:endParaRPr lang="en-US" sz="900" dirty="0"/>
          </a:p>
        </p:txBody>
      </p:sp>
      <p:sp>
        <p:nvSpPr>
          <p:cNvPr id="19" name="Text 15"/>
          <p:cNvSpPr txBox="1"/>
          <p:nvPr/>
        </p:nvSpPr>
        <p:spPr>
          <a:xfrm>
            <a:off x="6476695" y="2057400"/>
            <a:ext cx="2383841" cy="200254"/>
          </a:xfrm>
          <a:prstGeom prst="rect">
            <a:avLst/>
          </a:prstGeom>
          <a:noFill/>
          <a:ln/>
        </p:spPr>
        <p:txBody>
          <a:bodyPr wrap="square" lIns="0" tIns="0" rIns="0" bIns="0" rtlCol="0" anchor="ctr"/>
          <a:lstStyle/>
          <a:p>
            <a:pPr algn="l" indent="0" marL="0">
              <a:buNone/>
            </a:pPr>
            <a:r>
              <a:rPr lang="en-US" sz="1100" dirty="0">
                <a:solidFill>
                  <a:srgbClr val="333333"/>
                </a:solidFill>
                <a:latin typeface="Noto Sans JP" pitchFamily="34" charset="0"/>
                <a:ea typeface="Noto Sans JP" pitchFamily="34" charset="-122"/>
                <a:cs typeface="Noto Sans JP" pitchFamily="34" charset="-120"/>
              </a:rPr>
              <a:t>通常のGPS・方位情報記録に加え、</a:t>
            </a:r>
            <a:endParaRPr lang="en-US" sz="1100" dirty="0"/>
          </a:p>
        </p:txBody>
      </p:sp>
      <p:sp>
        <p:nvSpPr>
          <p:cNvPr id="20" name="Text 16"/>
          <p:cNvSpPr txBox="1"/>
          <p:nvPr/>
        </p:nvSpPr>
        <p:spPr>
          <a:xfrm>
            <a:off x="6476695" y="2057400"/>
            <a:ext cx="4993538" cy="419710"/>
          </a:xfrm>
          <a:prstGeom prst="rect">
            <a:avLst/>
          </a:prstGeom>
          <a:noFill/>
          <a:ln/>
        </p:spPr>
        <p:txBody>
          <a:bodyPr wrap="square" lIns="0" tIns="0" rIns="0" bIns="0" rtlCol="0" anchor="ctr"/>
          <a:lstStyle/>
          <a:p>
            <a:pPr algn="l" indent="0" marL="0">
              <a:buNone/>
            </a:pPr>
            <a:r>
              <a:rPr lang="en-US" sz="1100" dirty="0">
                <a:solidFill>
                  <a:srgbClr val="333333"/>
                </a:solidFill>
                <a:latin typeface="Noto Sans JP" pitchFamily="34" charset="0"/>
                <a:ea typeface="Noto Sans JP" pitchFamily="34" charset="-122"/>
                <a:cs typeface="Noto Sans JP" pitchFamily="34" charset="-120"/>
              </a:rPr>
              <a:t>。同じ場所からの再撮影や複数アングルの撮影がスムーズに行えます。</a:t>
            </a:r>
            <a:endParaRPr lang="en-US" sz="1100" dirty="0"/>
          </a:p>
        </p:txBody>
      </p:sp>
      <p:sp>
        <p:nvSpPr>
          <p:cNvPr id="21" name="Text 17"/>
          <p:cNvSpPr txBox="1"/>
          <p:nvPr/>
        </p:nvSpPr>
        <p:spPr>
          <a:xfrm>
            <a:off x="6476695" y="2980944"/>
            <a:ext cx="878738" cy="200254"/>
          </a:xfrm>
          <a:prstGeom prst="rect">
            <a:avLst/>
          </a:prstGeom>
          <a:noFill/>
          <a:ln/>
        </p:spPr>
        <p:txBody>
          <a:bodyPr wrap="square" lIns="0" tIns="0" rIns="0" bIns="0" rtlCol="0" anchor="ctr"/>
          <a:lstStyle/>
          <a:p>
            <a:pPr algn="l" indent="0" marL="0">
              <a:buNone/>
            </a:pPr>
            <a:r>
              <a:rPr lang="en-US" sz="1100" dirty="0">
                <a:solidFill>
                  <a:srgbClr val="333333"/>
                </a:solidFill>
                <a:latin typeface="Noto Sans JP" pitchFamily="34" charset="0"/>
                <a:ea typeface="Noto Sans JP" pitchFamily="34" charset="-122"/>
                <a:cs typeface="Noto Sans JP" pitchFamily="34" charset="-120"/>
              </a:rPr>
              <a:t>Phase2では</a:t>
            </a:r>
            <a:endParaRPr lang="en-US" sz="1100" dirty="0"/>
          </a:p>
        </p:txBody>
      </p:sp>
      <p:sp>
        <p:nvSpPr>
          <p:cNvPr id="22" name="Text 18"/>
          <p:cNvSpPr txBox="1"/>
          <p:nvPr/>
        </p:nvSpPr>
        <p:spPr>
          <a:xfrm>
            <a:off x="6476695" y="2980944"/>
            <a:ext cx="5012741" cy="419710"/>
          </a:xfrm>
          <a:prstGeom prst="rect">
            <a:avLst/>
          </a:prstGeom>
          <a:noFill/>
          <a:ln/>
        </p:spPr>
        <p:txBody>
          <a:bodyPr wrap="square" lIns="0" tIns="0" rIns="0" bIns="0" rtlCol="0" anchor="ctr"/>
          <a:lstStyle/>
          <a:p>
            <a:pPr algn="l" indent="0" marL="0">
              <a:buNone/>
            </a:pPr>
            <a:r>
              <a:rPr lang="en-US" sz="1100" dirty="0">
                <a:solidFill>
                  <a:srgbClr val="333333"/>
                </a:solidFill>
                <a:latin typeface="Noto Sans JP" pitchFamily="34" charset="0"/>
                <a:ea typeface="Noto Sans JP" pitchFamily="34" charset="-122"/>
                <a:cs typeface="Noto Sans JP" pitchFamily="34" charset="-120"/>
              </a:rPr>
              <a:t>に対応し、複数メンバーでの同時作業が可能になりました。写真と位置情報を連携して簡単に報告書を作成できます。</a:t>
            </a:r>
            <a:endParaRPr lang="en-US" sz="1100" dirty="0"/>
          </a:p>
        </p:txBody>
      </p:sp>
      <p:sp>
        <p:nvSpPr>
          <p:cNvPr id="23" name="Text 19"/>
          <p:cNvSpPr txBox="1"/>
          <p:nvPr/>
        </p:nvSpPr>
        <p:spPr>
          <a:xfrm>
            <a:off x="8748979" y="2057400"/>
            <a:ext cx="2441448" cy="200254"/>
          </a:xfrm>
          <a:prstGeom prst="rect">
            <a:avLst/>
          </a:prstGeom>
          <a:noFill/>
          <a:ln/>
        </p:spPr>
        <p:txBody>
          <a:bodyPr wrap="square" lIns="0" tIns="0" rIns="0" bIns="0" rtlCol="0" anchor="ctr"/>
          <a:lstStyle/>
          <a:p>
            <a:pPr algn="l" indent="0" marL="0">
              <a:buNone/>
            </a:pPr>
            <a:r>
              <a:rPr lang="en-US" sz="1100" dirty="0">
                <a:solidFill>
                  <a:srgbClr val="005BAC"/>
                </a:solidFill>
                <a:latin typeface="Noto Sans JP" pitchFamily="34" charset="0"/>
                <a:ea typeface="Noto Sans JP" pitchFamily="34" charset="-122"/>
                <a:cs typeface="Noto Sans JP" pitchFamily="34" charset="-120"/>
              </a:rPr>
              <a:t>AR技術で過去の撮影ポイントを表示</a:t>
            </a:r>
            <a:endParaRPr lang="en-US" sz="1100" dirty="0"/>
          </a:p>
        </p:txBody>
      </p:sp>
      <p:pic>
        <p:nvPicPr>
          <p:cNvPr id="24" name="Image 2" descr="preencoded.png">    </p:cNvPr>
          <p:cNvPicPr>
            <a:picLocks noChangeAspect="1"/>
          </p:cNvPicPr>
          <p:nvPr/>
        </p:nvPicPr>
        <p:blipFill>
          <a:blip r:embed="rId3"/>
          <a:srcRect l="-1528" r="-1528" t="0" b="0"/>
          <a:stretch/>
        </p:blipFill>
        <p:spPr>
          <a:xfrm>
            <a:off x="5967374" y="2809951"/>
            <a:ext cx="161849" cy="209398"/>
          </a:xfrm>
          <a:prstGeom prst="rect">
            <a:avLst/>
          </a:prstGeom>
        </p:spPr>
      </p:pic>
      <p:sp>
        <p:nvSpPr>
          <p:cNvPr id="25" name="Shape 20"/>
          <p:cNvSpPr/>
          <p:nvPr/>
        </p:nvSpPr>
        <p:spPr>
          <a:xfrm>
            <a:off x="8115300" y="3614623"/>
            <a:ext cx="590702" cy="228600"/>
          </a:xfrm>
          <a:prstGeom prst="roundRect">
            <a:avLst>
              <a:gd name="adj" fmla="val 200000"/>
            </a:avLst>
          </a:prstGeom>
          <a:solidFill>
            <a:srgbClr val="FFE9A6"/>
          </a:solidFill>
          <a:ln/>
        </p:spPr>
      </p:sp>
      <p:sp>
        <p:nvSpPr>
          <p:cNvPr id="26" name="Text 21"/>
          <p:cNvSpPr txBox="1"/>
          <p:nvPr/>
        </p:nvSpPr>
        <p:spPr>
          <a:xfrm>
            <a:off x="8210398" y="3642970"/>
            <a:ext cx="486461" cy="162763"/>
          </a:xfrm>
          <a:prstGeom prst="rect">
            <a:avLst/>
          </a:prstGeom>
          <a:noFill/>
          <a:ln/>
        </p:spPr>
        <p:txBody>
          <a:bodyPr wrap="square" lIns="0" tIns="0" rIns="0" bIns="0" rtlCol="0" anchor="ctr"/>
          <a:lstStyle/>
          <a:p>
            <a:pPr algn="l" indent="0" marL="0">
              <a:buNone/>
            </a:pPr>
            <a:r>
              <a:rPr lang="en-US" sz="900" dirty="0">
                <a:solidFill>
                  <a:srgbClr val="D18700"/>
                </a:solidFill>
                <a:latin typeface="Noto Sans JP" pitchFamily="34" charset="0"/>
                <a:ea typeface="Noto Sans JP" pitchFamily="34" charset="-122"/>
                <a:cs typeface="Noto Sans JP" pitchFamily="34" charset="-120"/>
              </a:rPr>
              <a:t>Phase2</a:t>
            </a:r>
            <a:endParaRPr lang="en-US" sz="900" dirty="0"/>
          </a:p>
        </p:txBody>
      </p:sp>
      <p:sp>
        <p:nvSpPr>
          <p:cNvPr id="27" name="Text 22"/>
          <p:cNvSpPr txBox="1"/>
          <p:nvPr/>
        </p:nvSpPr>
        <p:spPr>
          <a:xfrm>
            <a:off x="6476695" y="3905402"/>
            <a:ext cx="4965192" cy="419710"/>
          </a:xfrm>
          <a:prstGeom prst="rect">
            <a:avLst/>
          </a:prstGeom>
          <a:noFill/>
          <a:ln/>
        </p:spPr>
        <p:txBody>
          <a:bodyPr wrap="square" lIns="0" tIns="0" rIns="0" bIns="0" rtlCol="0" anchor="ctr"/>
          <a:lstStyle/>
          <a:p>
            <a:pPr algn="l" indent="0" marL="0">
              <a:buNone/>
            </a:pPr>
            <a:r>
              <a:rPr lang="en-US" sz="1100" dirty="0">
                <a:solidFill>
                  <a:srgbClr val="333333"/>
                </a:solidFill>
                <a:latin typeface="Noto Sans JP" pitchFamily="34" charset="0"/>
                <a:ea typeface="Noto Sans JP" pitchFamily="34" charset="-122"/>
                <a:cs typeface="Noto Sans JP" pitchFamily="34" charset="-120"/>
              </a:rPr>
              <a:t>チーム全体で進捗を共有・管理するための新機能。各調査地点での撮影項目を事前にリスト化し、</a:t>
            </a:r>
            <a:endParaRPr lang="en-US" sz="1100" dirty="0"/>
          </a:p>
        </p:txBody>
      </p:sp>
      <p:sp>
        <p:nvSpPr>
          <p:cNvPr id="28" name="Text 23"/>
          <p:cNvSpPr txBox="1"/>
          <p:nvPr/>
        </p:nvSpPr>
        <p:spPr>
          <a:xfrm>
            <a:off x="6476695" y="4119372"/>
            <a:ext cx="4936846" cy="419710"/>
          </a:xfrm>
          <a:prstGeom prst="rect">
            <a:avLst/>
          </a:prstGeom>
          <a:noFill/>
          <a:ln/>
        </p:spPr>
        <p:txBody>
          <a:bodyPr wrap="square" lIns="0" tIns="0" rIns="0" bIns="0" rtlCol="0" anchor="ctr"/>
          <a:lstStyle/>
          <a:p>
            <a:pPr algn="l" indent="0" marL="0">
              <a:buNone/>
            </a:pPr>
            <a:r>
              <a:rPr lang="en-US" sz="1100" dirty="0">
                <a:solidFill>
                  <a:srgbClr val="333333"/>
                </a:solidFill>
                <a:latin typeface="Noto Sans JP" pitchFamily="34" charset="0"/>
                <a:ea typeface="Noto Sans JP" pitchFamily="34" charset="-122"/>
                <a:cs typeface="Noto Sans JP" pitchFamily="34" charset="-120"/>
              </a:rPr>
              <a:t>できます。リアルタイムで更新されます。</a:t>
            </a:r>
            <a:endParaRPr lang="en-US" sz="1100" dirty="0"/>
          </a:p>
        </p:txBody>
      </p:sp>
      <p:sp>
        <p:nvSpPr>
          <p:cNvPr id="29" name="Text 24"/>
          <p:cNvSpPr txBox="1"/>
          <p:nvPr/>
        </p:nvSpPr>
        <p:spPr>
          <a:xfrm>
            <a:off x="7245706" y="2980944"/>
            <a:ext cx="1536192" cy="200254"/>
          </a:xfrm>
          <a:prstGeom prst="rect">
            <a:avLst/>
          </a:prstGeom>
          <a:noFill/>
          <a:ln/>
        </p:spPr>
        <p:txBody>
          <a:bodyPr wrap="square" lIns="0" tIns="0" rIns="0" bIns="0" rtlCol="0" anchor="ctr"/>
          <a:lstStyle/>
          <a:p>
            <a:pPr algn="l" indent="0" marL="0">
              <a:buNone/>
            </a:pPr>
            <a:r>
              <a:rPr lang="en-US" sz="1100" dirty="0">
                <a:solidFill>
                  <a:srgbClr val="005BAC"/>
                </a:solidFill>
                <a:latin typeface="Noto Sans JP" pitchFamily="34" charset="0"/>
                <a:ea typeface="Noto Sans JP" pitchFamily="34" charset="-122"/>
                <a:cs typeface="Noto Sans JP" pitchFamily="34" charset="-120"/>
              </a:rPr>
              <a:t>リアルタイム共同編集</a:t>
            </a:r>
            <a:endParaRPr lang="en-US" sz="1100" dirty="0"/>
          </a:p>
        </p:txBody>
      </p:sp>
      <p:sp>
        <p:nvSpPr>
          <p:cNvPr id="30" name="Text 25"/>
          <p:cNvSpPr txBox="1"/>
          <p:nvPr/>
        </p:nvSpPr>
        <p:spPr>
          <a:xfrm>
            <a:off x="7905902" y="4119372"/>
            <a:ext cx="1955902" cy="200254"/>
          </a:xfrm>
          <a:prstGeom prst="rect">
            <a:avLst/>
          </a:prstGeom>
          <a:noFill/>
          <a:ln/>
        </p:spPr>
        <p:txBody>
          <a:bodyPr wrap="square" lIns="0" tIns="0" rIns="0" bIns="0" rtlCol="0" anchor="ctr"/>
          <a:lstStyle/>
          <a:p>
            <a:pPr algn="l" indent="0" marL="0">
              <a:buNone/>
            </a:pPr>
            <a:r>
              <a:rPr lang="en-US" sz="1100" dirty="0">
                <a:solidFill>
                  <a:srgbClr val="005BAC"/>
                </a:solidFill>
                <a:latin typeface="Noto Sans JP" pitchFamily="34" charset="0"/>
                <a:ea typeface="Noto Sans JP" pitchFamily="34" charset="-122"/>
                <a:cs typeface="Noto Sans JP" pitchFamily="34" charset="-120"/>
              </a:rPr>
              <a:t>複数メンバーで分担して作業</a:t>
            </a:r>
            <a:endParaRPr lang="en-US" sz="1100" dirty="0"/>
          </a:p>
        </p:txBody>
      </p:sp>
      <p:sp>
        <p:nvSpPr>
          <p:cNvPr id="31" name="Shape 26"/>
          <p:cNvSpPr/>
          <p:nvPr/>
        </p:nvSpPr>
        <p:spPr>
          <a:xfrm>
            <a:off x="7429500" y="2691079"/>
            <a:ext cx="590702" cy="228600"/>
          </a:xfrm>
          <a:prstGeom prst="roundRect">
            <a:avLst>
              <a:gd name="adj" fmla="val 200000"/>
            </a:avLst>
          </a:prstGeom>
          <a:solidFill>
            <a:srgbClr val="E6EEF8"/>
          </a:solidFill>
          <a:ln/>
        </p:spPr>
      </p:sp>
      <p:sp>
        <p:nvSpPr>
          <p:cNvPr id="32" name="Text 27"/>
          <p:cNvSpPr txBox="1"/>
          <p:nvPr/>
        </p:nvSpPr>
        <p:spPr>
          <a:xfrm>
            <a:off x="7524598" y="2719426"/>
            <a:ext cx="486461" cy="162763"/>
          </a:xfrm>
          <a:prstGeom prst="rect">
            <a:avLst/>
          </a:prstGeom>
          <a:noFill/>
          <a:ln/>
        </p:spPr>
        <p:txBody>
          <a:bodyPr wrap="square" lIns="0" tIns="0" rIns="0" bIns="0" rtlCol="0" anchor="ctr"/>
          <a:lstStyle/>
          <a:p>
            <a:pPr algn="l" indent="0" marL="0">
              <a:buNone/>
            </a:pPr>
            <a:r>
              <a:rPr lang="en-US" sz="900" dirty="0">
                <a:solidFill>
                  <a:srgbClr val="005BAC"/>
                </a:solidFill>
                <a:latin typeface="Noto Sans JP" pitchFamily="34" charset="0"/>
                <a:ea typeface="Noto Sans JP" pitchFamily="34" charset="-122"/>
                <a:cs typeface="Noto Sans JP" pitchFamily="34" charset="-120"/>
              </a:rPr>
              <a:t>Phase1</a:t>
            </a:r>
            <a:endParaRPr lang="en-US" sz="900" dirty="0"/>
          </a:p>
        </p:txBody>
      </p:sp>
      <p:pic>
        <p:nvPicPr>
          <p:cNvPr id="33" name="Image 3" descr="preencoded.png">    </p:cNvPr>
          <p:cNvPicPr>
            <a:picLocks noChangeAspect="1"/>
          </p:cNvPicPr>
          <p:nvPr/>
        </p:nvPicPr>
        <p:blipFill>
          <a:blip r:embed="rId4"/>
          <a:srcRect l="0" r="0" t="0" b="0"/>
          <a:stretch/>
        </p:blipFill>
        <p:spPr>
          <a:xfrm>
            <a:off x="5943600" y="3733495"/>
            <a:ext cx="209398" cy="209398"/>
          </a:xfrm>
          <a:prstGeom prst="rect">
            <a:avLst/>
          </a:prstGeom>
        </p:spPr>
      </p:pic>
      <p:sp>
        <p:nvSpPr>
          <p:cNvPr id="34" name="Text 28"/>
          <p:cNvSpPr txBox="1"/>
          <p:nvPr/>
        </p:nvSpPr>
        <p:spPr>
          <a:xfrm>
            <a:off x="761695" y="6791249"/>
            <a:ext cx="9596628"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※Phase2では、チームでの作業効率化を主な目的として機能を拡張。撮影位置の事前確認や進捗共有など、特に広範囲・複数人での調査に効果を発揮します。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953098"/>
          </a:xfrm>
          <a:prstGeom prst="rect">
            <a:avLst/>
          </a:prstGeom>
          <a:solidFill>
            <a:srgbClr val="FFFFFF"/>
          </a:solidFill>
          <a:ln/>
        </p:spPr>
      </p:sp>
      <p:sp>
        <p:nvSpPr>
          <p:cNvPr id="3" name="Shape 1"/>
          <p:cNvSpPr/>
          <p:nvPr/>
        </p:nvSpPr>
        <p:spPr>
          <a:xfrm>
            <a:off x="0" y="0"/>
            <a:ext cx="12191695" cy="6953098"/>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3391510"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Phase2 AR撮影画面</a:t>
            </a:r>
            <a:endParaRPr lang="en-US" sz="2700" dirty="0"/>
          </a:p>
        </p:txBody>
      </p:sp>
      <p:sp>
        <p:nvSpPr>
          <p:cNvPr id="6" name="Shape 4"/>
          <p:cNvSpPr/>
          <p:nvPr/>
        </p:nvSpPr>
        <p:spPr>
          <a:xfrm>
            <a:off x="4077310" y="638251"/>
            <a:ext cx="1095451" cy="437998"/>
          </a:xfrm>
          <a:prstGeom prst="roundRect">
            <a:avLst>
              <a:gd name="adj" fmla="val 90769"/>
            </a:avLst>
          </a:prstGeom>
          <a:solidFill>
            <a:srgbClr val="FFC400"/>
          </a:solidFill>
          <a:ln/>
        </p:spPr>
      </p:sp>
      <p:sp>
        <p:nvSpPr>
          <p:cNvPr id="7" name="Text 5"/>
          <p:cNvSpPr txBox="1"/>
          <p:nvPr/>
        </p:nvSpPr>
        <p:spPr>
          <a:xfrm>
            <a:off x="4268419" y="714146"/>
            <a:ext cx="857707"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Phase 2</a:t>
            </a:r>
            <a:endParaRPr lang="en-US" sz="1500" dirty="0"/>
          </a:p>
        </p:txBody>
      </p:sp>
      <p:pic>
        <p:nvPicPr>
          <p:cNvPr id="8" name="Image 0" descr="https://page.gensparksite.com/v1/base64_upload/bd069f773fd486a88f45fc7ba30747a2">    </p:cNvPr>
          <p:cNvPicPr>
            <a:picLocks noChangeAspect="1"/>
          </p:cNvPicPr>
          <p:nvPr/>
        </p:nvPicPr>
        <p:blipFill>
          <a:blip r:embed="rId1"/>
          <a:srcRect l="34855" r="34855" t="0" b="0"/>
          <a:stretch/>
        </p:blipFill>
        <p:spPr>
          <a:xfrm>
            <a:off x="952805" y="1429207"/>
            <a:ext cx="2667305" cy="4953305"/>
          </a:xfrm>
          <a:prstGeom prst="rect">
            <a:avLst/>
          </a:prstGeom>
        </p:spPr>
      </p:pic>
      <p:pic>
        <p:nvPicPr>
          <p:cNvPr id="9" name="Image 1" descr="preencoded.png">    </p:cNvPr>
          <p:cNvPicPr>
            <a:picLocks noChangeAspect="1"/>
          </p:cNvPicPr>
          <p:nvPr/>
        </p:nvPicPr>
        <p:blipFill>
          <a:blip r:embed="rId2"/>
          <a:srcRect l="0" r="0" t="0" b="0"/>
          <a:stretch/>
        </p:blipFill>
        <p:spPr>
          <a:xfrm>
            <a:off x="5562295" y="2144268"/>
            <a:ext cx="190195" cy="190195"/>
          </a:xfrm>
          <a:prstGeom prst="rect">
            <a:avLst/>
          </a:prstGeom>
        </p:spPr>
      </p:pic>
      <p:sp>
        <p:nvSpPr>
          <p:cNvPr id="10" name="Text 6"/>
          <p:cNvSpPr txBox="1"/>
          <p:nvPr/>
        </p:nvSpPr>
        <p:spPr>
          <a:xfrm>
            <a:off x="5753405" y="2096719"/>
            <a:ext cx="2496312" cy="286207"/>
          </a:xfrm>
          <a:prstGeom prst="rect">
            <a:avLst/>
          </a:prstGeom>
          <a:noFill/>
          <a:ln/>
        </p:spPr>
        <p:txBody>
          <a:bodyPr wrap="square" lIns="0" tIns="0" rIns="0" bIns="0" rtlCol="0" anchor="ctr"/>
          <a:lstStyle/>
          <a:p>
            <a:pPr algn="l" indent="0" marL="0">
              <a:buNone/>
            </a:pPr>
            <a:r>
              <a:rPr lang="en-US" sz="1500" b="1" dirty="0">
                <a:solidFill>
                  <a:srgbClr val="005BAC"/>
                </a:solidFill>
                <a:latin typeface="Noto Sans JP" pitchFamily="34" charset="0"/>
                <a:ea typeface="Noto Sans JP" pitchFamily="34" charset="-122"/>
                <a:cs typeface="Noto Sans JP" pitchFamily="34" charset="-120"/>
              </a:rPr>
              <a:t>ARを活用した位置特定撮影</a:t>
            </a:r>
            <a:endParaRPr lang="en-US" sz="1500" dirty="0"/>
          </a:p>
        </p:txBody>
      </p:sp>
      <p:sp>
        <p:nvSpPr>
          <p:cNvPr id="11" name="Shape 7"/>
          <p:cNvSpPr/>
          <p:nvPr/>
        </p:nvSpPr>
        <p:spPr>
          <a:xfrm>
            <a:off x="8192110" y="2135124"/>
            <a:ext cx="780898" cy="209398"/>
          </a:xfrm>
          <a:prstGeom prst="roundRect">
            <a:avLst>
              <a:gd name="adj" fmla="val 238189"/>
            </a:avLst>
          </a:prstGeom>
          <a:solidFill>
            <a:srgbClr val="FFC400"/>
          </a:solidFill>
          <a:ln/>
        </p:spPr>
      </p:sp>
      <p:sp>
        <p:nvSpPr>
          <p:cNvPr id="12" name="Text 8"/>
          <p:cNvSpPr txBox="1"/>
          <p:nvPr/>
        </p:nvSpPr>
        <p:spPr>
          <a:xfrm>
            <a:off x="8268005" y="2153412"/>
            <a:ext cx="715061" cy="162763"/>
          </a:xfrm>
          <a:prstGeom prst="rect">
            <a:avLst/>
          </a:prstGeom>
          <a:noFill/>
          <a:ln/>
        </p:spPr>
        <p:txBody>
          <a:bodyPr wrap="square" lIns="0" tIns="0" rIns="0" bIns="0" rtlCol="0" anchor="ctr"/>
          <a:lstStyle/>
          <a:p>
            <a:pPr algn="l" indent="0" marL="0">
              <a:buNone/>
            </a:pPr>
            <a:r>
              <a:rPr lang="en-US" sz="900" dirty="0">
                <a:solidFill>
                  <a:srgbClr val="333333"/>
                </a:solidFill>
                <a:latin typeface="Noto Sans JP" pitchFamily="34" charset="0"/>
                <a:ea typeface="Noto Sans JP" pitchFamily="34" charset="-122"/>
                <a:cs typeface="Noto Sans JP" pitchFamily="34" charset="-120"/>
              </a:rPr>
              <a:t>Phase2機能</a:t>
            </a:r>
            <a:endParaRPr lang="en-US" sz="900" dirty="0"/>
          </a:p>
        </p:txBody>
      </p:sp>
      <p:sp>
        <p:nvSpPr>
          <p:cNvPr id="13" name="Shape 9"/>
          <p:cNvSpPr/>
          <p:nvPr/>
        </p:nvSpPr>
        <p:spPr>
          <a:xfrm>
            <a:off x="5562295" y="2478024"/>
            <a:ext cx="5867705" cy="609905"/>
          </a:xfrm>
          <a:prstGeom prst="rect">
            <a:avLst/>
          </a:prstGeom>
          <a:solidFill>
            <a:srgbClr val="005BAC">
              <a:alpha val="5000"/>
            </a:srgbClr>
          </a:solidFill>
          <a:ln/>
        </p:spPr>
      </p:sp>
      <p:sp>
        <p:nvSpPr>
          <p:cNvPr id="14" name="Shape 10"/>
          <p:cNvSpPr/>
          <p:nvPr/>
        </p:nvSpPr>
        <p:spPr>
          <a:xfrm>
            <a:off x="5562295" y="2478024"/>
            <a:ext cx="28346" cy="609905"/>
          </a:xfrm>
          <a:prstGeom prst="rect">
            <a:avLst/>
          </a:prstGeom>
          <a:solidFill>
            <a:srgbClr val="005BAC"/>
          </a:solidFill>
          <a:ln/>
        </p:spPr>
      </p:sp>
      <p:sp>
        <p:nvSpPr>
          <p:cNvPr id="15" name="Text 11"/>
          <p:cNvSpPr txBox="1"/>
          <p:nvPr/>
        </p:nvSpPr>
        <p:spPr>
          <a:xfrm>
            <a:off x="5705856" y="2582266"/>
            <a:ext cx="5596128" cy="381305"/>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拡張現実（AR）技術を活用し、過去の撮影地点や撮影すべき位置を視覚的に把握。正確な位置と方向から撮影することで、報告書作成の手間を大幅に削減します。</a:t>
            </a:r>
            <a:endParaRPr lang="en-US" sz="1000" dirty="0"/>
          </a:p>
        </p:txBody>
      </p:sp>
      <p:sp>
        <p:nvSpPr>
          <p:cNvPr id="16" name="Shape 12"/>
          <p:cNvSpPr/>
          <p:nvPr/>
        </p:nvSpPr>
        <p:spPr>
          <a:xfrm>
            <a:off x="5562295" y="3364992"/>
            <a:ext cx="286207" cy="286207"/>
          </a:xfrm>
          <a:prstGeom prst="ellipse">
            <a:avLst/>
          </a:prstGeom>
          <a:solidFill>
            <a:srgbClr val="005BAC"/>
          </a:solidFill>
          <a:ln/>
        </p:spPr>
      </p:sp>
      <p:pic>
        <p:nvPicPr>
          <p:cNvPr id="17" name="Image 2" descr="preencoded.png">    </p:cNvPr>
          <p:cNvPicPr>
            <a:picLocks noChangeAspect="1"/>
          </p:cNvPicPr>
          <p:nvPr/>
        </p:nvPicPr>
        <p:blipFill>
          <a:blip r:embed="rId3"/>
          <a:srcRect l="-2512" r="-2512" t="0" b="0"/>
          <a:stretch/>
        </p:blipFill>
        <p:spPr>
          <a:xfrm>
            <a:off x="5652821" y="3441802"/>
            <a:ext cx="105156" cy="133502"/>
          </a:xfrm>
          <a:prstGeom prst="rect">
            <a:avLst/>
          </a:prstGeom>
        </p:spPr>
      </p:pic>
      <p:sp>
        <p:nvSpPr>
          <p:cNvPr id="18" name="Shape 13"/>
          <p:cNvSpPr/>
          <p:nvPr/>
        </p:nvSpPr>
        <p:spPr>
          <a:xfrm>
            <a:off x="5562295" y="4147718"/>
            <a:ext cx="286207" cy="286207"/>
          </a:xfrm>
          <a:prstGeom prst="ellipse">
            <a:avLst/>
          </a:prstGeom>
          <a:solidFill>
            <a:srgbClr val="005BAC"/>
          </a:solidFill>
          <a:ln/>
        </p:spPr>
      </p:sp>
      <p:sp>
        <p:nvSpPr>
          <p:cNvPr id="19" name="Shape 14"/>
          <p:cNvSpPr/>
          <p:nvPr/>
        </p:nvSpPr>
        <p:spPr>
          <a:xfrm>
            <a:off x="5562295" y="4931359"/>
            <a:ext cx="286207" cy="286207"/>
          </a:xfrm>
          <a:prstGeom prst="ellipse">
            <a:avLst/>
          </a:prstGeom>
          <a:solidFill>
            <a:srgbClr val="005BAC"/>
          </a:solidFill>
          <a:ln/>
        </p:spPr>
      </p:sp>
      <p:sp>
        <p:nvSpPr>
          <p:cNvPr id="20" name="Text 15"/>
          <p:cNvSpPr txBox="1"/>
          <p:nvPr/>
        </p:nvSpPr>
        <p:spPr>
          <a:xfrm>
            <a:off x="5962802" y="3364992"/>
            <a:ext cx="1343254"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撮影位置の可視化</a:t>
            </a:r>
            <a:endParaRPr lang="en-US" sz="1200" dirty="0"/>
          </a:p>
        </p:txBody>
      </p:sp>
      <p:sp>
        <p:nvSpPr>
          <p:cNvPr id="21" name="Text 16"/>
          <p:cNvSpPr txBox="1"/>
          <p:nvPr/>
        </p:nvSpPr>
        <p:spPr>
          <a:xfrm>
            <a:off x="5962802" y="4147718"/>
            <a:ext cx="2086661"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リアルタイムGPS・方位情報</a:t>
            </a:r>
            <a:endParaRPr lang="en-US" sz="1200" dirty="0"/>
          </a:p>
        </p:txBody>
      </p:sp>
      <p:sp>
        <p:nvSpPr>
          <p:cNvPr id="22" name="Text 17"/>
          <p:cNvSpPr txBox="1"/>
          <p:nvPr/>
        </p:nvSpPr>
        <p:spPr>
          <a:xfrm>
            <a:off x="5962802" y="4931359"/>
            <a:ext cx="1343254"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撮り忘れ防止機能</a:t>
            </a:r>
            <a:endParaRPr lang="en-US" sz="1200" dirty="0"/>
          </a:p>
        </p:txBody>
      </p:sp>
      <p:sp>
        <p:nvSpPr>
          <p:cNvPr id="23" name="Shape 18"/>
          <p:cNvSpPr/>
          <p:nvPr/>
        </p:nvSpPr>
        <p:spPr>
          <a:xfrm>
            <a:off x="5962802" y="3603650"/>
            <a:ext cx="1181405" cy="228600"/>
          </a:xfrm>
          <a:prstGeom prst="rect">
            <a:avLst/>
          </a:prstGeom>
          <a:solidFill>
            <a:srgbClr val="FFC400">
              <a:alpha val="30000"/>
            </a:srgbClr>
          </a:solidFill>
          <a:ln/>
        </p:spPr>
      </p:sp>
      <p:sp>
        <p:nvSpPr>
          <p:cNvPr id="24" name="Shape 19"/>
          <p:cNvSpPr/>
          <p:nvPr/>
        </p:nvSpPr>
        <p:spPr>
          <a:xfrm>
            <a:off x="5962802" y="4386377"/>
            <a:ext cx="1009498" cy="228600"/>
          </a:xfrm>
          <a:prstGeom prst="rect">
            <a:avLst/>
          </a:prstGeom>
          <a:solidFill>
            <a:srgbClr val="FFC400">
              <a:alpha val="30000"/>
            </a:srgbClr>
          </a:solidFill>
          <a:ln/>
        </p:spPr>
      </p:sp>
      <p:sp>
        <p:nvSpPr>
          <p:cNvPr id="25" name="Shape 20"/>
          <p:cNvSpPr/>
          <p:nvPr/>
        </p:nvSpPr>
        <p:spPr>
          <a:xfrm>
            <a:off x="7696505" y="5169103"/>
            <a:ext cx="1009498" cy="228600"/>
          </a:xfrm>
          <a:prstGeom prst="rect">
            <a:avLst/>
          </a:prstGeom>
          <a:solidFill>
            <a:srgbClr val="FFC400">
              <a:alpha val="30000"/>
            </a:srgbClr>
          </a:solidFill>
          <a:ln/>
        </p:spPr>
      </p:sp>
      <p:sp>
        <p:nvSpPr>
          <p:cNvPr id="26" name="Text 21"/>
          <p:cNvSpPr txBox="1"/>
          <p:nvPr/>
        </p:nvSpPr>
        <p:spPr>
          <a:xfrm>
            <a:off x="6001207" y="3622853"/>
            <a:ext cx="1205179"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紫色のARマーカー</a:t>
            </a:r>
            <a:endParaRPr lang="en-US" sz="1000" dirty="0"/>
          </a:p>
        </p:txBody>
      </p:sp>
      <p:sp>
        <p:nvSpPr>
          <p:cNvPr id="27" name="Text 22"/>
          <p:cNvSpPr txBox="1"/>
          <p:nvPr/>
        </p:nvSpPr>
        <p:spPr>
          <a:xfrm>
            <a:off x="6001207" y="4405579"/>
            <a:ext cx="1034186"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「AR ON」表示</a:t>
            </a:r>
            <a:endParaRPr lang="en-US" sz="1000" dirty="0"/>
          </a:p>
        </p:txBody>
      </p:sp>
      <p:sp>
        <p:nvSpPr>
          <p:cNvPr id="28" name="Text 23"/>
          <p:cNvSpPr txBox="1"/>
          <p:nvPr/>
        </p:nvSpPr>
        <p:spPr>
          <a:xfrm>
            <a:off x="5962802" y="3622853"/>
            <a:ext cx="5558638" cy="381305"/>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で過去の撮影ポイントを確認。各マーカーには撮影方向も表示され、同じアングルからの撮影が可能です。</a:t>
            </a:r>
            <a:endParaRPr lang="en-US" sz="1000" dirty="0"/>
          </a:p>
        </p:txBody>
      </p:sp>
      <p:pic>
        <p:nvPicPr>
          <p:cNvPr id="29" name="Image 3" descr="preencoded.png">    </p:cNvPr>
          <p:cNvPicPr>
            <a:picLocks noChangeAspect="1"/>
          </p:cNvPicPr>
          <p:nvPr/>
        </p:nvPicPr>
        <p:blipFill>
          <a:blip r:embed="rId4"/>
          <a:srcRect l="0" r="0" t="0" b="0"/>
          <a:stretch/>
        </p:blipFill>
        <p:spPr>
          <a:xfrm>
            <a:off x="5639105" y="4224528"/>
            <a:ext cx="133502" cy="133502"/>
          </a:xfrm>
          <a:prstGeom prst="rect">
            <a:avLst/>
          </a:prstGeom>
        </p:spPr>
      </p:pic>
      <p:sp>
        <p:nvSpPr>
          <p:cNvPr id="30" name="Text 24"/>
          <p:cNvSpPr txBox="1"/>
          <p:nvPr/>
        </p:nvSpPr>
        <p:spPr>
          <a:xfrm>
            <a:off x="7733995" y="5188306"/>
            <a:ext cx="1034186"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撮り忘れを防止</a:t>
            </a:r>
            <a:endParaRPr lang="en-US" sz="1000" dirty="0"/>
          </a:p>
        </p:txBody>
      </p:sp>
      <p:sp>
        <p:nvSpPr>
          <p:cNvPr id="31" name="Text 25"/>
          <p:cNvSpPr txBox="1"/>
          <p:nvPr/>
        </p:nvSpPr>
        <p:spPr>
          <a:xfrm>
            <a:off x="5962802" y="4405579"/>
            <a:ext cx="5511089" cy="381305"/>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で機能状態を確認、緯度・経度も常に表示されるため、正確な位置情報の把握が可能です。</a:t>
            </a:r>
            <a:endParaRPr lang="en-US" sz="1000" dirty="0"/>
          </a:p>
        </p:txBody>
      </p:sp>
      <p:pic>
        <p:nvPicPr>
          <p:cNvPr id="32" name="Image 4" descr="preencoded.png">    </p:cNvPr>
          <p:cNvPicPr>
            <a:picLocks noChangeAspect="1"/>
          </p:cNvPicPr>
          <p:nvPr/>
        </p:nvPicPr>
        <p:blipFill>
          <a:blip r:embed="rId5"/>
          <a:srcRect l="0" r="0" t="0" b="0"/>
          <a:stretch/>
        </p:blipFill>
        <p:spPr>
          <a:xfrm>
            <a:off x="5639105" y="5007254"/>
            <a:ext cx="133502" cy="133502"/>
          </a:xfrm>
          <a:prstGeom prst="rect">
            <a:avLst/>
          </a:prstGeom>
        </p:spPr>
      </p:pic>
      <p:sp>
        <p:nvSpPr>
          <p:cNvPr id="33" name="Text 26"/>
          <p:cNvSpPr txBox="1"/>
          <p:nvPr/>
        </p:nvSpPr>
        <p:spPr>
          <a:xfrm>
            <a:off x="5962802" y="5188306"/>
            <a:ext cx="1834286"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要撮影ポイントを事前設定し</a:t>
            </a:r>
            <a:endParaRPr lang="en-US" sz="1000" dirty="0"/>
          </a:p>
        </p:txBody>
      </p:sp>
      <p:sp>
        <p:nvSpPr>
          <p:cNvPr id="34" name="Text 27"/>
          <p:cNvSpPr txBox="1"/>
          <p:nvPr/>
        </p:nvSpPr>
        <p:spPr>
          <a:xfrm>
            <a:off x="5962802" y="5188306"/>
            <a:ext cx="5511089" cy="381305"/>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。チーム内で撮影状況も共有できるため、再訪問の手間を削減できます。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7381951"/>
          </a:xfrm>
          <a:prstGeom prst="rect">
            <a:avLst/>
          </a:prstGeom>
          <a:solidFill>
            <a:srgbClr val="FFFFFF"/>
          </a:solidFill>
          <a:ln/>
        </p:spPr>
      </p:sp>
      <p:sp>
        <p:nvSpPr>
          <p:cNvPr id="3" name="Shape 1"/>
          <p:cNvSpPr/>
          <p:nvPr/>
        </p:nvSpPr>
        <p:spPr>
          <a:xfrm>
            <a:off x="0" y="0"/>
            <a:ext cx="12191695" cy="7381951"/>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43154"/>
            <a:ext cx="5334610"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Phase2 共有チェックリスト画面</a:t>
            </a:r>
            <a:endParaRPr lang="en-US" sz="2700" dirty="0"/>
          </a:p>
        </p:txBody>
      </p:sp>
      <p:sp>
        <p:nvSpPr>
          <p:cNvPr id="6" name="Shape 4"/>
          <p:cNvSpPr/>
          <p:nvPr/>
        </p:nvSpPr>
        <p:spPr>
          <a:xfrm>
            <a:off x="5976518" y="571500"/>
            <a:ext cx="1104595" cy="437998"/>
          </a:xfrm>
          <a:prstGeom prst="roundRect">
            <a:avLst>
              <a:gd name="adj" fmla="val 90769"/>
            </a:avLst>
          </a:prstGeom>
          <a:solidFill>
            <a:srgbClr val="FFC400"/>
          </a:solidFill>
          <a:ln/>
        </p:spPr>
      </p:sp>
      <p:sp>
        <p:nvSpPr>
          <p:cNvPr id="7" name="Text 5"/>
          <p:cNvSpPr txBox="1"/>
          <p:nvPr/>
        </p:nvSpPr>
        <p:spPr>
          <a:xfrm>
            <a:off x="6167628" y="647395"/>
            <a:ext cx="866851"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Phase 2</a:t>
            </a:r>
            <a:endParaRPr lang="en-US" sz="1500" dirty="0"/>
          </a:p>
        </p:txBody>
      </p:sp>
      <p:sp>
        <p:nvSpPr>
          <p:cNvPr id="8" name="Shape 6"/>
          <p:cNvSpPr/>
          <p:nvPr/>
        </p:nvSpPr>
        <p:spPr>
          <a:xfrm>
            <a:off x="761695" y="1248156"/>
            <a:ext cx="10668305" cy="418795"/>
          </a:xfrm>
          <a:prstGeom prst="rect">
            <a:avLst/>
          </a:prstGeom>
          <a:solidFill>
            <a:srgbClr val="F0F9FF"/>
          </a:solidFill>
          <a:ln/>
        </p:spPr>
      </p:sp>
      <p:sp>
        <p:nvSpPr>
          <p:cNvPr id="9" name="Shape 7"/>
          <p:cNvSpPr/>
          <p:nvPr/>
        </p:nvSpPr>
        <p:spPr>
          <a:xfrm>
            <a:off x="761695" y="1248156"/>
            <a:ext cx="47549" cy="418795"/>
          </a:xfrm>
          <a:prstGeom prst="rect">
            <a:avLst/>
          </a:prstGeom>
          <a:solidFill>
            <a:srgbClr val="005BAC"/>
          </a:solidFill>
          <a:ln/>
        </p:spPr>
      </p:sp>
      <p:sp>
        <p:nvSpPr>
          <p:cNvPr id="10" name="Text 8"/>
          <p:cNvSpPr txBox="1"/>
          <p:nvPr/>
        </p:nvSpPr>
        <p:spPr>
          <a:xfrm>
            <a:off x="952805" y="1343254"/>
            <a:ext cx="7277710"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チーム全体の作業進捗をリアルタイムで把握し、現場での撮影漏れや作業遅延を防止する強力な共有機能</a:t>
            </a:r>
            <a:endParaRPr lang="en-US" sz="1200" dirty="0"/>
          </a:p>
        </p:txBody>
      </p:sp>
      <p:pic>
        <p:nvPicPr>
          <p:cNvPr id="11" name="Image 0" descr="https://page.gensparksite.com/v1/base64_upload/ec30a9c63b2c8afe8795e5ae53ae5b47">    </p:cNvPr>
          <p:cNvPicPr>
            <a:picLocks noChangeAspect="1"/>
          </p:cNvPicPr>
          <p:nvPr/>
        </p:nvPicPr>
        <p:blipFill>
          <a:blip r:embed="rId1"/>
          <a:srcRect l="34855" r="34855" t="0" b="0"/>
          <a:stretch/>
        </p:blipFill>
        <p:spPr>
          <a:xfrm>
            <a:off x="2361895" y="1857146"/>
            <a:ext cx="2667305" cy="4953305"/>
          </a:xfrm>
          <a:prstGeom prst="rect">
            <a:avLst/>
          </a:prstGeom>
        </p:spPr>
      </p:pic>
      <p:sp>
        <p:nvSpPr>
          <p:cNvPr id="12" name="Shape 9"/>
          <p:cNvSpPr/>
          <p:nvPr/>
        </p:nvSpPr>
        <p:spPr>
          <a:xfrm>
            <a:off x="6915607" y="1857146"/>
            <a:ext cx="437998" cy="437998"/>
          </a:xfrm>
          <a:prstGeom prst="ellipse">
            <a:avLst/>
          </a:prstGeom>
          <a:solidFill>
            <a:srgbClr val="005BAC"/>
          </a:solidFill>
          <a:ln/>
        </p:spPr>
      </p:sp>
      <p:pic>
        <p:nvPicPr>
          <p:cNvPr id="13" name="Image 1" descr="preencoded.png">    </p:cNvPr>
          <p:cNvPicPr>
            <a:picLocks noChangeAspect="1"/>
          </p:cNvPicPr>
          <p:nvPr/>
        </p:nvPicPr>
        <p:blipFill>
          <a:blip r:embed="rId2"/>
          <a:srcRect l="0" r="0" t="0" b="0"/>
          <a:stretch/>
        </p:blipFill>
        <p:spPr>
          <a:xfrm>
            <a:off x="7029907" y="1971446"/>
            <a:ext cx="209398" cy="209398"/>
          </a:xfrm>
          <a:prstGeom prst="rect">
            <a:avLst/>
          </a:prstGeom>
        </p:spPr>
      </p:pic>
      <p:sp>
        <p:nvSpPr>
          <p:cNvPr id="14" name="Shape 10"/>
          <p:cNvSpPr/>
          <p:nvPr/>
        </p:nvSpPr>
        <p:spPr>
          <a:xfrm>
            <a:off x="6915607" y="2819095"/>
            <a:ext cx="437998" cy="437998"/>
          </a:xfrm>
          <a:prstGeom prst="ellipse">
            <a:avLst/>
          </a:prstGeom>
          <a:solidFill>
            <a:srgbClr val="005BAC"/>
          </a:solidFill>
          <a:ln/>
        </p:spPr>
      </p:sp>
      <p:sp>
        <p:nvSpPr>
          <p:cNvPr id="15" name="Shape 11"/>
          <p:cNvSpPr/>
          <p:nvPr/>
        </p:nvSpPr>
        <p:spPr>
          <a:xfrm>
            <a:off x="6915607" y="3771900"/>
            <a:ext cx="437998" cy="437998"/>
          </a:xfrm>
          <a:prstGeom prst="ellipse">
            <a:avLst/>
          </a:prstGeom>
          <a:solidFill>
            <a:srgbClr val="005BAC"/>
          </a:solidFill>
          <a:ln/>
        </p:spPr>
      </p:sp>
      <p:sp>
        <p:nvSpPr>
          <p:cNvPr id="16" name="Shape 12"/>
          <p:cNvSpPr/>
          <p:nvPr/>
        </p:nvSpPr>
        <p:spPr>
          <a:xfrm>
            <a:off x="6915607" y="4733849"/>
            <a:ext cx="437998" cy="437998"/>
          </a:xfrm>
          <a:prstGeom prst="ellipse">
            <a:avLst/>
          </a:prstGeom>
          <a:solidFill>
            <a:srgbClr val="005BAC"/>
          </a:solidFill>
          <a:ln/>
        </p:spPr>
      </p:sp>
      <p:sp>
        <p:nvSpPr>
          <p:cNvPr id="17" name="Text 13"/>
          <p:cNvSpPr txBox="1"/>
          <p:nvPr/>
        </p:nvSpPr>
        <p:spPr>
          <a:xfrm>
            <a:off x="7496251" y="1857146"/>
            <a:ext cx="18434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リアルタイム進捗管理</a:t>
            </a:r>
            <a:endParaRPr lang="en-US" sz="1300" dirty="0"/>
          </a:p>
        </p:txBody>
      </p:sp>
      <p:sp>
        <p:nvSpPr>
          <p:cNvPr id="18" name="Text 14"/>
          <p:cNvSpPr txBox="1"/>
          <p:nvPr/>
        </p:nvSpPr>
        <p:spPr>
          <a:xfrm>
            <a:off x="7496251" y="2819095"/>
            <a:ext cx="21863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チェック項目の視覚的表示</a:t>
            </a:r>
            <a:endParaRPr lang="en-US" sz="1300" dirty="0"/>
          </a:p>
        </p:txBody>
      </p:sp>
      <p:sp>
        <p:nvSpPr>
          <p:cNvPr id="19" name="Text 15"/>
          <p:cNvSpPr txBox="1"/>
          <p:nvPr/>
        </p:nvSpPr>
        <p:spPr>
          <a:xfrm>
            <a:off x="7496251" y="3771900"/>
            <a:ext cx="16724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チーム全体での共有</a:t>
            </a:r>
            <a:endParaRPr lang="en-US" sz="1300" dirty="0"/>
          </a:p>
        </p:txBody>
      </p:sp>
      <p:sp>
        <p:nvSpPr>
          <p:cNvPr id="20" name="Shape 16"/>
          <p:cNvSpPr/>
          <p:nvPr/>
        </p:nvSpPr>
        <p:spPr>
          <a:xfrm>
            <a:off x="9301277" y="1886407"/>
            <a:ext cx="923544" cy="237744"/>
          </a:xfrm>
          <a:prstGeom prst="roundRect">
            <a:avLst>
              <a:gd name="adj" fmla="val 184615"/>
            </a:avLst>
          </a:prstGeom>
          <a:solidFill>
            <a:srgbClr val="FFC400"/>
          </a:solidFill>
          <a:ln/>
        </p:spPr>
      </p:sp>
      <p:sp>
        <p:nvSpPr>
          <p:cNvPr id="21" name="Shape 17"/>
          <p:cNvSpPr/>
          <p:nvPr/>
        </p:nvSpPr>
        <p:spPr>
          <a:xfrm>
            <a:off x="9129370" y="3800246"/>
            <a:ext cx="923544" cy="237744"/>
          </a:xfrm>
          <a:prstGeom prst="roundRect">
            <a:avLst>
              <a:gd name="adj" fmla="val 184615"/>
            </a:avLst>
          </a:prstGeom>
          <a:solidFill>
            <a:srgbClr val="FFC400"/>
          </a:solidFill>
          <a:ln/>
        </p:spPr>
      </p:sp>
      <p:sp>
        <p:nvSpPr>
          <p:cNvPr id="22" name="Text 18"/>
          <p:cNvSpPr txBox="1"/>
          <p:nvPr/>
        </p:nvSpPr>
        <p:spPr>
          <a:xfrm>
            <a:off x="9396374" y="1904695"/>
            <a:ext cx="833933"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Phase2機能</a:t>
            </a:r>
            <a:endParaRPr lang="en-US" sz="1000" dirty="0"/>
          </a:p>
        </p:txBody>
      </p:sp>
      <p:sp>
        <p:nvSpPr>
          <p:cNvPr id="23" name="Text 19"/>
          <p:cNvSpPr txBox="1"/>
          <p:nvPr/>
        </p:nvSpPr>
        <p:spPr>
          <a:xfrm>
            <a:off x="9224467" y="3819449"/>
            <a:ext cx="833933"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Phase2機能</a:t>
            </a:r>
            <a:endParaRPr lang="en-US" sz="1000" dirty="0"/>
          </a:p>
        </p:txBody>
      </p:sp>
      <p:sp>
        <p:nvSpPr>
          <p:cNvPr id="24" name="Text 20"/>
          <p:cNvSpPr txBox="1"/>
          <p:nvPr/>
        </p:nvSpPr>
        <p:spPr>
          <a:xfrm>
            <a:off x="7496251" y="2171700"/>
            <a:ext cx="3934663"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進捗率と完了件数を視覚的に表示し、調査状況を一目で把握</a:t>
            </a:r>
            <a:endParaRPr lang="en-US" sz="1200" dirty="0"/>
          </a:p>
        </p:txBody>
      </p:sp>
      <p:pic>
        <p:nvPicPr>
          <p:cNvPr id="25" name="Image 2" descr="preencoded.png">    </p:cNvPr>
          <p:cNvPicPr>
            <a:picLocks noChangeAspect="1"/>
          </p:cNvPicPr>
          <p:nvPr/>
        </p:nvPicPr>
        <p:blipFill>
          <a:blip r:embed="rId3"/>
          <a:srcRect l="0" r="0" t="-600" b="-600"/>
          <a:stretch/>
        </p:blipFill>
        <p:spPr>
          <a:xfrm>
            <a:off x="7043623" y="2933395"/>
            <a:ext cx="181051" cy="209398"/>
          </a:xfrm>
          <a:prstGeom prst="rect">
            <a:avLst/>
          </a:prstGeom>
        </p:spPr>
      </p:pic>
      <p:sp>
        <p:nvSpPr>
          <p:cNvPr id="26" name="Text 21"/>
          <p:cNvSpPr txBox="1"/>
          <p:nvPr/>
        </p:nvSpPr>
        <p:spPr>
          <a:xfrm>
            <a:off x="7496251" y="3124505"/>
            <a:ext cx="3934663"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完了・未完了を色分け表示し、重要度や期限も一目で確認可能</a:t>
            </a:r>
            <a:endParaRPr lang="en-US" sz="1200" dirty="0"/>
          </a:p>
        </p:txBody>
      </p:sp>
      <p:pic>
        <p:nvPicPr>
          <p:cNvPr id="27" name="Image 3" descr="preencoded.png">    </p:cNvPr>
          <p:cNvPicPr>
            <a:picLocks noChangeAspect="1"/>
          </p:cNvPicPr>
          <p:nvPr/>
        </p:nvPicPr>
        <p:blipFill>
          <a:blip r:embed="rId4"/>
          <a:srcRect l="-1004" r="-1004" t="0" b="0"/>
          <a:stretch/>
        </p:blipFill>
        <p:spPr>
          <a:xfrm>
            <a:off x="7000646" y="3886200"/>
            <a:ext cx="267005" cy="209398"/>
          </a:xfrm>
          <a:prstGeom prst="rect">
            <a:avLst/>
          </a:prstGeom>
        </p:spPr>
      </p:pic>
      <p:sp>
        <p:nvSpPr>
          <p:cNvPr id="28" name="Text 22"/>
          <p:cNvSpPr txBox="1"/>
          <p:nvPr/>
        </p:nvSpPr>
        <p:spPr>
          <a:xfrm>
            <a:off x="7496251" y="4086454"/>
            <a:ext cx="3924605"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全メンバーの進捗をリアルタイムで共有し、抜け漏れを防止</a:t>
            </a:r>
            <a:endParaRPr lang="en-US" sz="1200" dirty="0"/>
          </a:p>
        </p:txBody>
      </p:sp>
      <p:pic>
        <p:nvPicPr>
          <p:cNvPr id="29" name="Image 4" descr="preencoded.png">    </p:cNvPr>
          <p:cNvPicPr>
            <a:picLocks noChangeAspect="1"/>
          </p:cNvPicPr>
          <p:nvPr/>
        </p:nvPicPr>
        <p:blipFill>
          <a:blip r:embed="rId5"/>
          <a:srcRect l="-1528" r="-1528" t="0" b="0"/>
          <a:stretch/>
        </p:blipFill>
        <p:spPr>
          <a:xfrm>
            <a:off x="7053682" y="4848149"/>
            <a:ext cx="161849" cy="209398"/>
          </a:xfrm>
          <a:prstGeom prst="rect">
            <a:avLst/>
          </a:prstGeom>
        </p:spPr>
      </p:pic>
      <p:sp>
        <p:nvSpPr>
          <p:cNvPr id="30" name="Text 23"/>
          <p:cNvSpPr txBox="1"/>
          <p:nvPr/>
        </p:nvSpPr>
        <p:spPr>
          <a:xfrm>
            <a:off x="7496251" y="4733849"/>
            <a:ext cx="13295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オフライン対応</a:t>
            </a:r>
            <a:endParaRPr lang="en-US" sz="1300" dirty="0"/>
          </a:p>
        </p:txBody>
      </p:sp>
      <p:sp>
        <p:nvSpPr>
          <p:cNvPr id="31" name="Text 24"/>
          <p:cNvSpPr txBox="1"/>
          <p:nvPr/>
        </p:nvSpPr>
        <p:spPr>
          <a:xfrm>
            <a:off x="7496251" y="5038344"/>
            <a:ext cx="3934663"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ネットワーク復帰時に自動同期され、現場での作業効率を維持</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3239598"/>
          </a:xfrm>
          <a:prstGeom prst="rect">
            <a:avLst/>
          </a:prstGeom>
          <a:solidFill>
            <a:srgbClr val="FFFFFF"/>
          </a:solidFill>
          <a:ln/>
        </p:spPr>
      </p:sp>
      <p:sp>
        <p:nvSpPr>
          <p:cNvPr id="3" name="Shape 1"/>
          <p:cNvSpPr/>
          <p:nvPr/>
        </p:nvSpPr>
        <p:spPr>
          <a:xfrm>
            <a:off x="0" y="0"/>
            <a:ext cx="12191695" cy="13239598"/>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4144061"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Webシステム ホーム画面</a:t>
            </a:r>
            <a:endParaRPr lang="en-US" sz="2700" dirty="0"/>
          </a:p>
        </p:txBody>
      </p:sp>
      <p:pic>
        <p:nvPicPr>
          <p:cNvPr id="6" name="Image 0" descr="https://page.gensparksite.com/v1/base64_upload/d7ea83a76b0bac6808b8db0f81f445f3">    </p:cNvPr>
          <p:cNvPicPr>
            <a:picLocks noChangeAspect="1"/>
          </p:cNvPicPr>
          <p:nvPr/>
        </p:nvPicPr>
        <p:blipFill>
          <a:blip r:embed="rId1"/>
          <a:srcRect l="0" r="0" t="2" b="2"/>
          <a:stretch/>
        </p:blipFill>
        <p:spPr>
          <a:xfrm>
            <a:off x="761695" y="1429207"/>
            <a:ext cx="9753905" cy="5486400"/>
          </a:xfrm>
          <a:prstGeom prst="rect">
            <a:avLst/>
          </a:prstGeom>
        </p:spPr>
      </p:pic>
      <p:sp>
        <p:nvSpPr>
          <p:cNvPr id="7" name="Text 4"/>
          <p:cNvSpPr txBox="1"/>
          <p:nvPr/>
        </p:nvSpPr>
        <p:spPr>
          <a:xfrm>
            <a:off x="761695" y="7210044"/>
            <a:ext cx="10130638"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Webシステムでは、以下の4つの主要機能を直感的なカード形式で提供しています。各機能はクリックで簡単にアクセス可能です。</a:t>
            </a:r>
            <a:endParaRPr lang="en-US" sz="1300" dirty="0"/>
          </a:p>
        </p:txBody>
      </p:sp>
      <p:sp>
        <p:nvSpPr>
          <p:cNvPr id="8" name="Shape 5"/>
          <p:cNvSpPr/>
          <p:nvPr/>
        </p:nvSpPr>
        <p:spPr>
          <a:xfrm>
            <a:off x="761695" y="7753198"/>
            <a:ext cx="5191049" cy="2314346"/>
          </a:xfrm>
          <a:prstGeom prst="roundRect">
            <a:avLst>
              <a:gd name="adj" fmla="val 1626"/>
            </a:avLst>
          </a:prstGeom>
          <a:solidFill>
            <a:srgbClr val="F9F9F9"/>
          </a:solidFill>
          <a:ln w="12700">
            <a:solidFill>
              <a:srgbClr val="E0E0E0"/>
            </a:solidFill>
            <a:prstDash val="solid"/>
          </a:ln>
        </p:spPr>
      </p:sp>
      <p:sp>
        <p:nvSpPr>
          <p:cNvPr id="9" name="Shape 6"/>
          <p:cNvSpPr/>
          <p:nvPr/>
        </p:nvSpPr>
        <p:spPr>
          <a:xfrm>
            <a:off x="6238951" y="7753198"/>
            <a:ext cx="5191049" cy="2314346"/>
          </a:xfrm>
          <a:prstGeom prst="roundRect">
            <a:avLst>
              <a:gd name="adj" fmla="val 1626"/>
            </a:avLst>
          </a:prstGeom>
          <a:solidFill>
            <a:srgbClr val="F9F9F9"/>
          </a:solidFill>
          <a:ln w="12700">
            <a:solidFill>
              <a:srgbClr val="E0E0E0"/>
            </a:solidFill>
            <a:prstDash val="solid"/>
          </a:ln>
        </p:spPr>
      </p:sp>
      <p:sp>
        <p:nvSpPr>
          <p:cNvPr id="10" name="Shape 7"/>
          <p:cNvSpPr/>
          <p:nvPr/>
        </p:nvSpPr>
        <p:spPr>
          <a:xfrm>
            <a:off x="5095037" y="7877556"/>
            <a:ext cx="743407" cy="276149"/>
          </a:xfrm>
          <a:prstGeom prst="roundRect">
            <a:avLst>
              <a:gd name="adj" fmla="val 171272"/>
            </a:avLst>
          </a:prstGeom>
          <a:solidFill>
            <a:srgbClr val="005BAC"/>
          </a:solidFill>
          <a:ln/>
        </p:spPr>
      </p:sp>
      <p:sp>
        <p:nvSpPr>
          <p:cNvPr id="11" name="Text 8"/>
          <p:cNvSpPr txBox="1"/>
          <p:nvPr/>
        </p:nvSpPr>
        <p:spPr>
          <a:xfrm>
            <a:off x="5209337" y="7915046"/>
            <a:ext cx="614477"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Phase 1</a:t>
            </a:r>
            <a:endParaRPr lang="en-US" sz="1000" dirty="0"/>
          </a:p>
        </p:txBody>
      </p:sp>
      <p:sp>
        <p:nvSpPr>
          <p:cNvPr id="12" name="Shape 9"/>
          <p:cNvSpPr/>
          <p:nvPr/>
        </p:nvSpPr>
        <p:spPr>
          <a:xfrm>
            <a:off x="961949" y="7953451"/>
            <a:ext cx="381305" cy="381305"/>
          </a:xfrm>
          <a:prstGeom prst="roundRect">
            <a:avLst>
              <a:gd name="adj" fmla="val 47962"/>
            </a:avLst>
          </a:prstGeom>
          <a:solidFill>
            <a:srgbClr val="005BAC"/>
          </a:solidFill>
          <a:ln/>
        </p:spPr>
      </p:sp>
      <p:pic>
        <p:nvPicPr>
          <p:cNvPr id="13" name="Image 1" descr="preencoded.png">    </p:cNvPr>
          <p:cNvPicPr>
            <a:picLocks noChangeAspect="1"/>
          </p:cNvPicPr>
          <p:nvPr/>
        </p:nvPicPr>
        <p:blipFill>
          <a:blip r:embed="rId2"/>
          <a:srcRect l="-1773" r="-1773" t="0" b="0"/>
          <a:stretch/>
        </p:blipFill>
        <p:spPr>
          <a:xfrm>
            <a:off x="1086307" y="8058607"/>
            <a:ext cx="133502" cy="171907"/>
          </a:xfrm>
          <a:prstGeom prst="rect">
            <a:avLst/>
          </a:prstGeom>
        </p:spPr>
      </p:pic>
      <p:sp>
        <p:nvSpPr>
          <p:cNvPr id="14" name="Text 10"/>
          <p:cNvSpPr txBox="1"/>
          <p:nvPr/>
        </p:nvSpPr>
        <p:spPr>
          <a:xfrm>
            <a:off x="1485900" y="8029346"/>
            <a:ext cx="886054"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報告書編集</a:t>
            </a:r>
            <a:endParaRPr lang="en-US" sz="1200" dirty="0"/>
          </a:p>
        </p:txBody>
      </p:sp>
      <p:sp>
        <p:nvSpPr>
          <p:cNvPr id="15" name="Text 11"/>
          <p:cNvSpPr txBox="1"/>
          <p:nvPr/>
        </p:nvSpPr>
        <p:spPr>
          <a:xfrm>
            <a:off x="1485900" y="8438998"/>
            <a:ext cx="4368089" cy="409651"/>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撮影した写真を自動でマップ上に配置。直感的な操作で高品質な報告書を素早く作成できます。</a:t>
            </a:r>
            <a:endParaRPr lang="en-US" sz="1000" dirty="0"/>
          </a:p>
        </p:txBody>
      </p:sp>
      <p:pic>
        <p:nvPicPr>
          <p:cNvPr id="16" name="Image 2" descr="preencoded.png">    </p:cNvPr>
          <p:cNvPicPr>
            <a:picLocks noChangeAspect="1"/>
          </p:cNvPicPr>
          <p:nvPr/>
        </p:nvPicPr>
        <p:blipFill>
          <a:blip r:embed="rId3"/>
          <a:srcRect l="0" r="0" t="-1100" b="-1100"/>
          <a:stretch/>
        </p:blipFill>
        <p:spPr>
          <a:xfrm>
            <a:off x="1485900" y="9015984"/>
            <a:ext cx="114300" cy="133502"/>
          </a:xfrm>
          <a:prstGeom prst="rect">
            <a:avLst/>
          </a:prstGeom>
        </p:spPr>
      </p:pic>
      <p:sp>
        <p:nvSpPr>
          <p:cNvPr id="17" name="Text 12"/>
          <p:cNvSpPr txBox="1"/>
          <p:nvPr/>
        </p:nvSpPr>
        <p:spPr>
          <a:xfrm>
            <a:off x="1676095" y="8951976"/>
            <a:ext cx="1567282"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写真位置の自動プロット</a:t>
            </a:r>
            <a:endParaRPr lang="en-US" sz="1000" dirty="0"/>
          </a:p>
        </p:txBody>
      </p:sp>
      <p:pic>
        <p:nvPicPr>
          <p:cNvPr id="18" name="Image 3" descr="preencoded.png">    </p:cNvPr>
          <p:cNvPicPr>
            <a:picLocks noChangeAspect="1"/>
          </p:cNvPicPr>
          <p:nvPr/>
        </p:nvPicPr>
        <p:blipFill>
          <a:blip r:embed="rId4"/>
          <a:srcRect l="0" r="0" t="-1100" b="-1100"/>
          <a:stretch/>
        </p:blipFill>
        <p:spPr>
          <a:xfrm>
            <a:off x="1485900" y="9320479"/>
            <a:ext cx="114300" cy="133502"/>
          </a:xfrm>
          <a:prstGeom prst="rect">
            <a:avLst/>
          </a:prstGeom>
        </p:spPr>
      </p:pic>
      <p:sp>
        <p:nvSpPr>
          <p:cNvPr id="19" name="Text 13"/>
          <p:cNvSpPr txBox="1"/>
          <p:nvPr/>
        </p:nvSpPr>
        <p:spPr>
          <a:xfrm>
            <a:off x="1676095" y="9256471"/>
            <a:ext cx="900684"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編集履歴管理</a:t>
            </a:r>
            <a:endParaRPr lang="en-US" sz="1000" dirty="0"/>
          </a:p>
        </p:txBody>
      </p:sp>
      <p:pic>
        <p:nvPicPr>
          <p:cNvPr id="20" name="Image 4" descr="preencoded.png">    </p:cNvPr>
          <p:cNvPicPr>
            <a:picLocks noChangeAspect="1"/>
          </p:cNvPicPr>
          <p:nvPr/>
        </p:nvPicPr>
        <p:blipFill>
          <a:blip r:embed="rId5"/>
          <a:srcRect l="0" r="0" t="-1100" b="-1100"/>
          <a:stretch/>
        </p:blipFill>
        <p:spPr>
          <a:xfrm>
            <a:off x="1485900" y="9625889"/>
            <a:ext cx="114300" cy="133502"/>
          </a:xfrm>
          <a:prstGeom prst="rect">
            <a:avLst/>
          </a:prstGeom>
        </p:spPr>
      </p:pic>
      <p:sp>
        <p:nvSpPr>
          <p:cNvPr id="21" name="Text 14"/>
          <p:cNvSpPr txBox="1"/>
          <p:nvPr/>
        </p:nvSpPr>
        <p:spPr>
          <a:xfrm>
            <a:off x="6963156" y="8029346"/>
            <a:ext cx="1191463"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承認フロー管理</a:t>
            </a:r>
            <a:endParaRPr lang="en-US" sz="1200" dirty="0"/>
          </a:p>
        </p:txBody>
      </p:sp>
      <p:sp>
        <p:nvSpPr>
          <p:cNvPr id="22" name="Text 15"/>
          <p:cNvSpPr txBox="1"/>
          <p:nvPr/>
        </p:nvSpPr>
        <p:spPr>
          <a:xfrm>
            <a:off x="6963156" y="8438998"/>
            <a:ext cx="4368089" cy="409651"/>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報告書の承認プロセスを視覚的に管理。適切な承認経路で品質を担保します。</a:t>
            </a:r>
            <a:endParaRPr lang="en-US" sz="1000" dirty="0"/>
          </a:p>
        </p:txBody>
      </p:sp>
      <p:sp>
        <p:nvSpPr>
          <p:cNvPr id="23" name="Text 16"/>
          <p:cNvSpPr txBox="1"/>
          <p:nvPr/>
        </p:nvSpPr>
        <p:spPr>
          <a:xfrm>
            <a:off x="1676095" y="9560966"/>
            <a:ext cx="1024128"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AI自動要約機能</a:t>
            </a:r>
            <a:endParaRPr lang="en-US" sz="1000" dirty="0"/>
          </a:p>
        </p:txBody>
      </p:sp>
      <p:sp>
        <p:nvSpPr>
          <p:cNvPr id="24" name="Text 17"/>
          <p:cNvSpPr txBox="1"/>
          <p:nvPr/>
        </p:nvSpPr>
        <p:spPr>
          <a:xfrm>
            <a:off x="7153351" y="9256471"/>
            <a:ext cx="1567282"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コメント・差し戻し機能</a:t>
            </a:r>
            <a:endParaRPr lang="en-US" sz="1000" dirty="0"/>
          </a:p>
        </p:txBody>
      </p:sp>
      <p:sp>
        <p:nvSpPr>
          <p:cNvPr id="25" name="Shape 18"/>
          <p:cNvSpPr/>
          <p:nvPr/>
        </p:nvSpPr>
        <p:spPr>
          <a:xfrm>
            <a:off x="10572293" y="7877556"/>
            <a:ext cx="743407" cy="276149"/>
          </a:xfrm>
          <a:prstGeom prst="roundRect">
            <a:avLst>
              <a:gd name="adj" fmla="val 171272"/>
            </a:avLst>
          </a:prstGeom>
          <a:solidFill>
            <a:srgbClr val="FFC400"/>
          </a:solidFill>
          <a:ln/>
        </p:spPr>
      </p:sp>
      <p:sp>
        <p:nvSpPr>
          <p:cNvPr id="26" name="Text 19"/>
          <p:cNvSpPr txBox="1"/>
          <p:nvPr/>
        </p:nvSpPr>
        <p:spPr>
          <a:xfrm>
            <a:off x="10686593" y="7915046"/>
            <a:ext cx="614477" cy="191110"/>
          </a:xfrm>
          <a:prstGeom prst="rect">
            <a:avLst/>
          </a:prstGeom>
          <a:noFill/>
          <a:ln/>
        </p:spPr>
        <p:txBody>
          <a:bodyPr wrap="square" lIns="0" tIns="0" rIns="0" bIns="0" rtlCol="0" anchor="ctr"/>
          <a:lstStyle/>
          <a:p>
            <a:pPr algn="l" indent="0" marL="0">
              <a:buNone/>
            </a:pPr>
            <a:r>
              <a:rPr lang="en-US" sz="1000" b="1" dirty="0">
                <a:solidFill>
                  <a:srgbClr val="333333"/>
                </a:solidFill>
                <a:latin typeface="Noto Sans JP" pitchFamily="34" charset="0"/>
                <a:ea typeface="Noto Sans JP" pitchFamily="34" charset="-122"/>
                <a:cs typeface="Noto Sans JP" pitchFamily="34" charset="-120"/>
              </a:rPr>
              <a:t>Phase 2</a:t>
            </a:r>
            <a:endParaRPr lang="en-US" sz="1000" dirty="0"/>
          </a:p>
        </p:txBody>
      </p:sp>
      <p:sp>
        <p:nvSpPr>
          <p:cNvPr id="27" name="Shape 20"/>
          <p:cNvSpPr/>
          <p:nvPr/>
        </p:nvSpPr>
        <p:spPr>
          <a:xfrm>
            <a:off x="6439205" y="7953451"/>
            <a:ext cx="381305" cy="381305"/>
          </a:xfrm>
          <a:prstGeom prst="roundRect">
            <a:avLst>
              <a:gd name="adj" fmla="val 47962"/>
            </a:avLst>
          </a:prstGeom>
          <a:solidFill>
            <a:srgbClr val="FF9800"/>
          </a:solidFill>
          <a:ln/>
        </p:spPr>
      </p:sp>
      <p:pic>
        <p:nvPicPr>
          <p:cNvPr id="28" name="Image 5" descr="preencoded.png">    </p:cNvPr>
          <p:cNvPicPr>
            <a:picLocks noChangeAspect="1"/>
          </p:cNvPicPr>
          <p:nvPr/>
        </p:nvPicPr>
        <p:blipFill>
          <a:blip r:embed="rId6"/>
          <a:srcRect l="0" r="0" t="0" b="0"/>
          <a:stretch/>
        </p:blipFill>
        <p:spPr>
          <a:xfrm>
            <a:off x="6543446" y="8058607"/>
            <a:ext cx="171907" cy="171907"/>
          </a:xfrm>
          <a:prstGeom prst="rect">
            <a:avLst/>
          </a:prstGeom>
        </p:spPr>
      </p:pic>
      <p:pic>
        <p:nvPicPr>
          <p:cNvPr id="29" name="Image 6" descr="preencoded.png">    </p:cNvPr>
          <p:cNvPicPr>
            <a:picLocks noChangeAspect="1"/>
          </p:cNvPicPr>
          <p:nvPr/>
        </p:nvPicPr>
        <p:blipFill>
          <a:blip r:embed="rId7"/>
          <a:srcRect l="0" r="0" t="-1100" b="-1100"/>
          <a:stretch/>
        </p:blipFill>
        <p:spPr>
          <a:xfrm>
            <a:off x="6963156" y="9015984"/>
            <a:ext cx="114300" cy="133502"/>
          </a:xfrm>
          <a:prstGeom prst="rect">
            <a:avLst/>
          </a:prstGeom>
        </p:spPr>
      </p:pic>
      <p:sp>
        <p:nvSpPr>
          <p:cNvPr id="30" name="Text 21"/>
          <p:cNvSpPr txBox="1"/>
          <p:nvPr/>
        </p:nvSpPr>
        <p:spPr>
          <a:xfrm>
            <a:off x="7153351" y="8951976"/>
            <a:ext cx="1167689"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多段階承認フロー</a:t>
            </a:r>
            <a:endParaRPr lang="en-US" sz="1000" dirty="0"/>
          </a:p>
        </p:txBody>
      </p:sp>
      <p:pic>
        <p:nvPicPr>
          <p:cNvPr id="31" name="Image 7" descr="preencoded.png">    </p:cNvPr>
          <p:cNvPicPr>
            <a:picLocks noChangeAspect="1"/>
          </p:cNvPicPr>
          <p:nvPr/>
        </p:nvPicPr>
        <p:blipFill>
          <a:blip r:embed="rId8"/>
          <a:srcRect l="0" r="0" t="-1100" b="-1100"/>
          <a:stretch/>
        </p:blipFill>
        <p:spPr>
          <a:xfrm>
            <a:off x="6963156" y="9320479"/>
            <a:ext cx="114300" cy="133502"/>
          </a:xfrm>
          <a:prstGeom prst="rect">
            <a:avLst/>
          </a:prstGeom>
        </p:spPr>
      </p:pic>
      <p:pic>
        <p:nvPicPr>
          <p:cNvPr id="32" name="Image 8" descr="preencoded.png">    </p:cNvPr>
          <p:cNvPicPr>
            <a:picLocks noChangeAspect="1"/>
          </p:cNvPicPr>
          <p:nvPr/>
        </p:nvPicPr>
        <p:blipFill>
          <a:blip r:embed="rId9"/>
          <a:srcRect l="0" r="0" t="-1100" b="-1100"/>
          <a:stretch/>
        </p:blipFill>
        <p:spPr>
          <a:xfrm>
            <a:off x="6963156" y="9625889"/>
            <a:ext cx="114300" cy="133502"/>
          </a:xfrm>
          <a:prstGeom prst="rect">
            <a:avLst/>
          </a:prstGeom>
        </p:spPr>
      </p:pic>
      <p:sp>
        <p:nvSpPr>
          <p:cNvPr id="33" name="Shape 22"/>
          <p:cNvSpPr/>
          <p:nvPr/>
        </p:nvSpPr>
        <p:spPr>
          <a:xfrm>
            <a:off x="761695" y="10351922"/>
            <a:ext cx="5191049" cy="2314346"/>
          </a:xfrm>
          <a:prstGeom prst="roundRect">
            <a:avLst>
              <a:gd name="adj" fmla="val 1626"/>
            </a:avLst>
          </a:prstGeom>
          <a:solidFill>
            <a:srgbClr val="F9F9F9"/>
          </a:solidFill>
          <a:ln w="12700">
            <a:solidFill>
              <a:srgbClr val="E0E0E0"/>
            </a:solidFill>
            <a:prstDash val="solid"/>
          </a:ln>
        </p:spPr>
      </p:sp>
      <p:sp>
        <p:nvSpPr>
          <p:cNvPr id="34" name="Shape 23"/>
          <p:cNvSpPr/>
          <p:nvPr/>
        </p:nvSpPr>
        <p:spPr>
          <a:xfrm>
            <a:off x="6238951" y="10351922"/>
            <a:ext cx="5191049" cy="2314346"/>
          </a:xfrm>
          <a:prstGeom prst="roundRect">
            <a:avLst>
              <a:gd name="adj" fmla="val 1626"/>
            </a:avLst>
          </a:prstGeom>
          <a:solidFill>
            <a:srgbClr val="F9F9F9"/>
          </a:solidFill>
          <a:ln w="12700">
            <a:solidFill>
              <a:srgbClr val="E0E0E0"/>
            </a:solidFill>
            <a:prstDash val="solid"/>
          </a:ln>
        </p:spPr>
      </p:sp>
      <p:sp>
        <p:nvSpPr>
          <p:cNvPr id="35" name="Text 24"/>
          <p:cNvSpPr txBox="1"/>
          <p:nvPr/>
        </p:nvSpPr>
        <p:spPr>
          <a:xfrm>
            <a:off x="1485900" y="10628071"/>
            <a:ext cx="1028700"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ユーザー管理</a:t>
            </a:r>
            <a:endParaRPr lang="en-US" sz="1200" dirty="0"/>
          </a:p>
        </p:txBody>
      </p:sp>
      <p:sp>
        <p:nvSpPr>
          <p:cNvPr id="36" name="Text 25"/>
          <p:cNvSpPr txBox="1"/>
          <p:nvPr/>
        </p:nvSpPr>
        <p:spPr>
          <a:xfrm>
            <a:off x="6963156" y="10628071"/>
            <a:ext cx="734263"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権限管理</a:t>
            </a:r>
            <a:endParaRPr lang="en-US" sz="1200" dirty="0"/>
          </a:p>
        </p:txBody>
      </p:sp>
      <p:sp>
        <p:nvSpPr>
          <p:cNvPr id="37" name="Text 26"/>
          <p:cNvSpPr txBox="1"/>
          <p:nvPr/>
        </p:nvSpPr>
        <p:spPr>
          <a:xfrm>
            <a:off x="1485900" y="11037722"/>
            <a:ext cx="4358030" cy="409651"/>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チームメンバーの登録・編集・削除が簡単に行えます。適切な権限設定で業務を効率化。</a:t>
            </a:r>
            <a:endParaRPr lang="en-US" sz="1000" dirty="0"/>
          </a:p>
        </p:txBody>
      </p:sp>
      <p:sp>
        <p:nvSpPr>
          <p:cNvPr id="38" name="Text 27"/>
          <p:cNvSpPr txBox="1"/>
          <p:nvPr/>
        </p:nvSpPr>
        <p:spPr>
          <a:xfrm>
            <a:off x="6963156" y="11037722"/>
            <a:ext cx="4348886" cy="409651"/>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役割に応じた細かな権限設定が可能。情報セキュリティを確保しつつ、適切な業務分担を実現。</a:t>
            </a:r>
            <a:endParaRPr lang="en-US" sz="1000" dirty="0"/>
          </a:p>
        </p:txBody>
      </p:sp>
      <p:sp>
        <p:nvSpPr>
          <p:cNvPr id="39" name="Text 28"/>
          <p:cNvSpPr txBox="1"/>
          <p:nvPr/>
        </p:nvSpPr>
        <p:spPr>
          <a:xfrm>
            <a:off x="7153351" y="9560966"/>
            <a:ext cx="1433779"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報告書ステータス管理</a:t>
            </a:r>
            <a:endParaRPr lang="en-US" sz="1000" dirty="0"/>
          </a:p>
        </p:txBody>
      </p:sp>
      <p:sp>
        <p:nvSpPr>
          <p:cNvPr id="40" name="Text 29"/>
          <p:cNvSpPr txBox="1"/>
          <p:nvPr/>
        </p:nvSpPr>
        <p:spPr>
          <a:xfrm>
            <a:off x="1676095" y="11550701"/>
            <a:ext cx="1700784"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ユーザー登録・編集・削除</a:t>
            </a:r>
            <a:endParaRPr lang="en-US" sz="1000" dirty="0"/>
          </a:p>
        </p:txBody>
      </p:sp>
      <p:sp>
        <p:nvSpPr>
          <p:cNvPr id="41" name="Text 30"/>
          <p:cNvSpPr txBox="1"/>
          <p:nvPr/>
        </p:nvSpPr>
        <p:spPr>
          <a:xfrm>
            <a:off x="1676095" y="11855196"/>
            <a:ext cx="2414930"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ロール設定（管理者/マネージャー等）</a:t>
            </a:r>
            <a:endParaRPr lang="en-US" sz="1000" dirty="0"/>
          </a:p>
        </p:txBody>
      </p:sp>
      <p:sp>
        <p:nvSpPr>
          <p:cNvPr id="42" name="Text 31"/>
          <p:cNvSpPr txBox="1"/>
          <p:nvPr/>
        </p:nvSpPr>
        <p:spPr>
          <a:xfrm>
            <a:off x="1676095" y="12159691"/>
            <a:ext cx="1300277"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作成報告書数の確認</a:t>
            </a:r>
            <a:endParaRPr lang="en-US" sz="1000" dirty="0"/>
          </a:p>
        </p:txBody>
      </p:sp>
      <p:sp>
        <p:nvSpPr>
          <p:cNvPr id="43" name="Text 32"/>
          <p:cNvSpPr txBox="1"/>
          <p:nvPr/>
        </p:nvSpPr>
        <p:spPr>
          <a:xfrm>
            <a:off x="7153351" y="11550701"/>
            <a:ext cx="1567282"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ロール別権限マトリクス</a:t>
            </a:r>
            <a:endParaRPr lang="en-US" sz="1000" dirty="0"/>
          </a:p>
        </p:txBody>
      </p:sp>
      <p:sp>
        <p:nvSpPr>
          <p:cNvPr id="44" name="Text 33"/>
          <p:cNvSpPr txBox="1"/>
          <p:nvPr/>
        </p:nvSpPr>
        <p:spPr>
          <a:xfrm>
            <a:off x="7153351" y="11855196"/>
            <a:ext cx="1567282"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機能ごとのアクセス制限</a:t>
            </a:r>
            <a:endParaRPr lang="en-US" sz="1000" dirty="0"/>
          </a:p>
        </p:txBody>
      </p:sp>
      <p:sp>
        <p:nvSpPr>
          <p:cNvPr id="45" name="Shape 34"/>
          <p:cNvSpPr/>
          <p:nvPr/>
        </p:nvSpPr>
        <p:spPr>
          <a:xfrm>
            <a:off x="5095037" y="10475366"/>
            <a:ext cx="743407" cy="276149"/>
          </a:xfrm>
          <a:prstGeom prst="roundRect">
            <a:avLst>
              <a:gd name="adj" fmla="val 171272"/>
            </a:avLst>
          </a:prstGeom>
          <a:solidFill>
            <a:srgbClr val="FFC400"/>
          </a:solidFill>
          <a:ln/>
        </p:spPr>
      </p:sp>
      <p:sp>
        <p:nvSpPr>
          <p:cNvPr id="46" name="Text 35"/>
          <p:cNvSpPr txBox="1"/>
          <p:nvPr/>
        </p:nvSpPr>
        <p:spPr>
          <a:xfrm>
            <a:off x="5209337" y="10513771"/>
            <a:ext cx="614477" cy="191110"/>
          </a:xfrm>
          <a:prstGeom prst="rect">
            <a:avLst/>
          </a:prstGeom>
          <a:noFill/>
          <a:ln/>
        </p:spPr>
        <p:txBody>
          <a:bodyPr wrap="square" lIns="0" tIns="0" rIns="0" bIns="0" rtlCol="0" anchor="ctr"/>
          <a:lstStyle/>
          <a:p>
            <a:pPr algn="l" indent="0" marL="0">
              <a:buNone/>
            </a:pPr>
            <a:r>
              <a:rPr lang="en-US" sz="1000" b="1" dirty="0">
                <a:solidFill>
                  <a:srgbClr val="333333"/>
                </a:solidFill>
                <a:latin typeface="Noto Sans JP" pitchFamily="34" charset="0"/>
                <a:ea typeface="Noto Sans JP" pitchFamily="34" charset="-122"/>
                <a:cs typeface="Noto Sans JP" pitchFamily="34" charset="-120"/>
              </a:rPr>
              <a:t>Phase 2</a:t>
            </a:r>
            <a:endParaRPr lang="en-US" sz="1000" dirty="0"/>
          </a:p>
        </p:txBody>
      </p:sp>
      <p:sp>
        <p:nvSpPr>
          <p:cNvPr id="47" name="Shape 36"/>
          <p:cNvSpPr/>
          <p:nvPr/>
        </p:nvSpPr>
        <p:spPr>
          <a:xfrm>
            <a:off x="961949" y="10552176"/>
            <a:ext cx="381305" cy="381305"/>
          </a:xfrm>
          <a:prstGeom prst="roundRect">
            <a:avLst>
              <a:gd name="adj" fmla="val 47962"/>
            </a:avLst>
          </a:prstGeom>
          <a:solidFill>
            <a:srgbClr val="4CAF50"/>
          </a:solidFill>
          <a:ln/>
        </p:spPr>
      </p:sp>
      <p:pic>
        <p:nvPicPr>
          <p:cNvPr id="48" name="Image 9" descr="preencoded.png">    </p:cNvPr>
          <p:cNvPicPr>
            <a:picLocks noChangeAspect="1"/>
          </p:cNvPicPr>
          <p:nvPr/>
        </p:nvPicPr>
        <p:blipFill>
          <a:blip r:embed="rId10"/>
          <a:srcRect l="-1064" r="-1064" t="0" b="0"/>
          <a:stretch/>
        </p:blipFill>
        <p:spPr>
          <a:xfrm>
            <a:off x="1043330" y="10656418"/>
            <a:ext cx="219456" cy="171907"/>
          </a:xfrm>
          <a:prstGeom prst="rect">
            <a:avLst/>
          </a:prstGeom>
        </p:spPr>
      </p:pic>
      <p:pic>
        <p:nvPicPr>
          <p:cNvPr id="49" name="Image 10" descr="preencoded.png">    </p:cNvPr>
          <p:cNvPicPr>
            <a:picLocks noChangeAspect="1"/>
          </p:cNvPicPr>
          <p:nvPr/>
        </p:nvPicPr>
        <p:blipFill>
          <a:blip r:embed="rId11"/>
          <a:srcRect l="0" r="0" t="-1100" b="-1100"/>
          <a:stretch/>
        </p:blipFill>
        <p:spPr>
          <a:xfrm>
            <a:off x="1485900" y="11614709"/>
            <a:ext cx="114300" cy="133502"/>
          </a:xfrm>
          <a:prstGeom prst="rect">
            <a:avLst/>
          </a:prstGeom>
        </p:spPr>
      </p:pic>
      <p:pic>
        <p:nvPicPr>
          <p:cNvPr id="50" name="Image 11" descr="preencoded.png">    </p:cNvPr>
          <p:cNvPicPr>
            <a:picLocks noChangeAspect="1"/>
          </p:cNvPicPr>
          <p:nvPr/>
        </p:nvPicPr>
        <p:blipFill>
          <a:blip r:embed="rId12"/>
          <a:srcRect l="0" r="0" t="-1100" b="-1100"/>
          <a:stretch/>
        </p:blipFill>
        <p:spPr>
          <a:xfrm>
            <a:off x="1485900" y="11919204"/>
            <a:ext cx="114300" cy="133502"/>
          </a:xfrm>
          <a:prstGeom prst="rect">
            <a:avLst/>
          </a:prstGeom>
        </p:spPr>
      </p:pic>
      <p:pic>
        <p:nvPicPr>
          <p:cNvPr id="51" name="Image 12" descr="preencoded.png">    </p:cNvPr>
          <p:cNvPicPr>
            <a:picLocks noChangeAspect="1"/>
          </p:cNvPicPr>
          <p:nvPr/>
        </p:nvPicPr>
        <p:blipFill>
          <a:blip r:embed="rId13"/>
          <a:srcRect l="0" r="0" t="-1100" b="-1100"/>
          <a:stretch/>
        </p:blipFill>
        <p:spPr>
          <a:xfrm>
            <a:off x="1485900" y="12223699"/>
            <a:ext cx="114300" cy="133502"/>
          </a:xfrm>
          <a:prstGeom prst="rect">
            <a:avLst/>
          </a:prstGeom>
        </p:spPr>
      </p:pic>
      <p:sp>
        <p:nvSpPr>
          <p:cNvPr id="52" name="Text 37"/>
          <p:cNvSpPr txBox="1"/>
          <p:nvPr/>
        </p:nvSpPr>
        <p:spPr>
          <a:xfrm>
            <a:off x="7153351" y="12159691"/>
            <a:ext cx="1167689"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権限の設定・変更</a:t>
            </a:r>
            <a:endParaRPr lang="en-US" sz="1000" dirty="0"/>
          </a:p>
        </p:txBody>
      </p:sp>
      <p:sp>
        <p:nvSpPr>
          <p:cNvPr id="53" name="Shape 38"/>
          <p:cNvSpPr/>
          <p:nvPr/>
        </p:nvSpPr>
        <p:spPr>
          <a:xfrm>
            <a:off x="10572293" y="10475366"/>
            <a:ext cx="743407" cy="276149"/>
          </a:xfrm>
          <a:prstGeom prst="roundRect">
            <a:avLst>
              <a:gd name="adj" fmla="val 171272"/>
            </a:avLst>
          </a:prstGeom>
          <a:solidFill>
            <a:srgbClr val="FFC400"/>
          </a:solidFill>
          <a:ln/>
        </p:spPr>
      </p:sp>
      <p:sp>
        <p:nvSpPr>
          <p:cNvPr id="54" name="Text 39"/>
          <p:cNvSpPr txBox="1"/>
          <p:nvPr/>
        </p:nvSpPr>
        <p:spPr>
          <a:xfrm>
            <a:off x="10686593" y="10513771"/>
            <a:ext cx="614477" cy="191110"/>
          </a:xfrm>
          <a:prstGeom prst="rect">
            <a:avLst/>
          </a:prstGeom>
          <a:noFill/>
          <a:ln/>
        </p:spPr>
        <p:txBody>
          <a:bodyPr wrap="square" lIns="0" tIns="0" rIns="0" bIns="0" rtlCol="0" anchor="ctr"/>
          <a:lstStyle/>
          <a:p>
            <a:pPr algn="l" indent="0" marL="0">
              <a:buNone/>
            </a:pPr>
            <a:r>
              <a:rPr lang="en-US" sz="1000" b="1" dirty="0">
                <a:solidFill>
                  <a:srgbClr val="333333"/>
                </a:solidFill>
                <a:latin typeface="Noto Sans JP" pitchFamily="34" charset="0"/>
                <a:ea typeface="Noto Sans JP" pitchFamily="34" charset="-122"/>
                <a:cs typeface="Noto Sans JP" pitchFamily="34" charset="-120"/>
              </a:rPr>
              <a:t>Phase 2</a:t>
            </a:r>
            <a:endParaRPr lang="en-US" sz="1000" dirty="0"/>
          </a:p>
        </p:txBody>
      </p:sp>
      <p:sp>
        <p:nvSpPr>
          <p:cNvPr id="55" name="Shape 40"/>
          <p:cNvSpPr/>
          <p:nvPr/>
        </p:nvSpPr>
        <p:spPr>
          <a:xfrm>
            <a:off x="6439205" y="10552176"/>
            <a:ext cx="381305" cy="381305"/>
          </a:xfrm>
          <a:prstGeom prst="roundRect">
            <a:avLst>
              <a:gd name="adj" fmla="val 47962"/>
            </a:avLst>
          </a:prstGeom>
          <a:solidFill>
            <a:srgbClr val="9C27B0"/>
          </a:solidFill>
          <a:ln/>
        </p:spPr>
      </p:sp>
      <p:pic>
        <p:nvPicPr>
          <p:cNvPr id="56" name="Image 13" descr="preencoded.png">    </p:cNvPr>
          <p:cNvPicPr>
            <a:picLocks noChangeAspect="1"/>
          </p:cNvPicPr>
          <p:nvPr/>
        </p:nvPicPr>
        <p:blipFill>
          <a:blip r:embed="rId14"/>
          <a:srcRect l="0" r="0" t="0" b="0"/>
          <a:stretch/>
        </p:blipFill>
        <p:spPr>
          <a:xfrm>
            <a:off x="6543446" y="10656418"/>
            <a:ext cx="171907" cy="171907"/>
          </a:xfrm>
          <a:prstGeom prst="rect">
            <a:avLst/>
          </a:prstGeom>
        </p:spPr>
      </p:pic>
      <p:pic>
        <p:nvPicPr>
          <p:cNvPr id="57" name="Image 14" descr="preencoded.png">    </p:cNvPr>
          <p:cNvPicPr>
            <a:picLocks noChangeAspect="1"/>
          </p:cNvPicPr>
          <p:nvPr/>
        </p:nvPicPr>
        <p:blipFill>
          <a:blip r:embed="rId15"/>
          <a:srcRect l="0" r="0" t="-1100" b="-1100"/>
          <a:stretch/>
        </p:blipFill>
        <p:spPr>
          <a:xfrm>
            <a:off x="6963156" y="11614709"/>
            <a:ext cx="114300" cy="133502"/>
          </a:xfrm>
          <a:prstGeom prst="rect">
            <a:avLst/>
          </a:prstGeom>
        </p:spPr>
      </p:pic>
      <p:pic>
        <p:nvPicPr>
          <p:cNvPr id="58" name="Image 15" descr="preencoded.png">    </p:cNvPr>
          <p:cNvPicPr>
            <a:picLocks noChangeAspect="1"/>
          </p:cNvPicPr>
          <p:nvPr/>
        </p:nvPicPr>
        <p:blipFill>
          <a:blip r:embed="rId16"/>
          <a:srcRect l="0" r="0" t="-1100" b="-1100"/>
          <a:stretch/>
        </p:blipFill>
        <p:spPr>
          <a:xfrm>
            <a:off x="6963156" y="11919204"/>
            <a:ext cx="114300" cy="133502"/>
          </a:xfrm>
          <a:prstGeom prst="rect">
            <a:avLst/>
          </a:prstGeom>
        </p:spPr>
      </p:pic>
      <p:pic>
        <p:nvPicPr>
          <p:cNvPr id="59" name="Image 16" descr="preencoded.png">    </p:cNvPr>
          <p:cNvPicPr>
            <a:picLocks noChangeAspect="1"/>
          </p:cNvPicPr>
          <p:nvPr/>
        </p:nvPicPr>
        <p:blipFill>
          <a:blip r:embed="rId17"/>
          <a:srcRect l="0" r="0" t="-1100" b="-1100"/>
          <a:stretch/>
        </p:blipFill>
        <p:spPr>
          <a:xfrm>
            <a:off x="6963156" y="12223699"/>
            <a:ext cx="114300" cy="1335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334402"/>
          </a:xfrm>
          <a:prstGeom prst="rect">
            <a:avLst/>
          </a:prstGeom>
          <a:solidFill>
            <a:srgbClr val="FFFFFF"/>
          </a:solidFill>
          <a:ln/>
        </p:spPr>
      </p:sp>
      <p:sp>
        <p:nvSpPr>
          <p:cNvPr id="3" name="Shape 1"/>
          <p:cNvSpPr/>
          <p:nvPr/>
        </p:nvSpPr>
        <p:spPr>
          <a:xfrm>
            <a:off x="0" y="0"/>
            <a:ext cx="12191695" cy="7334402"/>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6467551"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Webシステム ユーザー管理画面Phase 2</a:t>
            </a:r>
            <a:endParaRPr lang="en-US" sz="2700" dirty="0"/>
          </a:p>
        </p:txBody>
      </p:sp>
      <p:sp>
        <p:nvSpPr>
          <p:cNvPr id="6" name="Text 4"/>
          <p:cNvSpPr txBox="1"/>
          <p:nvPr/>
        </p:nvSpPr>
        <p:spPr>
          <a:xfrm>
            <a:off x="761695" y="1438351"/>
            <a:ext cx="4243730" cy="78181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チームメンバーの追加・編集・削除や権限管理を行うための画面です。直感的なインターフェースで効率的なユーザー管理を実現します。</a:t>
            </a:r>
            <a:endParaRPr lang="en-US" sz="1300" dirty="0"/>
          </a:p>
        </p:txBody>
      </p:sp>
      <p:sp>
        <p:nvSpPr>
          <p:cNvPr id="7" name="Shape 5"/>
          <p:cNvSpPr/>
          <p:nvPr/>
        </p:nvSpPr>
        <p:spPr>
          <a:xfrm>
            <a:off x="761695" y="2447849"/>
            <a:ext cx="228600" cy="228600"/>
          </a:xfrm>
          <a:prstGeom prst="ellipse">
            <a:avLst/>
          </a:prstGeom>
          <a:solidFill>
            <a:srgbClr val="FFC400"/>
          </a:solidFill>
          <a:ln/>
        </p:spPr>
      </p:sp>
      <p:pic>
        <p:nvPicPr>
          <p:cNvPr id="8" name="Image 0" descr="preencoded.png">    </p:cNvPr>
          <p:cNvPicPr>
            <a:picLocks noChangeAspect="1"/>
          </p:cNvPicPr>
          <p:nvPr/>
        </p:nvPicPr>
        <p:blipFill>
          <a:blip r:embed="rId1"/>
          <a:srcRect l="-2571" r="-2571" t="0" b="0"/>
          <a:stretch/>
        </p:blipFill>
        <p:spPr>
          <a:xfrm>
            <a:off x="823874" y="2505456"/>
            <a:ext cx="105156" cy="114300"/>
          </a:xfrm>
          <a:prstGeom prst="rect">
            <a:avLst/>
          </a:prstGeom>
        </p:spPr>
      </p:pic>
      <p:sp>
        <p:nvSpPr>
          <p:cNvPr id="9" name="Shape 6"/>
          <p:cNvSpPr/>
          <p:nvPr/>
        </p:nvSpPr>
        <p:spPr>
          <a:xfrm>
            <a:off x="761695" y="3362249"/>
            <a:ext cx="228600" cy="228600"/>
          </a:xfrm>
          <a:prstGeom prst="ellipse">
            <a:avLst/>
          </a:prstGeom>
          <a:solidFill>
            <a:srgbClr val="FFC400"/>
          </a:solidFill>
          <a:ln/>
        </p:spPr>
      </p:sp>
      <p:sp>
        <p:nvSpPr>
          <p:cNvPr id="10" name="Shape 7"/>
          <p:cNvSpPr/>
          <p:nvPr/>
        </p:nvSpPr>
        <p:spPr>
          <a:xfrm>
            <a:off x="761695" y="4990795"/>
            <a:ext cx="228600" cy="228600"/>
          </a:xfrm>
          <a:prstGeom prst="ellipse">
            <a:avLst/>
          </a:prstGeom>
          <a:solidFill>
            <a:srgbClr val="FFC400"/>
          </a:solidFill>
          <a:ln/>
        </p:spPr>
      </p:sp>
      <p:sp>
        <p:nvSpPr>
          <p:cNvPr id="11" name="Text 8"/>
          <p:cNvSpPr txBox="1"/>
          <p:nvPr/>
        </p:nvSpPr>
        <p:spPr>
          <a:xfrm>
            <a:off x="1104595" y="2419502"/>
            <a:ext cx="16724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簡単なユーザー管理</a:t>
            </a:r>
            <a:endParaRPr lang="en-US" sz="1300" dirty="0"/>
          </a:p>
        </p:txBody>
      </p:sp>
      <p:sp>
        <p:nvSpPr>
          <p:cNvPr id="12" name="Text 9"/>
          <p:cNvSpPr txBox="1"/>
          <p:nvPr/>
        </p:nvSpPr>
        <p:spPr>
          <a:xfrm>
            <a:off x="1104595" y="2419502"/>
            <a:ext cx="3900830" cy="762610"/>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：追加・編集・削除がワンクリックで実行でき、連絡先情報も一元管理できます。</a:t>
            </a:r>
            <a:endParaRPr lang="en-US" sz="1300" dirty="0"/>
          </a:p>
        </p:txBody>
      </p:sp>
      <p:pic>
        <p:nvPicPr>
          <p:cNvPr id="13" name="Image 1" descr="preencoded.png">    </p:cNvPr>
          <p:cNvPicPr>
            <a:picLocks noChangeAspect="1"/>
          </p:cNvPicPr>
          <p:nvPr/>
        </p:nvPicPr>
        <p:blipFill>
          <a:blip r:embed="rId2"/>
          <a:srcRect l="-2571" r="-2571" t="0" b="0"/>
          <a:stretch/>
        </p:blipFill>
        <p:spPr>
          <a:xfrm>
            <a:off x="823874" y="3419856"/>
            <a:ext cx="105156" cy="114300"/>
          </a:xfrm>
          <a:prstGeom prst="rect">
            <a:avLst/>
          </a:prstGeom>
        </p:spPr>
      </p:pic>
      <p:sp>
        <p:nvSpPr>
          <p:cNvPr id="14" name="Shape 10"/>
          <p:cNvSpPr/>
          <p:nvPr/>
        </p:nvSpPr>
        <p:spPr>
          <a:xfrm>
            <a:off x="761695" y="4076395"/>
            <a:ext cx="228600" cy="228600"/>
          </a:xfrm>
          <a:prstGeom prst="ellipse">
            <a:avLst/>
          </a:prstGeom>
          <a:solidFill>
            <a:srgbClr val="FFC400"/>
          </a:solidFill>
          <a:ln/>
        </p:spPr>
      </p:sp>
      <p:sp>
        <p:nvSpPr>
          <p:cNvPr id="15" name="Text 11"/>
          <p:cNvSpPr txBox="1"/>
          <p:nvPr/>
        </p:nvSpPr>
        <p:spPr>
          <a:xfrm>
            <a:off x="1104595" y="3333902"/>
            <a:ext cx="13295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ロール設定機能</a:t>
            </a:r>
            <a:endParaRPr lang="en-US" sz="1300" dirty="0"/>
          </a:p>
        </p:txBody>
      </p:sp>
      <p:sp>
        <p:nvSpPr>
          <p:cNvPr id="16" name="Text 12"/>
          <p:cNvSpPr txBox="1"/>
          <p:nvPr/>
        </p:nvSpPr>
        <p:spPr>
          <a:xfrm>
            <a:off x="1104595" y="4048049"/>
            <a:ext cx="16724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チーム構成の可視化</a:t>
            </a:r>
            <a:endParaRPr lang="en-US" sz="1300" dirty="0"/>
          </a:p>
        </p:txBody>
      </p:sp>
      <p:sp>
        <p:nvSpPr>
          <p:cNvPr id="17" name="Text 13"/>
          <p:cNvSpPr txBox="1"/>
          <p:nvPr/>
        </p:nvSpPr>
        <p:spPr>
          <a:xfrm>
            <a:off x="1104595" y="4962449"/>
            <a:ext cx="15005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権限に応じた制御</a:t>
            </a:r>
            <a:endParaRPr lang="en-US" sz="1300" dirty="0"/>
          </a:p>
        </p:txBody>
      </p:sp>
      <p:sp>
        <p:nvSpPr>
          <p:cNvPr id="18" name="Text 14"/>
          <p:cNvSpPr txBox="1"/>
          <p:nvPr/>
        </p:nvSpPr>
        <p:spPr>
          <a:xfrm>
            <a:off x="2305202" y="3333902"/>
            <a:ext cx="300838"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a:t>
            </a:r>
            <a:endParaRPr lang="en-US" sz="1300" dirty="0"/>
          </a:p>
        </p:txBody>
      </p:sp>
      <p:sp>
        <p:nvSpPr>
          <p:cNvPr id="19" name="Text 15"/>
          <p:cNvSpPr txBox="1"/>
          <p:nvPr/>
        </p:nvSpPr>
        <p:spPr>
          <a:xfrm>
            <a:off x="1733702" y="3619195"/>
            <a:ext cx="2958084"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の4つのロールを割り当て可能です。</a:t>
            </a:r>
            <a:endParaRPr lang="en-US" sz="1300" dirty="0"/>
          </a:p>
        </p:txBody>
      </p:sp>
      <p:sp>
        <p:nvSpPr>
          <p:cNvPr id="20" name="Text 16"/>
          <p:cNvSpPr txBox="1"/>
          <p:nvPr/>
        </p:nvSpPr>
        <p:spPr>
          <a:xfrm>
            <a:off x="1104595" y="4048049"/>
            <a:ext cx="3900830" cy="762610"/>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：画面上部のカウンターで総ユーザー数やロール別の人数を一目で把握できます。</a:t>
            </a:r>
            <a:endParaRPr lang="en-US" sz="1300" dirty="0"/>
          </a:p>
        </p:txBody>
      </p:sp>
      <p:sp>
        <p:nvSpPr>
          <p:cNvPr id="21" name="Text 17"/>
          <p:cNvSpPr txBox="1"/>
          <p:nvPr/>
        </p:nvSpPr>
        <p:spPr>
          <a:xfrm>
            <a:off x="1104595" y="4962449"/>
            <a:ext cx="3881628" cy="762610"/>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：各ユーザーの権限に合わせて、アクセスできる機能や編集可能な範囲を自動制限します。</a:t>
            </a:r>
            <a:endParaRPr lang="en-US" sz="1300" dirty="0"/>
          </a:p>
        </p:txBody>
      </p:sp>
      <p:sp>
        <p:nvSpPr>
          <p:cNvPr id="22" name="Shape 18"/>
          <p:cNvSpPr/>
          <p:nvPr/>
        </p:nvSpPr>
        <p:spPr>
          <a:xfrm>
            <a:off x="2476195" y="3343046"/>
            <a:ext cx="552298" cy="276149"/>
          </a:xfrm>
          <a:prstGeom prst="roundRect">
            <a:avLst>
              <a:gd name="adj" fmla="val 137017"/>
            </a:avLst>
          </a:prstGeom>
          <a:solidFill>
            <a:srgbClr val="005BAC"/>
          </a:solidFill>
          <a:ln/>
        </p:spPr>
      </p:sp>
      <p:sp>
        <p:nvSpPr>
          <p:cNvPr id="23" name="Text 19"/>
          <p:cNvSpPr txBox="1"/>
          <p:nvPr/>
        </p:nvSpPr>
        <p:spPr>
          <a:xfrm>
            <a:off x="2553005" y="3381451"/>
            <a:ext cx="500177"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管理者</a:t>
            </a:r>
            <a:endParaRPr lang="en-US" sz="1000" dirty="0"/>
          </a:p>
        </p:txBody>
      </p:sp>
      <p:sp>
        <p:nvSpPr>
          <p:cNvPr id="24" name="Shape 20"/>
          <p:cNvSpPr/>
          <p:nvPr/>
        </p:nvSpPr>
        <p:spPr>
          <a:xfrm>
            <a:off x="3105302" y="3343046"/>
            <a:ext cx="952805" cy="276149"/>
          </a:xfrm>
          <a:prstGeom prst="roundRect">
            <a:avLst>
              <a:gd name="adj" fmla="val 137017"/>
            </a:avLst>
          </a:prstGeom>
          <a:solidFill>
            <a:srgbClr val="FFA500"/>
          </a:solidFill>
          <a:ln/>
        </p:spPr>
      </p:sp>
      <p:sp>
        <p:nvSpPr>
          <p:cNvPr id="25" name="Text 21"/>
          <p:cNvSpPr txBox="1"/>
          <p:nvPr/>
        </p:nvSpPr>
        <p:spPr>
          <a:xfrm>
            <a:off x="3181198" y="3381451"/>
            <a:ext cx="900684"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マネージャー</a:t>
            </a:r>
            <a:endParaRPr lang="en-US" sz="1000" dirty="0"/>
          </a:p>
        </p:txBody>
      </p:sp>
      <p:sp>
        <p:nvSpPr>
          <p:cNvPr id="26" name="Shape 22"/>
          <p:cNvSpPr/>
          <p:nvPr/>
        </p:nvSpPr>
        <p:spPr>
          <a:xfrm>
            <a:off x="4124858" y="3343046"/>
            <a:ext cx="552298" cy="276149"/>
          </a:xfrm>
          <a:prstGeom prst="roundRect">
            <a:avLst>
              <a:gd name="adj" fmla="val 137017"/>
            </a:avLst>
          </a:prstGeom>
          <a:solidFill>
            <a:srgbClr val="4CAF50"/>
          </a:solidFill>
          <a:ln/>
        </p:spPr>
      </p:sp>
      <p:sp>
        <p:nvSpPr>
          <p:cNvPr id="27" name="Text 23"/>
          <p:cNvSpPr txBox="1"/>
          <p:nvPr/>
        </p:nvSpPr>
        <p:spPr>
          <a:xfrm>
            <a:off x="4200754" y="3381451"/>
            <a:ext cx="500177"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編集者</a:t>
            </a:r>
            <a:endParaRPr lang="en-US" sz="1000" dirty="0"/>
          </a:p>
        </p:txBody>
      </p:sp>
      <p:sp>
        <p:nvSpPr>
          <p:cNvPr id="28" name="Shape 24"/>
          <p:cNvSpPr/>
          <p:nvPr/>
        </p:nvSpPr>
        <p:spPr>
          <a:xfrm>
            <a:off x="1104595" y="3629254"/>
            <a:ext cx="552298" cy="276149"/>
          </a:xfrm>
          <a:prstGeom prst="roundRect">
            <a:avLst>
              <a:gd name="adj" fmla="val 137017"/>
            </a:avLst>
          </a:prstGeom>
          <a:solidFill>
            <a:srgbClr val="9E9E9E"/>
          </a:solidFill>
          <a:ln/>
        </p:spPr>
      </p:sp>
      <p:sp>
        <p:nvSpPr>
          <p:cNvPr id="29" name="Text 25"/>
          <p:cNvSpPr txBox="1"/>
          <p:nvPr/>
        </p:nvSpPr>
        <p:spPr>
          <a:xfrm>
            <a:off x="1181405" y="3666744"/>
            <a:ext cx="500177" cy="191110"/>
          </a:xfrm>
          <a:prstGeom prst="rect">
            <a:avLst/>
          </a:prstGeom>
          <a:noFill/>
          <a:ln/>
        </p:spPr>
        <p:txBody>
          <a:bodyPr wrap="square" lIns="0" tIns="0" rIns="0" bIns="0" rtlCol="0" anchor="ct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閲覧者</a:t>
            </a:r>
            <a:endParaRPr lang="en-US" sz="1000" dirty="0"/>
          </a:p>
        </p:txBody>
      </p:sp>
      <p:pic>
        <p:nvPicPr>
          <p:cNvPr id="30" name="Image 2" descr="preencoded.png">    </p:cNvPr>
          <p:cNvPicPr>
            <a:picLocks noChangeAspect="1"/>
          </p:cNvPicPr>
          <p:nvPr/>
        </p:nvPicPr>
        <p:blipFill>
          <a:blip r:embed="rId3"/>
          <a:srcRect l="-2571" r="-2571" t="0" b="0"/>
          <a:stretch/>
        </p:blipFill>
        <p:spPr>
          <a:xfrm>
            <a:off x="823874" y="4134002"/>
            <a:ext cx="105156" cy="114300"/>
          </a:xfrm>
          <a:prstGeom prst="rect">
            <a:avLst/>
          </a:prstGeom>
        </p:spPr>
      </p:pic>
      <p:pic>
        <p:nvPicPr>
          <p:cNvPr id="31" name="Image 3" descr="preencoded.png">    </p:cNvPr>
          <p:cNvPicPr>
            <a:picLocks noChangeAspect="1"/>
          </p:cNvPicPr>
          <p:nvPr/>
        </p:nvPicPr>
        <p:blipFill>
          <a:blip r:embed="rId4"/>
          <a:srcRect l="-2571" r="-2571" t="0" b="0"/>
          <a:stretch/>
        </p:blipFill>
        <p:spPr>
          <a:xfrm>
            <a:off x="823874" y="5048402"/>
            <a:ext cx="105156" cy="114300"/>
          </a:xfrm>
          <a:prstGeom prst="rect">
            <a:avLst/>
          </a:prstGeom>
        </p:spPr>
      </p:pic>
      <p:sp>
        <p:nvSpPr>
          <p:cNvPr id="32" name="Text 26"/>
          <p:cNvSpPr txBox="1"/>
          <p:nvPr/>
        </p:nvSpPr>
        <p:spPr>
          <a:xfrm>
            <a:off x="761695" y="5924398"/>
            <a:ext cx="4219956" cy="457200"/>
          </a:xfrm>
          <a:prstGeom prst="rect">
            <a:avLst/>
          </a:prstGeom>
          <a:noFill/>
          <a:ln/>
        </p:spPr>
        <p:txBody>
          <a:bodyPr wrap="square" lIns="0" tIns="0" rIns="0" bIns="0" rtlCol="0" anchor="ctr"/>
          <a:lstStyle/>
          <a:p>
            <a:pPr algn="l" indent="0" marL="0">
              <a:buNone/>
            </a:pPr>
            <a:r>
              <a:rPr lang="en-US" sz="1200" i="1" dirty="0">
                <a:solidFill>
                  <a:srgbClr val="666666"/>
                </a:solidFill>
                <a:latin typeface="Noto Sans JP" pitchFamily="34" charset="0"/>
                <a:ea typeface="Noto Sans JP" pitchFamily="34" charset="-122"/>
                <a:cs typeface="Noto Sans JP" pitchFamily="34" charset="-120"/>
              </a:rPr>
              <a:t>※権限設定は「権限管理」画面と連携しており、ロールごとの詳細権限はカスタマイズ可能です。</a:t>
            </a:r>
            <a:endParaRPr lang="en-US" sz="1200" dirty="0"/>
          </a:p>
        </p:txBody>
      </p:sp>
      <p:pic>
        <p:nvPicPr>
          <p:cNvPr id="33" name="Image 4" descr="https://page.gensparksite.com/v1/base64_upload/8bcd02fb621fde3f6381959954f0ec1c">    </p:cNvPr>
          <p:cNvPicPr>
            <a:picLocks noChangeAspect="1"/>
          </p:cNvPicPr>
          <p:nvPr/>
        </p:nvPicPr>
        <p:blipFill>
          <a:blip r:embed="rId5"/>
          <a:srcRect l="162" r="162" t="0" b="0"/>
          <a:stretch/>
        </p:blipFill>
        <p:spPr>
          <a:xfrm>
            <a:off x="5274259" y="2000707"/>
            <a:ext cx="6086246" cy="38103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9372600"/>
          </a:xfrm>
          <a:prstGeom prst="rect">
            <a:avLst/>
          </a:prstGeom>
          <a:solidFill>
            <a:srgbClr val="FFFFFF"/>
          </a:solidFill>
          <a:ln/>
        </p:spPr>
      </p:sp>
      <p:sp>
        <p:nvSpPr>
          <p:cNvPr id="3" name="Shape 1"/>
          <p:cNvSpPr/>
          <p:nvPr/>
        </p:nvSpPr>
        <p:spPr>
          <a:xfrm>
            <a:off x="0" y="0"/>
            <a:ext cx="12191695" cy="9372600"/>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43154"/>
            <a:ext cx="55248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Webシステム 承認フロー管理画面</a:t>
            </a:r>
            <a:endParaRPr lang="en-US" sz="2700" dirty="0"/>
          </a:p>
        </p:txBody>
      </p:sp>
      <p:sp>
        <p:nvSpPr>
          <p:cNvPr id="6" name="Shape 4"/>
          <p:cNvSpPr/>
          <p:nvPr/>
        </p:nvSpPr>
        <p:spPr>
          <a:xfrm>
            <a:off x="6163970" y="571500"/>
            <a:ext cx="1095451" cy="437998"/>
          </a:xfrm>
          <a:prstGeom prst="roundRect">
            <a:avLst>
              <a:gd name="adj" fmla="val 90769"/>
            </a:avLst>
          </a:prstGeom>
          <a:solidFill>
            <a:srgbClr val="FFC400"/>
          </a:solidFill>
          <a:ln/>
        </p:spPr>
      </p:sp>
      <p:sp>
        <p:nvSpPr>
          <p:cNvPr id="7" name="Text 5"/>
          <p:cNvSpPr txBox="1"/>
          <p:nvPr/>
        </p:nvSpPr>
        <p:spPr>
          <a:xfrm>
            <a:off x="6354166" y="647395"/>
            <a:ext cx="857707"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Phase 2</a:t>
            </a:r>
            <a:endParaRPr lang="en-US" sz="1500" dirty="0"/>
          </a:p>
        </p:txBody>
      </p:sp>
      <p:sp>
        <p:nvSpPr>
          <p:cNvPr id="8" name="Text 6"/>
          <p:cNvSpPr txBox="1"/>
          <p:nvPr/>
        </p:nvSpPr>
        <p:spPr>
          <a:xfrm>
            <a:off x="761695" y="1495044"/>
            <a:ext cx="10720426" cy="514807"/>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報告書の承認プロセスを視覚的に管理し、効率化するための画面です。多段階承認・コメント機能により、チームでの意思決定がスムーズに行えます。</a:t>
            </a:r>
            <a:endParaRPr lang="en-US" sz="1300" dirty="0"/>
          </a:p>
        </p:txBody>
      </p:sp>
      <p:pic>
        <p:nvPicPr>
          <p:cNvPr id="9" name="Image 0" descr="https://page.gensparksite.com/v1/base64_upload/51aa9d42efc189fa2a9228bb6f894c3e">    </p:cNvPr>
          <p:cNvPicPr>
            <a:picLocks noChangeAspect="1"/>
          </p:cNvPicPr>
          <p:nvPr/>
        </p:nvPicPr>
        <p:blipFill>
          <a:blip r:embed="rId1"/>
          <a:srcRect l="6" r="6" t="0" b="0"/>
          <a:stretch/>
        </p:blipFill>
        <p:spPr>
          <a:xfrm>
            <a:off x="2895905" y="2210105"/>
            <a:ext cx="6400800" cy="3600907"/>
          </a:xfrm>
          <a:prstGeom prst="rect">
            <a:avLst/>
          </a:prstGeom>
        </p:spPr>
      </p:pic>
      <p:sp>
        <p:nvSpPr>
          <p:cNvPr id="10" name="Shape 7"/>
          <p:cNvSpPr/>
          <p:nvPr/>
        </p:nvSpPr>
        <p:spPr>
          <a:xfrm>
            <a:off x="761695" y="6096305"/>
            <a:ext cx="5124298" cy="1276502"/>
          </a:xfrm>
          <a:prstGeom prst="rect">
            <a:avLst/>
          </a:prstGeom>
          <a:solidFill>
            <a:srgbClr val="F8F9FA"/>
          </a:solidFill>
          <a:ln/>
        </p:spPr>
      </p:sp>
      <p:sp>
        <p:nvSpPr>
          <p:cNvPr id="11" name="Shape 8"/>
          <p:cNvSpPr/>
          <p:nvPr/>
        </p:nvSpPr>
        <p:spPr>
          <a:xfrm>
            <a:off x="761695" y="6096305"/>
            <a:ext cx="38405" cy="1276502"/>
          </a:xfrm>
          <a:prstGeom prst="rect">
            <a:avLst/>
          </a:prstGeom>
          <a:solidFill>
            <a:srgbClr val="005BAC"/>
          </a:solidFill>
          <a:ln/>
        </p:spPr>
      </p:sp>
      <p:pic>
        <p:nvPicPr>
          <p:cNvPr id="12" name="Image 1" descr="preencoded.png">    </p:cNvPr>
          <p:cNvPicPr>
            <a:picLocks noChangeAspect="1"/>
          </p:cNvPicPr>
          <p:nvPr/>
        </p:nvPicPr>
        <p:blipFill>
          <a:blip r:embed="rId2"/>
          <a:srcRect l="0" r="0" t="-841" b="-841"/>
          <a:stretch/>
        </p:blipFill>
        <p:spPr>
          <a:xfrm>
            <a:off x="942746" y="6267298"/>
            <a:ext cx="190195" cy="171907"/>
          </a:xfrm>
          <a:prstGeom prst="rect">
            <a:avLst/>
          </a:prstGeom>
        </p:spPr>
      </p:pic>
      <p:sp>
        <p:nvSpPr>
          <p:cNvPr id="13" name="Shape 9"/>
          <p:cNvSpPr/>
          <p:nvPr/>
        </p:nvSpPr>
        <p:spPr>
          <a:xfrm>
            <a:off x="6309360" y="6096305"/>
            <a:ext cx="5124298" cy="1276502"/>
          </a:xfrm>
          <a:prstGeom prst="rect">
            <a:avLst/>
          </a:prstGeom>
          <a:solidFill>
            <a:srgbClr val="F8F9FA"/>
          </a:solidFill>
          <a:ln/>
        </p:spPr>
      </p:sp>
      <p:sp>
        <p:nvSpPr>
          <p:cNvPr id="14" name="Shape 10"/>
          <p:cNvSpPr/>
          <p:nvPr/>
        </p:nvSpPr>
        <p:spPr>
          <a:xfrm>
            <a:off x="6309360" y="6096305"/>
            <a:ext cx="38405" cy="1276502"/>
          </a:xfrm>
          <a:prstGeom prst="rect">
            <a:avLst/>
          </a:prstGeom>
          <a:solidFill>
            <a:srgbClr val="005BAC"/>
          </a:solidFill>
          <a:ln/>
        </p:spPr>
      </p:sp>
      <p:sp>
        <p:nvSpPr>
          <p:cNvPr id="15" name="Shape 11"/>
          <p:cNvSpPr/>
          <p:nvPr/>
        </p:nvSpPr>
        <p:spPr>
          <a:xfrm>
            <a:off x="761695" y="7563002"/>
            <a:ext cx="5124298" cy="1047902"/>
          </a:xfrm>
          <a:prstGeom prst="rect">
            <a:avLst/>
          </a:prstGeom>
          <a:solidFill>
            <a:srgbClr val="F8F9FA"/>
          </a:solidFill>
          <a:ln/>
        </p:spPr>
      </p:sp>
      <p:sp>
        <p:nvSpPr>
          <p:cNvPr id="16" name="Shape 12"/>
          <p:cNvSpPr/>
          <p:nvPr/>
        </p:nvSpPr>
        <p:spPr>
          <a:xfrm>
            <a:off x="761695" y="7563002"/>
            <a:ext cx="38405" cy="1047902"/>
          </a:xfrm>
          <a:prstGeom prst="rect">
            <a:avLst/>
          </a:prstGeom>
          <a:solidFill>
            <a:srgbClr val="005BAC"/>
          </a:solidFill>
          <a:ln/>
        </p:spPr>
      </p:sp>
      <p:sp>
        <p:nvSpPr>
          <p:cNvPr id="17" name="Shape 13"/>
          <p:cNvSpPr/>
          <p:nvPr/>
        </p:nvSpPr>
        <p:spPr>
          <a:xfrm>
            <a:off x="6309360" y="7563002"/>
            <a:ext cx="5124298" cy="1047902"/>
          </a:xfrm>
          <a:prstGeom prst="rect">
            <a:avLst/>
          </a:prstGeom>
          <a:solidFill>
            <a:srgbClr val="F8F9FA"/>
          </a:solidFill>
          <a:ln/>
        </p:spPr>
      </p:sp>
      <p:sp>
        <p:nvSpPr>
          <p:cNvPr id="18" name="Shape 14"/>
          <p:cNvSpPr/>
          <p:nvPr/>
        </p:nvSpPr>
        <p:spPr>
          <a:xfrm>
            <a:off x="6309360" y="7563002"/>
            <a:ext cx="38405" cy="1047902"/>
          </a:xfrm>
          <a:prstGeom prst="rect">
            <a:avLst/>
          </a:prstGeom>
          <a:solidFill>
            <a:srgbClr val="005BAC"/>
          </a:solidFill>
          <a:ln/>
        </p:spPr>
      </p:sp>
      <p:sp>
        <p:nvSpPr>
          <p:cNvPr id="19" name="Text 15"/>
          <p:cNvSpPr txBox="1"/>
          <p:nvPr/>
        </p:nvSpPr>
        <p:spPr>
          <a:xfrm>
            <a:off x="1133856" y="6238951"/>
            <a:ext cx="1495958"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視覚的な承認フロー</a:t>
            </a:r>
            <a:endParaRPr lang="en-US" sz="1200" dirty="0"/>
          </a:p>
        </p:txBody>
      </p:sp>
      <p:sp>
        <p:nvSpPr>
          <p:cNvPr id="20" name="Text 16"/>
          <p:cNvSpPr txBox="1"/>
          <p:nvPr/>
        </p:nvSpPr>
        <p:spPr>
          <a:xfrm>
            <a:off x="6709867" y="6238951"/>
            <a:ext cx="2248510"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コメント・フィードバック機能</a:t>
            </a:r>
            <a:endParaRPr lang="en-US" sz="1200" dirty="0"/>
          </a:p>
        </p:txBody>
      </p:sp>
      <p:sp>
        <p:nvSpPr>
          <p:cNvPr id="21" name="Text 17"/>
          <p:cNvSpPr txBox="1"/>
          <p:nvPr/>
        </p:nvSpPr>
        <p:spPr>
          <a:xfrm>
            <a:off x="6623914" y="7705649"/>
            <a:ext cx="1191463"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報告書一覧機能</a:t>
            </a:r>
            <a:endParaRPr lang="en-US" sz="1200" dirty="0"/>
          </a:p>
        </p:txBody>
      </p:sp>
      <p:sp>
        <p:nvSpPr>
          <p:cNvPr id="22" name="Text 18"/>
          <p:cNvSpPr txBox="1"/>
          <p:nvPr/>
        </p:nvSpPr>
        <p:spPr>
          <a:xfrm>
            <a:off x="1209751" y="6543446"/>
            <a:ext cx="1038758"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承認フローを</a:t>
            </a:r>
            <a:endParaRPr lang="en-US" sz="1200" dirty="0"/>
          </a:p>
        </p:txBody>
      </p:sp>
      <p:sp>
        <p:nvSpPr>
          <p:cNvPr id="23" name="Text 19"/>
          <p:cNvSpPr txBox="1"/>
          <p:nvPr/>
        </p:nvSpPr>
        <p:spPr>
          <a:xfrm>
            <a:off x="1209751" y="6543446"/>
            <a:ext cx="4591202"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し、各ステップの担当者と進捗状況が一目で確認できます。「部隊員による作成」「主任による確認」「部長による最終承認」など複数段階で構成可能です。</a:t>
            </a:r>
            <a:endParaRPr lang="en-US" sz="1200" dirty="0"/>
          </a:p>
        </p:txBody>
      </p:sp>
      <p:sp>
        <p:nvSpPr>
          <p:cNvPr id="24" name="Text 20"/>
          <p:cNvSpPr txBox="1"/>
          <p:nvPr/>
        </p:nvSpPr>
        <p:spPr>
          <a:xfrm>
            <a:off x="6757416" y="6772046"/>
            <a:ext cx="4524451"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がシステム内で完結します。</a:t>
            </a:r>
            <a:endParaRPr lang="en-US" sz="1200" dirty="0"/>
          </a:p>
        </p:txBody>
      </p:sp>
      <p:sp>
        <p:nvSpPr>
          <p:cNvPr id="25" name="Text 21"/>
          <p:cNvSpPr txBox="1"/>
          <p:nvPr/>
        </p:nvSpPr>
        <p:spPr>
          <a:xfrm>
            <a:off x="2124151" y="6543446"/>
            <a:ext cx="1038758" cy="2286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視覚的に表現</a:t>
            </a:r>
            <a:endParaRPr lang="en-US" sz="1200" dirty="0"/>
          </a:p>
        </p:txBody>
      </p:sp>
      <p:pic>
        <p:nvPicPr>
          <p:cNvPr id="26" name="Image 2" descr="preencoded.png">    </p:cNvPr>
          <p:cNvPicPr>
            <a:picLocks noChangeAspect="1"/>
          </p:cNvPicPr>
          <p:nvPr/>
        </p:nvPicPr>
        <p:blipFill>
          <a:blip r:embed="rId3"/>
          <a:srcRect l="-1064" r="-1064" t="0" b="0"/>
          <a:stretch/>
        </p:blipFill>
        <p:spPr>
          <a:xfrm>
            <a:off x="6490411" y="6267298"/>
            <a:ext cx="219456" cy="171907"/>
          </a:xfrm>
          <a:prstGeom prst="rect">
            <a:avLst/>
          </a:prstGeom>
        </p:spPr>
      </p:pic>
      <p:sp>
        <p:nvSpPr>
          <p:cNvPr id="27" name="Text 22"/>
          <p:cNvSpPr txBox="1"/>
          <p:nvPr/>
        </p:nvSpPr>
        <p:spPr>
          <a:xfrm>
            <a:off x="1114654" y="7705649"/>
            <a:ext cx="1495958" cy="228600"/>
          </a:xfrm>
          <a:prstGeom prst="rect">
            <a:avLst/>
          </a:prstGeom>
          <a:noFill/>
          <a:ln/>
        </p:spPr>
        <p:txBody>
          <a:bodyPr wrap="square" lIns="0" tIns="0" rIns="0" bIns="0" rtlCol="0" anchor="ctr"/>
          <a:lstStyle/>
          <a:p>
            <a:pPr algn="l" indent="0" marL="0">
              <a:buNone/>
            </a:pPr>
            <a:r>
              <a:rPr lang="en-US" sz="1200" b="1" dirty="0">
                <a:solidFill>
                  <a:srgbClr val="005BAC"/>
                </a:solidFill>
                <a:latin typeface="Noto Sans JP" pitchFamily="34" charset="0"/>
                <a:ea typeface="Noto Sans JP" pitchFamily="34" charset="-122"/>
                <a:cs typeface="Noto Sans JP" pitchFamily="34" charset="-120"/>
              </a:rPr>
              <a:t>進捗ステータス管理</a:t>
            </a:r>
            <a:endParaRPr lang="en-US" sz="1200" dirty="0"/>
          </a:p>
        </p:txBody>
      </p:sp>
      <p:sp>
        <p:nvSpPr>
          <p:cNvPr id="28" name="Text 23"/>
          <p:cNvSpPr txBox="1"/>
          <p:nvPr/>
        </p:nvSpPr>
        <p:spPr>
          <a:xfrm>
            <a:off x="6757416" y="6543446"/>
            <a:ext cx="4543654"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各承認ステップでコメントの記録が可能。修正依頼や追加情報の要望など、</a:t>
            </a:r>
            <a:endParaRPr lang="en-US" sz="1200" dirty="0"/>
          </a:p>
        </p:txBody>
      </p:sp>
      <p:sp>
        <p:nvSpPr>
          <p:cNvPr id="29" name="Text 24"/>
          <p:cNvSpPr txBox="1"/>
          <p:nvPr/>
        </p:nvSpPr>
        <p:spPr>
          <a:xfrm>
            <a:off x="1209751" y="8010144"/>
            <a:ext cx="30202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「承認待ち」「承認済み」「差し戻し」など</a:t>
            </a:r>
            <a:endParaRPr lang="en-US" sz="1200" dirty="0"/>
          </a:p>
        </p:txBody>
      </p:sp>
      <p:sp>
        <p:nvSpPr>
          <p:cNvPr id="30" name="Text 25"/>
          <p:cNvSpPr txBox="1"/>
          <p:nvPr/>
        </p:nvSpPr>
        <p:spPr>
          <a:xfrm>
            <a:off x="1362456" y="8238744"/>
            <a:ext cx="3753612"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。チーム全体での報告書の進捗状況を可視化します。</a:t>
            </a:r>
            <a:endParaRPr lang="en-US" sz="1200" dirty="0"/>
          </a:p>
        </p:txBody>
      </p:sp>
      <p:sp>
        <p:nvSpPr>
          <p:cNvPr id="31" name="Text 26"/>
          <p:cNvSpPr txBox="1"/>
          <p:nvPr/>
        </p:nvSpPr>
        <p:spPr>
          <a:xfrm>
            <a:off x="6757416" y="8010144"/>
            <a:ext cx="4543654"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。タイトルや場所、担当者などで絞り込み検索も可能です。</a:t>
            </a:r>
            <a:endParaRPr lang="en-US" sz="1200" dirty="0"/>
          </a:p>
        </p:txBody>
      </p:sp>
      <p:sp>
        <p:nvSpPr>
          <p:cNvPr id="32" name="Text 27"/>
          <p:cNvSpPr txBox="1"/>
          <p:nvPr/>
        </p:nvSpPr>
        <p:spPr>
          <a:xfrm>
            <a:off x="7511796" y="6772046"/>
            <a:ext cx="2705710" cy="2286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承認者と作成者のコミュニケーション</a:t>
            </a:r>
            <a:endParaRPr lang="en-US" sz="1200" dirty="0"/>
          </a:p>
        </p:txBody>
      </p:sp>
      <p:pic>
        <p:nvPicPr>
          <p:cNvPr id="33" name="Image 3" descr="preencoded.png">    </p:cNvPr>
          <p:cNvPicPr>
            <a:picLocks noChangeAspect="1"/>
          </p:cNvPicPr>
          <p:nvPr/>
        </p:nvPicPr>
        <p:blipFill>
          <a:blip r:embed="rId4"/>
          <a:srcRect l="0" r="0" t="0" b="0"/>
          <a:stretch/>
        </p:blipFill>
        <p:spPr>
          <a:xfrm>
            <a:off x="942746" y="7733995"/>
            <a:ext cx="171907" cy="171907"/>
          </a:xfrm>
          <a:prstGeom prst="rect">
            <a:avLst/>
          </a:prstGeom>
        </p:spPr>
      </p:pic>
      <p:sp>
        <p:nvSpPr>
          <p:cNvPr id="34" name="Text 28"/>
          <p:cNvSpPr txBox="1"/>
          <p:nvPr/>
        </p:nvSpPr>
        <p:spPr>
          <a:xfrm>
            <a:off x="1209751" y="8010144"/>
            <a:ext cx="4543654" cy="4572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ステータスを色分け表示</a:t>
            </a:r>
            <a:endParaRPr lang="en-US" sz="1200" dirty="0"/>
          </a:p>
        </p:txBody>
      </p:sp>
      <p:pic>
        <p:nvPicPr>
          <p:cNvPr id="35" name="Image 4" descr="preencoded.png">    </p:cNvPr>
          <p:cNvPicPr>
            <a:picLocks noChangeAspect="1"/>
          </p:cNvPicPr>
          <p:nvPr/>
        </p:nvPicPr>
        <p:blipFill>
          <a:blip r:embed="rId5"/>
          <a:srcRect l="-1773" r="-1773" t="0" b="0"/>
          <a:stretch/>
        </p:blipFill>
        <p:spPr>
          <a:xfrm>
            <a:off x="6490411" y="7733995"/>
            <a:ext cx="133502" cy="171907"/>
          </a:xfrm>
          <a:prstGeom prst="rect">
            <a:avLst/>
          </a:prstGeom>
        </p:spPr>
      </p:pic>
      <p:sp>
        <p:nvSpPr>
          <p:cNvPr id="36" name="Text 29"/>
          <p:cNvSpPr txBox="1"/>
          <p:nvPr/>
        </p:nvSpPr>
        <p:spPr>
          <a:xfrm>
            <a:off x="6757416" y="8010144"/>
            <a:ext cx="21058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右側に報告書一覧を表示し、</a:t>
            </a:r>
            <a:endParaRPr lang="en-US" sz="1200" dirty="0"/>
          </a:p>
        </p:txBody>
      </p:sp>
      <p:sp>
        <p:nvSpPr>
          <p:cNvPr id="37" name="Text 30"/>
          <p:cNvSpPr txBox="1"/>
          <p:nvPr/>
        </p:nvSpPr>
        <p:spPr>
          <a:xfrm>
            <a:off x="8738006" y="8010144"/>
            <a:ext cx="2410358" cy="228600"/>
          </a:xfrm>
          <a:prstGeom prst="rect">
            <a:avLst/>
          </a:prstGeom>
          <a:noFill/>
          <a:ln/>
        </p:spPr>
        <p:txBody>
          <a:bodyPr wrap="square" lIns="0" tIns="0" rIns="0" bIns="0" rtlCol="0" anchor="ctr"/>
          <a:lstStyle/>
          <a:p>
            <a:pPr algn="l" indent="0" marL="0">
              <a:buNone/>
            </a:pPr>
            <a:r>
              <a:rPr lang="en-US" sz="1200" dirty="0">
                <a:solidFill>
                  <a:srgbClr val="005BAC"/>
                </a:solidFill>
                <a:latin typeface="Noto Sans JP" pitchFamily="34" charset="0"/>
                <a:ea typeface="Noto Sans JP" pitchFamily="34" charset="-122"/>
                <a:cs typeface="Noto Sans JP" pitchFamily="34" charset="-120"/>
              </a:rPr>
              <a:t>各報告書の承認状況を一覧で確認</a:t>
            </a:r>
            <a:endParaRPr lang="en-US" sz="1200" dirty="0"/>
          </a:p>
        </p:txBody>
      </p:sp>
      <p:sp>
        <p:nvSpPr>
          <p:cNvPr id="38" name="Text 31"/>
          <p:cNvSpPr txBox="1"/>
          <p:nvPr/>
        </p:nvSpPr>
        <p:spPr>
          <a:xfrm>
            <a:off x="761695" y="8887054"/>
            <a:ext cx="6882689" cy="191110"/>
          </a:xfrm>
          <a:prstGeom prst="rect">
            <a:avLst/>
          </a:prstGeom>
          <a:noFill/>
          <a:ln/>
        </p:spPr>
        <p:txBody>
          <a:bodyPr wrap="square" lIns="0" tIns="0" rIns="0" bIns="0" rtlCol="0" anchor="ctr"/>
          <a:lstStyle/>
          <a:p>
            <a:pPr algn="l" indent="0" marL="0">
              <a:buNone/>
            </a:pPr>
            <a:r>
              <a:rPr lang="en-US" sz="1000" i="1" dirty="0">
                <a:solidFill>
                  <a:srgbClr val="666666"/>
                </a:solidFill>
                <a:latin typeface="Noto Sans JP" pitchFamily="34" charset="0"/>
                <a:ea typeface="Noto Sans JP" pitchFamily="34" charset="-122"/>
                <a:cs typeface="Noto Sans JP" pitchFamily="34" charset="-120"/>
              </a:rPr>
              <a:t>※従来は紙やメール、対面での承認が必要だった作業が、システム内で完結し大幅な時間短縮が可能になります。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476402" y="390449"/>
            <a:ext cx="4034333" cy="419710"/>
          </a:xfrm>
          <a:prstGeom prst="rect">
            <a:avLst/>
          </a:prstGeom>
          <a:noFill/>
          <a:ln/>
        </p:spPr>
        <p:txBody>
          <a:bodyPr wrap="square" lIns="0" tIns="0" rIns="0" bIns="0" rtlCol="0" anchor="ctr"/>
          <a:lstStyle/>
          <a:p>
            <a:pPr algn="l" indent="0" marL="0">
              <a:buNone/>
            </a:pPr>
            <a:r>
              <a:rPr lang="en-US" sz="2200" b="1" dirty="0">
                <a:solidFill>
                  <a:srgbClr val="005BAC"/>
                </a:solidFill>
                <a:latin typeface="Noto Sans JP" pitchFamily="34" charset="0"/>
                <a:ea typeface="Noto Sans JP" pitchFamily="34" charset="-122"/>
                <a:cs typeface="Noto Sans JP" pitchFamily="34" charset="-120"/>
              </a:rPr>
              <a:t>Webシステム 報告書編集画面</a:t>
            </a:r>
            <a:endParaRPr lang="en-US" sz="2200" dirty="0"/>
          </a:p>
        </p:txBody>
      </p:sp>
      <p:sp>
        <p:nvSpPr>
          <p:cNvPr id="6" name="Shape 4"/>
          <p:cNvSpPr/>
          <p:nvPr/>
        </p:nvSpPr>
        <p:spPr>
          <a:xfrm>
            <a:off x="4430268" y="381305"/>
            <a:ext cx="1095451" cy="437998"/>
          </a:xfrm>
          <a:prstGeom prst="roundRect">
            <a:avLst>
              <a:gd name="adj" fmla="val 90769"/>
            </a:avLst>
          </a:prstGeom>
          <a:solidFill>
            <a:srgbClr val="005BAC"/>
          </a:solidFill>
          <a:ln/>
        </p:spPr>
      </p:sp>
      <p:sp>
        <p:nvSpPr>
          <p:cNvPr id="7" name="Text 5"/>
          <p:cNvSpPr txBox="1"/>
          <p:nvPr/>
        </p:nvSpPr>
        <p:spPr>
          <a:xfrm>
            <a:off x="4620463" y="457200"/>
            <a:ext cx="857707"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Phase 1</a:t>
            </a:r>
            <a:endParaRPr lang="en-US" sz="1500" dirty="0"/>
          </a:p>
        </p:txBody>
      </p:sp>
      <p:pic>
        <p:nvPicPr>
          <p:cNvPr id="8" name="Image 0" descr="https://page.gensparksite.com/v1/base64_upload/b3d245124f36a295d7bae5faaa5ab4c0">    </p:cNvPr>
          <p:cNvPicPr>
            <a:picLocks noChangeAspect="1"/>
          </p:cNvPicPr>
          <p:nvPr/>
        </p:nvPicPr>
        <p:blipFill>
          <a:blip r:embed="rId1"/>
          <a:srcRect l="51" r="51" t="0" b="0"/>
          <a:stretch/>
        </p:blipFill>
        <p:spPr>
          <a:xfrm>
            <a:off x="476402" y="1170432"/>
            <a:ext cx="8915400" cy="5020056"/>
          </a:xfrm>
          <a:prstGeom prst="rect">
            <a:avLst/>
          </a:prstGeom>
        </p:spPr>
      </p:pic>
      <p:pic>
        <p:nvPicPr>
          <p:cNvPr id="9" name="Image 1" descr="preencoded.png">    </p:cNvPr>
          <p:cNvPicPr>
            <a:picLocks noChangeAspect="1"/>
          </p:cNvPicPr>
          <p:nvPr/>
        </p:nvPicPr>
        <p:blipFill>
          <a:blip r:embed="rId2"/>
          <a:srcRect l="-1773" r="-1773" t="0" b="0"/>
          <a:stretch/>
        </p:blipFill>
        <p:spPr>
          <a:xfrm>
            <a:off x="9720072" y="2369210"/>
            <a:ext cx="133502" cy="171907"/>
          </a:xfrm>
          <a:prstGeom prst="rect">
            <a:avLst/>
          </a:prstGeom>
        </p:spPr>
      </p:pic>
      <p:sp>
        <p:nvSpPr>
          <p:cNvPr id="10" name="Text 6"/>
          <p:cNvSpPr txBox="1"/>
          <p:nvPr/>
        </p:nvSpPr>
        <p:spPr>
          <a:xfrm>
            <a:off x="9929470" y="2318918"/>
            <a:ext cx="8147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自動配置</a:t>
            </a:r>
            <a:endParaRPr lang="en-US" sz="1300" dirty="0"/>
          </a:p>
        </p:txBody>
      </p:sp>
      <p:sp>
        <p:nvSpPr>
          <p:cNvPr id="11" name="Text 7"/>
          <p:cNvSpPr txBox="1"/>
          <p:nvPr/>
        </p:nvSpPr>
        <p:spPr>
          <a:xfrm>
            <a:off x="9967874" y="4129430"/>
            <a:ext cx="6437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AI機能</a:t>
            </a:r>
            <a:endParaRPr lang="en-US" sz="1300" dirty="0"/>
          </a:p>
        </p:txBody>
      </p:sp>
      <p:sp>
        <p:nvSpPr>
          <p:cNvPr id="12" name="Text 8"/>
          <p:cNvSpPr txBox="1"/>
          <p:nvPr/>
        </p:nvSpPr>
        <p:spPr>
          <a:xfrm>
            <a:off x="9720072" y="2633472"/>
            <a:ext cx="1157630"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GPSデータを基に</a:t>
            </a:r>
            <a:endParaRPr lang="en-US" sz="1000" dirty="0"/>
          </a:p>
        </p:txBody>
      </p:sp>
      <p:sp>
        <p:nvSpPr>
          <p:cNvPr id="13" name="Text 9"/>
          <p:cNvSpPr txBox="1"/>
          <p:nvPr/>
        </p:nvSpPr>
        <p:spPr>
          <a:xfrm>
            <a:off x="9720072" y="4643323"/>
            <a:ext cx="1567282"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と報告書文章の自動生成</a:t>
            </a:r>
            <a:endParaRPr lang="en-US" sz="1000" dirty="0"/>
          </a:p>
        </p:txBody>
      </p:sp>
      <p:sp>
        <p:nvSpPr>
          <p:cNvPr id="14" name="Text 10"/>
          <p:cNvSpPr txBox="1"/>
          <p:nvPr/>
        </p:nvSpPr>
        <p:spPr>
          <a:xfrm>
            <a:off x="9720072" y="2633472"/>
            <a:ext cx="2091233" cy="391363"/>
          </a:xfrm>
          <a:prstGeom prst="rect">
            <a:avLst/>
          </a:prstGeom>
          <a:noFill/>
          <a:ln/>
        </p:spPr>
        <p:txBody>
          <a:bodyPr wrap="square" lIns="0" tIns="0" rIns="0" bIns="0" rtlCol="0" anchor="ctr"/>
          <a:lstStyle/>
          <a:p>
            <a:pPr algn="l" indent="0" marL="0">
              <a:buNone/>
            </a:pPr>
            <a:r>
              <a:rPr lang="en-US" sz="1000" dirty="0">
                <a:solidFill>
                  <a:srgbClr val="005BAC"/>
                </a:solidFill>
                <a:latin typeface="Noto Sans JP" pitchFamily="34" charset="0"/>
                <a:ea typeface="Noto Sans JP" pitchFamily="34" charset="-122"/>
                <a:cs typeface="Noto Sans JP" pitchFamily="34" charset="-120"/>
              </a:rPr>
              <a:t>撮影写真が地図上に自動プロット</a:t>
            </a:r>
            <a:endParaRPr lang="en-US" sz="1000" dirty="0"/>
          </a:p>
        </p:txBody>
      </p:sp>
      <p:pic>
        <p:nvPicPr>
          <p:cNvPr id="15" name="Image 2" descr="preencoded.png">    </p:cNvPr>
          <p:cNvPicPr>
            <a:picLocks noChangeAspect="1"/>
          </p:cNvPicPr>
          <p:nvPr/>
        </p:nvPicPr>
        <p:blipFill>
          <a:blip r:embed="rId3"/>
          <a:srcRect l="-760" r="-760" t="0" b="0"/>
          <a:stretch/>
        </p:blipFill>
        <p:spPr>
          <a:xfrm>
            <a:off x="9720072" y="3274466"/>
            <a:ext cx="152705" cy="171907"/>
          </a:xfrm>
          <a:prstGeom prst="rect">
            <a:avLst/>
          </a:prstGeom>
        </p:spPr>
      </p:pic>
      <p:sp>
        <p:nvSpPr>
          <p:cNvPr id="16" name="Text 11"/>
          <p:cNvSpPr txBox="1"/>
          <p:nvPr/>
        </p:nvSpPr>
        <p:spPr>
          <a:xfrm>
            <a:off x="9948672" y="3224174"/>
            <a:ext cx="8147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視線矢印</a:t>
            </a:r>
            <a:endParaRPr lang="en-US" sz="1300" dirty="0"/>
          </a:p>
        </p:txBody>
      </p:sp>
      <p:sp>
        <p:nvSpPr>
          <p:cNvPr id="17" name="Text 12"/>
          <p:cNvSpPr txBox="1"/>
          <p:nvPr/>
        </p:nvSpPr>
        <p:spPr>
          <a:xfrm>
            <a:off x="9720072" y="3538728"/>
            <a:ext cx="1967789" cy="391363"/>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し、現場状況を視覚的に把握</a:t>
            </a:r>
            <a:endParaRPr lang="en-US" sz="1000" dirty="0"/>
          </a:p>
        </p:txBody>
      </p:sp>
      <p:sp>
        <p:nvSpPr>
          <p:cNvPr id="18" name="Text 13"/>
          <p:cNvSpPr txBox="1"/>
          <p:nvPr/>
        </p:nvSpPr>
        <p:spPr>
          <a:xfrm>
            <a:off x="9720072" y="3538728"/>
            <a:ext cx="1700784" cy="191110"/>
          </a:xfrm>
          <a:prstGeom prst="rect">
            <a:avLst/>
          </a:prstGeom>
          <a:noFill/>
          <a:ln/>
        </p:spPr>
        <p:txBody>
          <a:bodyPr wrap="square" lIns="0" tIns="0" rIns="0" bIns="0" rtlCol="0" anchor="ctr"/>
          <a:lstStyle/>
          <a:p>
            <a:pPr algn="l" indent="0" marL="0">
              <a:buNone/>
            </a:pPr>
            <a:r>
              <a:rPr lang="en-US" sz="1000" dirty="0">
                <a:solidFill>
                  <a:srgbClr val="005BAC"/>
                </a:solidFill>
                <a:latin typeface="Noto Sans JP" pitchFamily="34" charset="0"/>
                <a:ea typeface="Noto Sans JP" pitchFamily="34" charset="-122"/>
                <a:cs typeface="Noto Sans JP" pitchFamily="34" charset="-120"/>
              </a:rPr>
              <a:t>撮影方向を矢印で自動表示</a:t>
            </a:r>
            <a:endParaRPr lang="en-US" sz="1000" dirty="0"/>
          </a:p>
        </p:txBody>
      </p:sp>
      <p:pic>
        <p:nvPicPr>
          <p:cNvPr id="19" name="Image 3" descr="preencoded.png">    </p:cNvPr>
          <p:cNvPicPr>
            <a:picLocks noChangeAspect="1"/>
          </p:cNvPicPr>
          <p:nvPr/>
        </p:nvPicPr>
        <p:blipFill>
          <a:blip r:embed="rId4"/>
          <a:srcRect l="0" r="0" t="0" b="0"/>
          <a:stretch/>
        </p:blipFill>
        <p:spPr>
          <a:xfrm>
            <a:off x="9720072" y="4178808"/>
            <a:ext cx="171907" cy="171907"/>
          </a:xfrm>
          <a:prstGeom prst="rect">
            <a:avLst/>
          </a:prstGeom>
        </p:spPr>
      </p:pic>
      <p:sp>
        <p:nvSpPr>
          <p:cNvPr id="20" name="Text 14"/>
          <p:cNvSpPr txBox="1"/>
          <p:nvPr/>
        </p:nvSpPr>
        <p:spPr>
          <a:xfrm>
            <a:off x="9720072" y="4443070"/>
            <a:ext cx="2091233" cy="191110"/>
          </a:xfrm>
          <a:prstGeom prst="rect">
            <a:avLst/>
          </a:prstGeom>
          <a:noFill/>
          <a:ln/>
        </p:spPr>
        <p:txBody>
          <a:bodyPr wrap="square" lIns="0" tIns="0" rIns="0" bIns="0" rtlCol="0" anchor="ctr"/>
          <a:lstStyle/>
          <a:p>
            <a:pPr algn="l" indent="0" marL="0">
              <a:buNone/>
            </a:pPr>
            <a:r>
              <a:rPr lang="en-US" sz="1000" dirty="0">
                <a:solidFill>
                  <a:srgbClr val="005BAC"/>
                </a:solidFill>
                <a:latin typeface="Noto Sans JP" pitchFamily="34" charset="0"/>
                <a:ea typeface="Noto Sans JP" pitchFamily="34" charset="-122"/>
                <a:cs typeface="Noto Sans JP" pitchFamily="34" charset="-120"/>
              </a:rPr>
              <a:t>AI分析による建物状態の自動判定</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3906195"/>
          </a:xfrm>
          <a:prstGeom prst="rect">
            <a:avLst/>
          </a:prstGeom>
          <a:solidFill>
            <a:srgbClr val="FFFFFF"/>
          </a:solidFill>
          <a:ln/>
        </p:spPr>
      </p:sp>
      <p:sp>
        <p:nvSpPr>
          <p:cNvPr id="3" name="Shape 1"/>
          <p:cNvSpPr/>
          <p:nvPr/>
        </p:nvSpPr>
        <p:spPr>
          <a:xfrm>
            <a:off x="0" y="0"/>
            <a:ext cx="12191695" cy="13906195"/>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43154"/>
            <a:ext cx="48390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Webシステム 報告書閲覧画面</a:t>
            </a:r>
            <a:endParaRPr lang="en-US" sz="2700" dirty="0"/>
          </a:p>
        </p:txBody>
      </p:sp>
      <p:sp>
        <p:nvSpPr>
          <p:cNvPr id="6" name="Shape 4"/>
          <p:cNvSpPr/>
          <p:nvPr/>
        </p:nvSpPr>
        <p:spPr>
          <a:xfrm>
            <a:off x="5478170" y="571500"/>
            <a:ext cx="1095451" cy="437998"/>
          </a:xfrm>
          <a:prstGeom prst="roundRect">
            <a:avLst>
              <a:gd name="adj" fmla="val 90769"/>
            </a:avLst>
          </a:prstGeom>
          <a:solidFill>
            <a:srgbClr val="005BAC"/>
          </a:solidFill>
          <a:ln/>
        </p:spPr>
      </p:sp>
      <p:sp>
        <p:nvSpPr>
          <p:cNvPr id="7" name="Text 5"/>
          <p:cNvSpPr txBox="1"/>
          <p:nvPr/>
        </p:nvSpPr>
        <p:spPr>
          <a:xfrm>
            <a:off x="5668366" y="647395"/>
            <a:ext cx="857707" cy="277063"/>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Phase 1</a:t>
            </a:r>
            <a:endParaRPr lang="en-US" sz="1500" dirty="0"/>
          </a:p>
        </p:txBody>
      </p:sp>
      <p:pic>
        <p:nvPicPr>
          <p:cNvPr id="8" name="Image 0" descr="https://page.gensparksite.com/v1/base64_upload/085824c4e49fff08355b9144128314e6">    </p:cNvPr>
          <p:cNvPicPr>
            <a:picLocks noChangeAspect="1"/>
          </p:cNvPicPr>
          <p:nvPr/>
        </p:nvPicPr>
        <p:blipFill>
          <a:blip r:embed="rId1"/>
          <a:srcRect l="0" r="0" t="5" b="5"/>
          <a:stretch/>
        </p:blipFill>
        <p:spPr>
          <a:xfrm>
            <a:off x="1471270" y="1295705"/>
            <a:ext cx="9249156" cy="9773107"/>
          </a:xfrm>
          <a:prstGeom prst="rect">
            <a:avLst/>
          </a:prstGeom>
        </p:spPr>
      </p:pic>
      <p:pic>
        <p:nvPicPr>
          <p:cNvPr id="9" name="Image 1" descr="preencoded.png">    </p:cNvPr>
          <p:cNvPicPr>
            <a:picLocks noChangeAspect="1"/>
          </p:cNvPicPr>
          <p:nvPr/>
        </p:nvPicPr>
        <p:blipFill>
          <a:blip r:embed="rId2"/>
          <a:srcRect l="0" r="0" t="-100" b="-100"/>
          <a:stretch/>
        </p:blipFill>
        <p:spPr>
          <a:xfrm>
            <a:off x="761695" y="11363249"/>
            <a:ext cx="114300" cy="152705"/>
          </a:xfrm>
          <a:prstGeom prst="rect">
            <a:avLst/>
          </a:prstGeom>
        </p:spPr>
      </p:pic>
      <p:sp>
        <p:nvSpPr>
          <p:cNvPr id="10" name="Text 6"/>
          <p:cNvSpPr txBox="1"/>
          <p:nvPr/>
        </p:nvSpPr>
        <p:spPr>
          <a:xfrm>
            <a:off x="1143000" y="11296498"/>
            <a:ext cx="15005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高度な報告書管理</a:t>
            </a:r>
            <a:endParaRPr lang="en-US" sz="1300" dirty="0"/>
          </a:p>
        </p:txBody>
      </p:sp>
      <p:sp>
        <p:nvSpPr>
          <p:cNvPr id="11" name="Text 7"/>
          <p:cNvSpPr txBox="1"/>
          <p:nvPr/>
        </p:nvSpPr>
        <p:spPr>
          <a:xfrm>
            <a:off x="1143000" y="11601907"/>
            <a:ext cx="4849063"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報告書タイトル、作成者、日時などのメタデータで整理され、物件情報を一目で把握できます。対象物件の地図と詳細情報が連動表示されます。</a:t>
            </a:r>
            <a:endParaRPr lang="en-US" sz="1200" dirty="0"/>
          </a:p>
        </p:txBody>
      </p:sp>
      <p:pic>
        <p:nvPicPr>
          <p:cNvPr id="12" name="Image 2" descr="preencoded.png">    </p:cNvPr>
          <p:cNvPicPr>
            <a:picLocks noChangeAspect="1"/>
          </p:cNvPicPr>
          <p:nvPr/>
        </p:nvPicPr>
        <p:blipFill>
          <a:blip r:embed="rId3"/>
          <a:srcRect l="-33" r="-33" t="0" b="0"/>
          <a:stretch/>
        </p:blipFill>
        <p:spPr>
          <a:xfrm>
            <a:off x="761695" y="12497105"/>
            <a:ext cx="171907" cy="152705"/>
          </a:xfrm>
          <a:prstGeom prst="rect">
            <a:avLst/>
          </a:prstGeom>
        </p:spPr>
      </p:pic>
      <p:sp>
        <p:nvSpPr>
          <p:cNvPr id="13" name="Text 8"/>
          <p:cNvSpPr txBox="1"/>
          <p:nvPr/>
        </p:nvSpPr>
        <p:spPr>
          <a:xfrm>
            <a:off x="1143000" y="12430354"/>
            <a:ext cx="1500530"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地図情報の可視化</a:t>
            </a:r>
            <a:endParaRPr lang="en-US" sz="1300" dirty="0"/>
          </a:p>
        </p:txBody>
      </p:sp>
      <p:sp>
        <p:nvSpPr>
          <p:cNvPr id="14" name="Text 9"/>
          <p:cNvSpPr txBox="1"/>
          <p:nvPr/>
        </p:nvSpPr>
        <p:spPr>
          <a:xfrm>
            <a:off x="1143000" y="12734849"/>
            <a:ext cx="4810658"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中央に物件の地図情報をリアルタイム表示。GoogleマップAPIと連携し、正確な位置情報と撮影方向が矢印で示されます。</a:t>
            </a:r>
            <a:endParaRPr lang="en-US" sz="1200" dirty="0"/>
          </a:p>
        </p:txBody>
      </p:sp>
      <p:pic>
        <p:nvPicPr>
          <p:cNvPr id="15" name="Image 3" descr="preencoded.png">    </p:cNvPr>
          <p:cNvPicPr>
            <a:picLocks noChangeAspect="1"/>
          </p:cNvPicPr>
          <p:nvPr/>
        </p:nvPicPr>
        <p:blipFill>
          <a:blip r:embed="rId4"/>
          <a:srcRect l="-33" r="-33" t="0" b="0"/>
          <a:stretch/>
        </p:blipFill>
        <p:spPr>
          <a:xfrm>
            <a:off x="6238951" y="11363249"/>
            <a:ext cx="171907" cy="152705"/>
          </a:xfrm>
          <a:prstGeom prst="rect">
            <a:avLst/>
          </a:prstGeom>
        </p:spPr>
      </p:pic>
      <p:sp>
        <p:nvSpPr>
          <p:cNvPr id="16" name="Text 10"/>
          <p:cNvSpPr txBox="1"/>
          <p:nvPr/>
        </p:nvSpPr>
        <p:spPr>
          <a:xfrm>
            <a:off x="6620256" y="11296498"/>
            <a:ext cx="13295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写真ギャラリー</a:t>
            </a:r>
            <a:endParaRPr lang="en-US" sz="1300" dirty="0"/>
          </a:p>
        </p:txBody>
      </p:sp>
      <p:sp>
        <p:nvSpPr>
          <p:cNvPr id="17" name="Text 11"/>
          <p:cNvSpPr txBox="1"/>
          <p:nvPr/>
        </p:nvSpPr>
        <p:spPr>
          <a:xfrm>
            <a:off x="6620256" y="11601907"/>
            <a:ext cx="4839005" cy="4572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右側にサムネイル形式で撮影写真を一覧表示。クリックで拡大表示や詳細情報の確認が可能です。GPS座標も自動で関連付けられます。</a:t>
            </a:r>
            <a:endParaRPr lang="en-US" sz="1200" dirty="0"/>
          </a:p>
        </p:txBody>
      </p:sp>
      <p:pic>
        <p:nvPicPr>
          <p:cNvPr id="18" name="Image 4" descr="preencoded.png">    </p:cNvPr>
          <p:cNvPicPr>
            <a:picLocks noChangeAspect="1"/>
          </p:cNvPicPr>
          <p:nvPr/>
        </p:nvPicPr>
        <p:blipFill>
          <a:blip r:embed="rId5"/>
          <a:srcRect l="-33" r="-33" t="0" b="0"/>
          <a:stretch/>
        </p:blipFill>
        <p:spPr>
          <a:xfrm>
            <a:off x="6238951" y="12268505"/>
            <a:ext cx="171907" cy="152705"/>
          </a:xfrm>
          <a:prstGeom prst="rect">
            <a:avLst/>
          </a:prstGeom>
        </p:spPr>
      </p:pic>
      <p:sp>
        <p:nvSpPr>
          <p:cNvPr id="19" name="Text 12"/>
          <p:cNvSpPr txBox="1"/>
          <p:nvPr/>
        </p:nvSpPr>
        <p:spPr>
          <a:xfrm>
            <a:off x="6620256" y="12201754"/>
            <a:ext cx="1329538" cy="247802"/>
          </a:xfrm>
          <a:prstGeom prst="rect">
            <a:avLst/>
          </a:prstGeom>
          <a:noFill/>
          <a:ln/>
        </p:spPr>
        <p:txBody>
          <a:bodyPr wrap="square" lIns="0" tIns="0" rIns="0" bIns="0" rtlCol="0" anchor="ctr"/>
          <a:lstStyle/>
          <a:p>
            <a:pPr algn="l" indent="0" marL="0">
              <a:buNone/>
            </a:pPr>
            <a:r>
              <a:rPr lang="en-US" sz="1300" b="1" dirty="0">
                <a:solidFill>
                  <a:srgbClr val="005BAC"/>
                </a:solidFill>
                <a:latin typeface="Noto Sans JP" pitchFamily="34" charset="0"/>
                <a:ea typeface="Noto Sans JP" pitchFamily="34" charset="-122"/>
                <a:cs typeface="Noto Sans JP" pitchFamily="34" charset="-120"/>
              </a:rPr>
              <a:t>多様な出力形式</a:t>
            </a:r>
            <a:endParaRPr lang="en-US" sz="1300" dirty="0"/>
          </a:p>
        </p:txBody>
      </p:sp>
      <p:sp>
        <p:nvSpPr>
          <p:cNvPr id="20" name="Text 13"/>
          <p:cNvSpPr txBox="1"/>
          <p:nvPr/>
        </p:nvSpPr>
        <p:spPr>
          <a:xfrm>
            <a:off x="6620256" y="12506249"/>
            <a:ext cx="4849063" cy="6858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ワンクリックでPDF出力やデータのエクスポートが可能。クライアント提出用の高品質レポートが自動生成され、作業時間を大幅に削減します。</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11611051"/>
          </a:xfrm>
          <a:prstGeom prst="rect">
            <a:avLst/>
          </a:prstGeom>
          <a:solidFill>
            <a:srgbClr val="FFFFFF"/>
          </a:solidFill>
          <a:ln/>
        </p:spPr>
      </p:sp>
      <p:sp>
        <p:nvSpPr>
          <p:cNvPr id="3" name="Shape 1"/>
          <p:cNvSpPr/>
          <p:nvPr/>
        </p:nvSpPr>
        <p:spPr>
          <a:xfrm>
            <a:off x="0" y="0"/>
            <a:ext cx="12191695" cy="11611051"/>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6430061"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導入後の業務プロセス（Before/After）</a:t>
            </a:r>
            <a:endParaRPr lang="en-US" sz="2700" dirty="0"/>
          </a:p>
        </p:txBody>
      </p:sp>
      <p:sp>
        <p:nvSpPr>
          <p:cNvPr id="6" name="Text 4"/>
          <p:cNvSpPr txBox="1"/>
          <p:nvPr/>
        </p:nvSpPr>
        <p:spPr>
          <a:xfrm>
            <a:off x="761695" y="1314907"/>
            <a:ext cx="3020263"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【図4：Before/After比較】</a:t>
            </a:r>
            <a:endParaRPr lang="en-US" sz="1800" dirty="0"/>
          </a:p>
        </p:txBody>
      </p:sp>
      <p:pic>
        <p:nvPicPr>
          <p:cNvPr id="7" name="Image 0" descr="https://page.gensparksite.com/slides_images/e828a38530dd8c9abf48d83582fa9235.png">    </p:cNvPr>
          <p:cNvPicPr>
            <a:picLocks noChangeAspect="1"/>
          </p:cNvPicPr>
          <p:nvPr/>
        </p:nvPicPr>
        <p:blipFill>
          <a:blip r:embed="rId1"/>
          <a:srcRect l="0" r="0" t="0" b="0"/>
          <a:stretch/>
        </p:blipFill>
        <p:spPr>
          <a:xfrm>
            <a:off x="1295705" y="2115007"/>
            <a:ext cx="9601200" cy="6400800"/>
          </a:xfrm>
          <a:prstGeom prst="rect">
            <a:avLst/>
          </a:prstGeom>
        </p:spPr>
      </p:pic>
      <p:sp>
        <p:nvSpPr>
          <p:cNvPr id="8" name="Shape 5"/>
          <p:cNvSpPr/>
          <p:nvPr/>
        </p:nvSpPr>
        <p:spPr>
          <a:xfrm>
            <a:off x="1295705" y="8991295"/>
            <a:ext cx="4610405" cy="2048256"/>
          </a:xfrm>
          <a:prstGeom prst="roundRect">
            <a:avLst>
              <a:gd name="adj" fmla="val 1661"/>
            </a:avLst>
          </a:prstGeom>
          <a:solidFill>
            <a:srgbClr val="005BAC">
              <a:alpha val="8000"/>
            </a:srgbClr>
          </a:solidFill>
          <a:ln/>
        </p:spPr>
      </p:sp>
      <p:sp>
        <p:nvSpPr>
          <p:cNvPr id="9" name="Shape 6"/>
          <p:cNvSpPr/>
          <p:nvPr/>
        </p:nvSpPr>
        <p:spPr>
          <a:xfrm>
            <a:off x="1295705" y="8991295"/>
            <a:ext cx="38405" cy="2048256"/>
          </a:xfrm>
          <a:prstGeom prst="rect">
            <a:avLst/>
          </a:prstGeom>
          <a:solidFill>
            <a:srgbClr val="005BAC"/>
          </a:solidFill>
          <a:ln/>
        </p:spPr>
      </p:sp>
      <p:pic>
        <p:nvPicPr>
          <p:cNvPr id="10" name="Image 1" descr="preencoded.png">    </p:cNvPr>
          <p:cNvPicPr>
            <a:picLocks noChangeAspect="1"/>
          </p:cNvPicPr>
          <p:nvPr/>
        </p:nvPicPr>
        <p:blipFill>
          <a:blip r:embed="rId2"/>
          <a:srcRect l="0" r="0" t="0" b="0"/>
          <a:stretch/>
        </p:blipFill>
        <p:spPr>
          <a:xfrm>
            <a:off x="1524305" y="9201607"/>
            <a:ext cx="190195" cy="190195"/>
          </a:xfrm>
          <a:prstGeom prst="rect">
            <a:avLst/>
          </a:prstGeom>
        </p:spPr>
      </p:pic>
      <p:sp>
        <p:nvSpPr>
          <p:cNvPr id="11" name="Text 7"/>
          <p:cNvSpPr txBox="1"/>
          <p:nvPr/>
        </p:nvSpPr>
        <p:spPr>
          <a:xfrm>
            <a:off x="1809598" y="9182405"/>
            <a:ext cx="1495958" cy="228600"/>
          </a:xfrm>
          <a:prstGeom prst="rect">
            <a:avLst/>
          </a:prstGeom>
          <a:noFill/>
          <a:ln/>
        </p:spPr>
        <p:txBody>
          <a:bodyPr wrap="square" lIns="0" tIns="0" rIns="0" bIns="0" rtlCol="0" anchor="ctr"/>
          <a:lstStyle/>
          <a:p>
            <a:pPr algn="l" indent="0" marL="0">
              <a:buNone/>
            </a:pPr>
            <a:r>
              <a:rPr lang="en-US" sz="1200" b="1" dirty="0">
                <a:solidFill>
                  <a:srgbClr val="333333"/>
                </a:solidFill>
                <a:latin typeface="Noto Sans JP" pitchFamily="34" charset="0"/>
                <a:ea typeface="Noto Sans JP" pitchFamily="34" charset="-122"/>
                <a:cs typeface="Noto Sans JP" pitchFamily="34" charset="-120"/>
              </a:rPr>
              <a:t>従来の業務プロセス</a:t>
            </a:r>
            <a:endParaRPr lang="en-US" sz="1200" dirty="0"/>
          </a:p>
        </p:txBody>
      </p:sp>
      <p:sp>
        <p:nvSpPr>
          <p:cNvPr id="12" name="Text 8"/>
          <p:cNvSpPr txBox="1"/>
          <p:nvPr/>
        </p:nvSpPr>
        <p:spPr>
          <a:xfrm>
            <a:off x="1619402" y="9553651"/>
            <a:ext cx="36292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撮影データとメモの照合に膨大な時間と労力が必要</a:t>
            </a:r>
            <a:endParaRPr lang="en-US" sz="1200" dirty="0"/>
          </a:p>
        </p:txBody>
      </p:sp>
      <p:sp>
        <p:nvSpPr>
          <p:cNvPr id="13" name="Text 9"/>
          <p:cNvSpPr txBox="1"/>
          <p:nvPr/>
        </p:nvSpPr>
        <p:spPr>
          <a:xfrm>
            <a:off x="1619402" y="9877349"/>
            <a:ext cx="30202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担当者の長時間労働と精神的負担が大きい</a:t>
            </a:r>
            <a:endParaRPr lang="en-US" sz="1200" dirty="0"/>
          </a:p>
        </p:txBody>
      </p:sp>
      <p:sp>
        <p:nvSpPr>
          <p:cNvPr id="14" name="Text 10"/>
          <p:cNvSpPr txBox="1"/>
          <p:nvPr/>
        </p:nvSpPr>
        <p:spPr>
          <a:xfrm>
            <a:off x="1619402" y="10201046"/>
            <a:ext cx="2867558"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熟練者のスキルに依存する属人的な業務</a:t>
            </a:r>
            <a:endParaRPr lang="en-US" sz="1200" dirty="0"/>
          </a:p>
        </p:txBody>
      </p:sp>
      <p:sp>
        <p:nvSpPr>
          <p:cNvPr id="15" name="Text 11"/>
          <p:cNvSpPr txBox="1"/>
          <p:nvPr/>
        </p:nvSpPr>
        <p:spPr>
          <a:xfrm>
            <a:off x="1619402" y="10524744"/>
            <a:ext cx="2410358"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作業品質にばらつきが生じやすい</a:t>
            </a:r>
            <a:endParaRPr lang="en-US" sz="1200" dirty="0"/>
          </a:p>
        </p:txBody>
      </p:sp>
      <p:sp>
        <p:nvSpPr>
          <p:cNvPr id="16" name="Shape 12"/>
          <p:cNvSpPr/>
          <p:nvPr/>
        </p:nvSpPr>
        <p:spPr>
          <a:xfrm>
            <a:off x="6288329" y="8991295"/>
            <a:ext cx="4610405" cy="2048256"/>
          </a:xfrm>
          <a:prstGeom prst="roundRect">
            <a:avLst>
              <a:gd name="adj" fmla="val 1661"/>
            </a:avLst>
          </a:prstGeom>
          <a:solidFill>
            <a:srgbClr val="FFC400">
              <a:alpha val="8000"/>
            </a:srgbClr>
          </a:solidFill>
          <a:ln/>
        </p:spPr>
      </p:sp>
      <p:sp>
        <p:nvSpPr>
          <p:cNvPr id="17" name="Shape 13"/>
          <p:cNvSpPr/>
          <p:nvPr/>
        </p:nvSpPr>
        <p:spPr>
          <a:xfrm>
            <a:off x="6288329" y="8991295"/>
            <a:ext cx="38405" cy="2048256"/>
          </a:xfrm>
          <a:prstGeom prst="rect">
            <a:avLst/>
          </a:prstGeom>
          <a:solidFill>
            <a:srgbClr val="FFC400"/>
          </a:solidFill>
          <a:ln/>
        </p:spPr>
      </p:sp>
      <p:pic>
        <p:nvPicPr>
          <p:cNvPr id="18" name="Image 2" descr="preencoded.png">    </p:cNvPr>
          <p:cNvPicPr>
            <a:picLocks noChangeAspect="1"/>
          </p:cNvPicPr>
          <p:nvPr/>
        </p:nvPicPr>
        <p:blipFill>
          <a:blip r:embed="rId3"/>
          <a:srcRect l="0" r="0" t="0" b="0"/>
          <a:stretch/>
        </p:blipFill>
        <p:spPr>
          <a:xfrm>
            <a:off x="6516929" y="9201607"/>
            <a:ext cx="190195" cy="190195"/>
          </a:xfrm>
          <a:prstGeom prst="rect">
            <a:avLst/>
          </a:prstGeom>
        </p:spPr>
      </p:pic>
      <p:sp>
        <p:nvSpPr>
          <p:cNvPr id="19" name="Text 14"/>
          <p:cNvSpPr txBox="1"/>
          <p:nvPr/>
        </p:nvSpPr>
        <p:spPr>
          <a:xfrm>
            <a:off x="6802222" y="9182405"/>
            <a:ext cx="1334110" cy="228600"/>
          </a:xfrm>
          <a:prstGeom prst="rect">
            <a:avLst/>
          </a:prstGeom>
          <a:noFill/>
          <a:ln/>
        </p:spPr>
        <p:txBody>
          <a:bodyPr wrap="square" lIns="0" tIns="0" rIns="0" bIns="0" rtlCol="0" anchor="ctr"/>
          <a:lstStyle/>
          <a:p>
            <a:pPr algn="l" indent="0" marL="0">
              <a:buNone/>
            </a:pPr>
            <a:r>
              <a:rPr lang="en-US" sz="1200" b="1" dirty="0">
                <a:solidFill>
                  <a:srgbClr val="333333"/>
                </a:solidFill>
                <a:latin typeface="Noto Sans JP" pitchFamily="34" charset="0"/>
                <a:ea typeface="Noto Sans JP" pitchFamily="34" charset="-122"/>
                <a:cs typeface="Noto Sans JP" pitchFamily="34" charset="-120"/>
              </a:rPr>
              <a:t>新システム導入後</a:t>
            </a:r>
            <a:endParaRPr lang="en-US" sz="1200" dirty="0"/>
          </a:p>
        </p:txBody>
      </p:sp>
      <p:sp>
        <p:nvSpPr>
          <p:cNvPr id="20" name="Text 15"/>
          <p:cNvSpPr txBox="1"/>
          <p:nvPr/>
        </p:nvSpPr>
        <p:spPr>
          <a:xfrm>
            <a:off x="6612026" y="9553651"/>
            <a:ext cx="2857500"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自動データ連携により照合作業が不要に</a:t>
            </a:r>
            <a:endParaRPr lang="en-US" sz="1200" dirty="0"/>
          </a:p>
        </p:txBody>
      </p:sp>
      <p:sp>
        <p:nvSpPr>
          <p:cNvPr id="21" name="Text 16"/>
          <p:cNvSpPr txBox="1"/>
          <p:nvPr/>
        </p:nvSpPr>
        <p:spPr>
          <a:xfrm>
            <a:off x="6612026" y="9877349"/>
            <a:ext cx="3324758"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地図上への自動プロットで作業時間を大幅短縮</a:t>
            </a:r>
            <a:endParaRPr lang="en-US" sz="1200" dirty="0"/>
          </a:p>
        </p:txBody>
      </p:sp>
      <p:sp>
        <p:nvSpPr>
          <p:cNvPr id="22" name="Text 17"/>
          <p:cNvSpPr txBox="1"/>
          <p:nvPr/>
        </p:nvSpPr>
        <p:spPr>
          <a:xfrm>
            <a:off x="6612026" y="10201046"/>
            <a:ext cx="3305556"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直感的なインターフェースで誰でも対応が可能</a:t>
            </a:r>
            <a:endParaRPr lang="en-US" sz="1200" dirty="0"/>
          </a:p>
        </p:txBody>
      </p:sp>
      <p:sp>
        <p:nvSpPr>
          <p:cNvPr id="23" name="Text 18"/>
          <p:cNvSpPr txBox="1"/>
          <p:nvPr/>
        </p:nvSpPr>
        <p:spPr>
          <a:xfrm>
            <a:off x="6612026" y="10524744"/>
            <a:ext cx="25630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一貫した高品質の報告書作成を実現</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8372246"/>
          </a:xfrm>
          <a:prstGeom prst="rect">
            <a:avLst/>
          </a:prstGeom>
          <a:solidFill>
            <a:srgbClr val="FFFFFF"/>
          </a:solidFill>
          <a:ln/>
        </p:spPr>
      </p:sp>
      <p:sp>
        <p:nvSpPr>
          <p:cNvPr id="3" name="Shape 1"/>
          <p:cNvSpPr/>
          <p:nvPr/>
        </p:nvSpPr>
        <p:spPr>
          <a:xfrm>
            <a:off x="0" y="0"/>
            <a:ext cx="12191695" cy="8372246"/>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33531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期待される導入効果</a:t>
            </a:r>
            <a:endParaRPr lang="en-US" sz="2700" dirty="0"/>
          </a:p>
        </p:txBody>
      </p:sp>
      <p:sp>
        <p:nvSpPr>
          <p:cNvPr id="6" name="Shape 4"/>
          <p:cNvSpPr/>
          <p:nvPr/>
        </p:nvSpPr>
        <p:spPr>
          <a:xfrm>
            <a:off x="761695" y="1429207"/>
            <a:ext cx="381305" cy="381305"/>
          </a:xfrm>
          <a:prstGeom prst="ellipse">
            <a:avLst/>
          </a:prstGeom>
          <a:solidFill>
            <a:srgbClr val="005BAC"/>
          </a:solidFill>
          <a:ln/>
        </p:spPr>
      </p:sp>
      <p:sp>
        <p:nvSpPr>
          <p:cNvPr id="7" name="Text 5"/>
          <p:cNvSpPr txBox="1"/>
          <p:nvPr/>
        </p:nvSpPr>
        <p:spPr>
          <a:xfrm>
            <a:off x="896112" y="1476756"/>
            <a:ext cx="257861"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8" name="Text 6"/>
          <p:cNvSpPr txBox="1"/>
          <p:nvPr/>
        </p:nvSpPr>
        <p:spPr>
          <a:xfrm>
            <a:off x="1333195" y="1429207"/>
            <a:ext cx="2000707"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圧倒的な時間短縮</a:t>
            </a:r>
            <a:endParaRPr lang="en-US" sz="1800" dirty="0"/>
          </a:p>
        </p:txBody>
      </p:sp>
      <p:sp>
        <p:nvSpPr>
          <p:cNvPr id="9" name="Text 7"/>
          <p:cNvSpPr txBox="1"/>
          <p:nvPr/>
        </p:nvSpPr>
        <p:spPr>
          <a:xfrm>
            <a:off x="1333195" y="1895551"/>
            <a:ext cx="9549079" cy="523951"/>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報告書作成にかかる時間を大幅に削減し、担当者の業務負荷を劇的に軽減します。手作業での場所特定作業がなくなることで、作業時間の大幅な削減が実現します。</a:t>
            </a:r>
            <a:endParaRPr lang="en-US" sz="1300" dirty="0"/>
          </a:p>
        </p:txBody>
      </p:sp>
      <p:sp>
        <p:nvSpPr>
          <p:cNvPr id="10" name="Shape 8"/>
          <p:cNvSpPr/>
          <p:nvPr/>
        </p:nvSpPr>
        <p:spPr>
          <a:xfrm>
            <a:off x="10953598" y="1429207"/>
            <a:ext cx="476402" cy="476402"/>
          </a:xfrm>
          <a:prstGeom prst="roundRect">
            <a:avLst>
              <a:gd name="adj" fmla="val 30710"/>
            </a:avLst>
          </a:prstGeom>
          <a:solidFill>
            <a:srgbClr val="FFC400">
              <a:alpha val="15000"/>
            </a:srgbClr>
          </a:solidFill>
          <a:ln/>
        </p:spPr>
      </p:sp>
      <p:pic>
        <p:nvPicPr>
          <p:cNvPr id="11" name="Image 0" descr="preencoded.png">    </p:cNvPr>
          <p:cNvPicPr>
            <a:picLocks noChangeAspect="1"/>
          </p:cNvPicPr>
          <p:nvPr/>
        </p:nvPicPr>
        <p:blipFill>
          <a:blip r:embed="rId1"/>
          <a:srcRect l="0" r="0" t="0" b="0"/>
          <a:stretch/>
        </p:blipFill>
        <p:spPr>
          <a:xfrm>
            <a:off x="11077956" y="1552651"/>
            <a:ext cx="228600" cy="228600"/>
          </a:xfrm>
          <a:prstGeom prst="rect">
            <a:avLst/>
          </a:prstGeom>
        </p:spPr>
      </p:pic>
      <p:sp>
        <p:nvSpPr>
          <p:cNvPr id="12" name="Shape 9"/>
          <p:cNvSpPr/>
          <p:nvPr/>
        </p:nvSpPr>
        <p:spPr>
          <a:xfrm>
            <a:off x="761695" y="2767889"/>
            <a:ext cx="381305" cy="381305"/>
          </a:xfrm>
          <a:prstGeom prst="ellipse">
            <a:avLst/>
          </a:prstGeom>
          <a:solidFill>
            <a:srgbClr val="005BAC"/>
          </a:solidFill>
          <a:ln/>
        </p:spPr>
      </p:sp>
      <p:sp>
        <p:nvSpPr>
          <p:cNvPr id="13" name="Text 10"/>
          <p:cNvSpPr txBox="1"/>
          <p:nvPr/>
        </p:nvSpPr>
        <p:spPr>
          <a:xfrm>
            <a:off x="896112" y="2815438"/>
            <a:ext cx="257861"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4" name="Text 11"/>
          <p:cNvSpPr txBox="1"/>
          <p:nvPr/>
        </p:nvSpPr>
        <p:spPr>
          <a:xfrm>
            <a:off x="1333195" y="2767889"/>
            <a:ext cx="2229307"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納品スピードの向上</a:t>
            </a:r>
            <a:endParaRPr lang="en-US" sz="1800" dirty="0"/>
          </a:p>
        </p:txBody>
      </p:sp>
      <p:sp>
        <p:nvSpPr>
          <p:cNvPr id="15" name="Text 12"/>
          <p:cNvSpPr txBox="1"/>
          <p:nvPr/>
        </p:nvSpPr>
        <p:spPr>
          <a:xfrm>
            <a:off x="1333195" y="3234233"/>
            <a:ext cx="9559138" cy="523951"/>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業務プロセス全体が高速化され、調査から報告書提出までのリードタイムを短縮。顧客満足度の向上と競争力強化につながります。</a:t>
            </a:r>
            <a:endParaRPr lang="en-US" sz="1300" dirty="0"/>
          </a:p>
        </p:txBody>
      </p:sp>
      <p:sp>
        <p:nvSpPr>
          <p:cNvPr id="16" name="Shape 13"/>
          <p:cNvSpPr/>
          <p:nvPr/>
        </p:nvSpPr>
        <p:spPr>
          <a:xfrm>
            <a:off x="10953598" y="2767889"/>
            <a:ext cx="476402" cy="476402"/>
          </a:xfrm>
          <a:prstGeom prst="roundRect">
            <a:avLst>
              <a:gd name="adj" fmla="val 30710"/>
            </a:avLst>
          </a:prstGeom>
          <a:solidFill>
            <a:srgbClr val="FFC400">
              <a:alpha val="15000"/>
            </a:srgbClr>
          </a:solidFill>
          <a:ln/>
        </p:spPr>
      </p:sp>
      <p:pic>
        <p:nvPicPr>
          <p:cNvPr id="17" name="Image 1" descr="preencoded.png">    </p:cNvPr>
          <p:cNvPicPr>
            <a:picLocks noChangeAspect="1"/>
          </p:cNvPicPr>
          <p:nvPr/>
        </p:nvPicPr>
        <p:blipFill>
          <a:blip r:embed="rId2"/>
          <a:srcRect l="0" r="0" t="0" b="0"/>
          <a:stretch/>
        </p:blipFill>
        <p:spPr>
          <a:xfrm>
            <a:off x="11077956" y="2891333"/>
            <a:ext cx="228600" cy="228600"/>
          </a:xfrm>
          <a:prstGeom prst="rect">
            <a:avLst/>
          </a:prstGeom>
        </p:spPr>
      </p:pic>
      <p:sp>
        <p:nvSpPr>
          <p:cNvPr id="18" name="Shape 14"/>
          <p:cNvSpPr/>
          <p:nvPr/>
        </p:nvSpPr>
        <p:spPr>
          <a:xfrm>
            <a:off x="761695" y="4107485"/>
            <a:ext cx="381305" cy="381305"/>
          </a:xfrm>
          <a:prstGeom prst="ellipse">
            <a:avLst/>
          </a:prstGeom>
          <a:solidFill>
            <a:srgbClr val="005BAC"/>
          </a:solidFill>
          <a:ln/>
        </p:spPr>
      </p:sp>
      <p:sp>
        <p:nvSpPr>
          <p:cNvPr id="19" name="Text 15"/>
          <p:cNvSpPr txBox="1"/>
          <p:nvPr/>
        </p:nvSpPr>
        <p:spPr>
          <a:xfrm>
            <a:off x="896112" y="4155034"/>
            <a:ext cx="257861"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20" name="Text 16"/>
          <p:cNvSpPr txBox="1"/>
          <p:nvPr/>
        </p:nvSpPr>
        <p:spPr>
          <a:xfrm>
            <a:off x="1333195" y="4107485"/>
            <a:ext cx="1543507"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品質の標準化</a:t>
            </a:r>
            <a:endParaRPr lang="en-US" sz="1800" dirty="0"/>
          </a:p>
        </p:txBody>
      </p:sp>
      <p:sp>
        <p:nvSpPr>
          <p:cNvPr id="21" name="Text 17"/>
          <p:cNvSpPr txBox="1"/>
          <p:nvPr/>
        </p:nvSpPr>
        <p:spPr>
          <a:xfrm>
            <a:off x="1333195" y="4573829"/>
            <a:ext cx="9529877" cy="523951"/>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ヒューマンエラーを防止し、誰が作業しても均質で正確な報告書を作成できるようになります。調査員のスキルやメモの精度に左右されない安定した品質を実現します。</a:t>
            </a:r>
            <a:endParaRPr lang="en-US" sz="1300" dirty="0"/>
          </a:p>
        </p:txBody>
      </p:sp>
      <p:sp>
        <p:nvSpPr>
          <p:cNvPr id="22" name="Shape 18"/>
          <p:cNvSpPr/>
          <p:nvPr/>
        </p:nvSpPr>
        <p:spPr>
          <a:xfrm>
            <a:off x="10953598" y="4107485"/>
            <a:ext cx="476402" cy="476402"/>
          </a:xfrm>
          <a:prstGeom prst="roundRect">
            <a:avLst>
              <a:gd name="adj" fmla="val 30710"/>
            </a:avLst>
          </a:prstGeom>
          <a:solidFill>
            <a:srgbClr val="FFC400">
              <a:alpha val="15000"/>
            </a:srgbClr>
          </a:solidFill>
          <a:ln/>
        </p:spPr>
      </p:sp>
      <p:pic>
        <p:nvPicPr>
          <p:cNvPr id="23" name="Image 2" descr="preencoded.png">    </p:cNvPr>
          <p:cNvPicPr>
            <a:picLocks noChangeAspect="1"/>
          </p:cNvPicPr>
          <p:nvPr/>
        </p:nvPicPr>
        <p:blipFill>
          <a:blip r:embed="rId3"/>
          <a:srcRect l="0" r="0" t="0" b="0"/>
          <a:stretch/>
        </p:blipFill>
        <p:spPr>
          <a:xfrm>
            <a:off x="11077956" y="4230929"/>
            <a:ext cx="228600" cy="228600"/>
          </a:xfrm>
          <a:prstGeom prst="rect">
            <a:avLst/>
          </a:prstGeom>
        </p:spPr>
      </p:pic>
      <p:sp>
        <p:nvSpPr>
          <p:cNvPr id="24" name="Shape 19"/>
          <p:cNvSpPr/>
          <p:nvPr/>
        </p:nvSpPr>
        <p:spPr>
          <a:xfrm>
            <a:off x="761695" y="5446166"/>
            <a:ext cx="381305" cy="381305"/>
          </a:xfrm>
          <a:prstGeom prst="ellipse">
            <a:avLst/>
          </a:prstGeom>
          <a:solidFill>
            <a:srgbClr val="005BAC"/>
          </a:solidFill>
          <a:ln/>
        </p:spPr>
      </p:sp>
      <p:sp>
        <p:nvSpPr>
          <p:cNvPr id="25" name="Text 20"/>
          <p:cNvSpPr txBox="1"/>
          <p:nvPr/>
        </p:nvSpPr>
        <p:spPr>
          <a:xfrm>
            <a:off x="896112" y="5493715"/>
            <a:ext cx="257861" cy="286207"/>
          </a:xfrm>
          <a:prstGeom prst="rect">
            <a:avLst/>
          </a:prstGeom>
          <a:noFill/>
          <a:ln/>
        </p:spPr>
        <p:txBody>
          <a:bodyPr wrap="square" lIns="0" tIns="0" rIns="0" bIns="0" rtlCol="0" anchor="ctr"/>
          <a:lstStyle/>
          <a:p>
            <a:pPr algn="l" indent="0" marL="0">
              <a:buNone/>
            </a:pPr>
            <a:r>
              <a:rPr lang="en-US" sz="1500" b="1" dirty="0">
                <a:solidFill>
                  <a:srgbClr val="FFFFFF"/>
                </a:solidFill>
                <a:latin typeface="Noto Sans JP" pitchFamily="34" charset="0"/>
                <a:ea typeface="Noto Sans JP" pitchFamily="34" charset="-122"/>
                <a:cs typeface="Noto Sans JP" pitchFamily="34" charset="-120"/>
              </a:rPr>
              <a:t>4</a:t>
            </a:r>
            <a:endParaRPr lang="en-US" sz="1500" dirty="0"/>
          </a:p>
        </p:txBody>
      </p:sp>
      <p:sp>
        <p:nvSpPr>
          <p:cNvPr id="26" name="Text 21"/>
          <p:cNvSpPr txBox="1"/>
          <p:nvPr/>
        </p:nvSpPr>
        <p:spPr>
          <a:xfrm>
            <a:off x="1333195" y="5446166"/>
            <a:ext cx="2686507" cy="333756"/>
          </a:xfrm>
          <a:prstGeom prst="rect">
            <a:avLst/>
          </a:prstGeom>
          <a:noFill/>
          <a:ln/>
        </p:spPr>
        <p:txBody>
          <a:bodyPr wrap="square" lIns="0" tIns="0" rIns="0" bIns="0" rtlCol="0" anchor="ctr"/>
          <a:lstStyle/>
          <a:p>
            <a:pPr algn="l" indent="0" marL="0">
              <a:buNone/>
            </a:pPr>
            <a:r>
              <a:rPr lang="en-US" sz="1800" b="1" dirty="0">
                <a:solidFill>
                  <a:srgbClr val="005BAC"/>
                </a:solidFill>
                <a:latin typeface="Noto Sans JP" pitchFamily="34" charset="0"/>
                <a:ea typeface="Noto Sans JP" pitchFamily="34" charset="-122"/>
                <a:cs typeface="Noto Sans JP" pitchFamily="34" charset="-120"/>
              </a:rPr>
              <a:t>将来的な事業基盤の構築</a:t>
            </a:r>
            <a:endParaRPr lang="en-US" sz="1800" dirty="0"/>
          </a:p>
        </p:txBody>
      </p:sp>
      <p:sp>
        <p:nvSpPr>
          <p:cNvPr id="27" name="Text 22"/>
          <p:cNvSpPr txBox="1"/>
          <p:nvPr/>
        </p:nvSpPr>
        <p:spPr>
          <a:xfrm>
            <a:off x="1333195" y="5912510"/>
            <a:ext cx="9415577" cy="523951"/>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業務効率化で創出したリソースを、より付加価値の高い業務や、蓄積したデータを活用した新規事業（例：BtoC向けサービス展開）へ振り向けることが可能になります。</a:t>
            </a:r>
            <a:endParaRPr lang="en-US" sz="1300" dirty="0"/>
          </a:p>
        </p:txBody>
      </p:sp>
      <p:sp>
        <p:nvSpPr>
          <p:cNvPr id="28" name="Shape 23"/>
          <p:cNvSpPr/>
          <p:nvPr/>
        </p:nvSpPr>
        <p:spPr>
          <a:xfrm>
            <a:off x="10953598" y="5446166"/>
            <a:ext cx="476402" cy="476402"/>
          </a:xfrm>
          <a:prstGeom prst="roundRect">
            <a:avLst>
              <a:gd name="adj" fmla="val 30710"/>
            </a:avLst>
          </a:prstGeom>
          <a:solidFill>
            <a:srgbClr val="FFC400">
              <a:alpha val="15000"/>
            </a:srgbClr>
          </a:solidFill>
          <a:ln/>
        </p:spPr>
      </p:sp>
      <p:pic>
        <p:nvPicPr>
          <p:cNvPr id="29" name="Image 3" descr="preencoded.png">    </p:cNvPr>
          <p:cNvPicPr>
            <a:picLocks noChangeAspect="1"/>
          </p:cNvPicPr>
          <p:nvPr/>
        </p:nvPicPr>
        <p:blipFill>
          <a:blip r:embed="rId4"/>
          <a:srcRect l="0" r="0" t="0" b="0"/>
          <a:stretch/>
        </p:blipFill>
        <p:spPr>
          <a:xfrm>
            <a:off x="11077956" y="5569610"/>
            <a:ext cx="228600" cy="228600"/>
          </a:xfrm>
          <a:prstGeom prst="rect">
            <a:avLst/>
          </a:prstGeom>
        </p:spPr>
      </p:pic>
      <p:sp>
        <p:nvSpPr>
          <p:cNvPr id="30" name="Shape 24"/>
          <p:cNvSpPr/>
          <p:nvPr/>
        </p:nvSpPr>
        <p:spPr>
          <a:xfrm>
            <a:off x="761695" y="6785762"/>
            <a:ext cx="10668305" cy="1009498"/>
          </a:xfrm>
          <a:prstGeom prst="rect">
            <a:avLst/>
          </a:prstGeom>
          <a:solidFill>
            <a:srgbClr val="005BAC">
              <a:alpha val="5000"/>
            </a:srgbClr>
          </a:solidFill>
          <a:ln/>
        </p:spPr>
      </p:sp>
      <p:sp>
        <p:nvSpPr>
          <p:cNvPr id="31" name="Shape 25"/>
          <p:cNvSpPr/>
          <p:nvPr/>
        </p:nvSpPr>
        <p:spPr>
          <a:xfrm>
            <a:off x="761695" y="6785762"/>
            <a:ext cx="38405" cy="1009498"/>
          </a:xfrm>
          <a:prstGeom prst="rect">
            <a:avLst/>
          </a:prstGeom>
          <a:solidFill>
            <a:srgbClr val="005BAC"/>
          </a:solidFill>
          <a:ln/>
        </p:spPr>
      </p:sp>
      <p:sp>
        <p:nvSpPr>
          <p:cNvPr id="32" name="Text 26"/>
          <p:cNvSpPr txBox="1"/>
          <p:nvPr/>
        </p:nvSpPr>
        <p:spPr>
          <a:xfrm>
            <a:off x="1086307" y="7032650"/>
            <a:ext cx="10053828" cy="514807"/>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これらの効果により、貴社の現地調査業務はより高効率・高品質なものへと変革し、事業競争力の向上と持続的な成長基盤の確立が期待できます。</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11268151"/>
          </a:xfrm>
          <a:prstGeom prst="rect">
            <a:avLst/>
          </a:prstGeom>
          <a:solidFill>
            <a:srgbClr val="FFFFFF"/>
          </a:solidFill>
          <a:ln/>
        </p:spPr>
      </p:sp>
      <p:sp>
        <p:nvSpPr>
          <p:cNvPr id="3" name="Shape 1"/>
          <p:cNvSpPr/>
          <p:nvPr/>
        </p:nvSpPr>
        <p:spPr>
          <a:xfrm>
            <a:off x="0" y="0"/>
            <a:ext cx="12191695" cy="11268151"/>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40389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開発ステップと概算費用</a:t>
            </a:r>
            <a:endParaRPr lang="en-US" sz="2700" dirty="0"/>
          </a:p>
        </p:txBody>
      </p:sp>
      <p:sp>
        <p:nvSpPr>
          <p:cNvPr id="6" name="Text 4"/>
          <p:cNvSpPr txBox="1"/>
          <p:nvPr/>
        </p:nvSpPr>
        <p:spPr>
          <a:xfrm>
            <a:off x="761695" y="1438351"/>
            <a:ext cx="6729984" cy="247802"/>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リスクを最小化し着実に成果を上げるため、以下の2段階での開発を提案いたします。</a:t>
            </a:r>
            <a:endParaRPr lang="en-US" sz="1300" dirty="0"/>
          </a:p>
        </p:txBody>
      </p:sp>
      <p:sp>
        <p:nvSpPr>
          <p:cNvPr id="7" name="Shape 5"/>
          <p:cNvSpPr/>
          <p:nvPr/>
        </p:nvSpPr>
        <p:spPr>
          <a:xfrm>
            <a:off x="761695" y="2000707"/>
            <a:ext cx="5191049" cy="4019702"/>
          </a:xfrm>
          <a:prstGeom prst="roundRect">
            <a:avLst>
              <a:gd name="adj" fmla="val 431"/>
            </a:avLst>
          </a:prstGeom>
          <a:solidFill>
            <a:srgbClr val="005BAC">
              <a:alpha val="5000"/>
            </a:srgbClr>
          </a:solidFill>
          <a:ln w="25400">
            <a:solidFill>
              <a:srgbClr val="005BAC"/>
            </a:solidFill>
            <a:prstDash val="solid"/>
          </a:ln>
          <a:effectLst>
            <a:outerShdw sx="100000" sy="100000" kx="0" ky="0" algn="bl" rotWithShape="0" blurRad="63500" dist="38100" dir="5400000">
              <a:srgbClr val="000000">
                <a:alpha val="5000"/>
              </a:srgbClr>
            </a:outerShdw>
          </a:effectLst>
        </p:spPr>
      </p:sp>
      <p:sp>
        <p:nvSpPr>
          <p:cNvPr id="8" name="Shape 6"/>
          <p:cNvSpPr/>
          <p:nvPr/>
        </p:nvSpPr>
        <p:spPr>
          <a:xfrm>
            <a:off x="1067105" y="2257654"/>
            <a:ext cx="476402" cy="476402"/>
          </a:xfrm>
          <a:prstGeom prst="ellipse">
            <a:avLst/>
          </a:prstGeom>
          <a:solidFill>
            <a:srgbClr val="005BAC"/>
          </a:solidFill>
          <a:ln/>
        </p:spPr>
      </p:sp>
      <p:pic>
        <p:nvPicPr>
          <p:cNvPr id="9" name="Image 0" descr="preencoded.png">    </p:cNvPr>
          <p:cNvPicPr>
            <a:picLocks noChangeAspect="1"/>
          </p:cNvPicPr>
          <p:nvPr/>
        </p:nvPicPr>
        <p:blipFill>
          <a:blip r:embed="rId1"/>
          <a:srcRect l="0" r="0" t="0" b="0"/>
          <a:stretch/>
        </p:blipFill>
        <p:spPr>
          <a:xfrm>
            <a:off x="1190549" y="2381098"/>
            <a:ext cx="228600" cy="228600"/>
          </a:xfrm>
          <a:prstGeom prst="rect">
            <a:avLst/>
          </a:prstGeom>
        </p:spPr>
      </p:pic>
      <p:sp>
        <p:nvSpPr>
          <p:cNvPr id="10" name="Text 7"/>
          <p:cNvSpPr txBox="1"/>
          <p:nvPr/>
        </p:nvSpPr>
        <p:spPr>
          <a:xfrm>
            <a:off x="1686154" y="2324405"/>
            <a:ext cx="2391156" cy="333756"/>
          </a:xfrm>
          <a:prstGeom prst="rect">
            <a:avLst/>
          </a:prstGeom>
          <a:noFill/>
          <a:ln/>
        </p:spPr>
        <p:txBody>
          <a:bodyPr wrap="square" lIns="0" tIns="0" rIns="0" bIns="0" rtlCol="0" anchor="ctr"/>
          <a:lstStyle/>
          <a:p>
            <a:pPr algn="l" indent="0" marL="0">
              <a:buNone/>
            </a:pPr>
            <a:r>
              <a:rPr lang="en-US" sz="1800" b="1" dirty="0">
                <a:solidFill>
                  <a:srgbClr val="333333"/>
                </a:solidFill>
                <a:latin typeface="Noto Sans JP" pitchFamily="34" charset="0"/>
                <a:ea typeface="Noto Sans JP" pitchFamily="34" charset="-122"/>
                <a:cs typeface="Noto Sans JP" pitchFamily="34" charset="-120"/>
              </a:rPr>
              <a:t>フェーズ1：MVP開発</a:t>
            </a:r>
            <a:endParaRPr lang="en-US" sz="1800" dirty="0"/>
          </a:p>
        </p:txBody>
      </p:sp>
      <p:sp>
        <p:nvSpPr>
          <p:cNvPr id="11" name="Shape 8"/>
          <p:cNvSpPr/>
          <p:nvPr/>
        </p:nvSpPr>
        <p:spPr>
          <a:xfrm>
            <a:off x="1067105" y="2885846"/>
            <a:ext cx="4581144" cy="9144"/>
          </a:xfrm>
          <a:prstGeom prst="rect">
            <a:avLst/>
          </a:prstGeom>
          <a:solidFill>
            <a:srgbClr val="D1D5DB"/>
          </a:solidFill>
          <a:ln/>
        </p:spPr>
      </p:sp>
      <p:sp>
        <p:nvSpPr>
          <p:cNvPr id="12" name="Text 9"/>
          <p:cNvSpPr txBox="1"/>
          <p:nvPr/>
        </p:nvSpPr>
        <p:spPr>
          <a:xfrm>
            <a:off x="1067105" y="3076956"/>
            <a:ext cx="4288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期間</a:t>
            </a:r>
            <a:endParaRPr lang="en-US" sz="1200" dirty="0"/>
          </a:p>
        </p:txBody>
      </p:sp>
      <p:sp>
        <p:nvSpPr>
          <p:cNvPr id="13" name="Text 10"/>
          <p:cNvSpPr txBox="1"/>
          <p:nvPr/>
        </p:nvSpPr>
        <p:spPr>
          <a:xfrm>
            <a:off x="1067105" y="3504895"/>
            <a:ext cx="7342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概算費用</a:t>
            </a:r>
            <a:endParaRPr lang="en-US" sz="1200" dirty="0"/>
          </a:p>
        </p:txBody>
      </p:sp>
      <p:sp>
        <p:nvSpPr>
          <p:cNvPr id="14" name="Text 11"/>
          <p:cNvSpPr txBox="1"/>
          <p:nvPr/>
        </p:nvSpPr>
        <p:spPr>
          <a:xfrm>
            <a:off x="2018995" y="3047695"/>
            <a:ext cx="1515161"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約3ヶ月〜4ヶ月</a:t>
            </a:r>
            <a:endParaRPr lang="en-US" sz="1500" dirty="0"/>
          </a:p>
        </p:txBody>
      </p:sp>
      <p:sp>
        <p:nvSpPr>
          <p:cNvPr id="15" name="Text 12"/>
          <p:cNvSpPr txBox="1"/>
          <p:nvPr/>
        </p:nvSpPr>
        <p:spPr>
          <a:xfrm>
            <a:off x="2018995" y="3476549"/>
            <a:ext cx="1858061"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450万円 〜 550万円</a:t>
            </a:r>
            <a:endParaRPr lang="en-US" sz="1500" dirty="0"/>
          </a:p>
        </p:txBody>
      </p:sp>
      <p:sp>
        <p:nvSpPr>
          <p:cNvPr id="16" name="Text 13"/>
          <p:cNvSpPr txBox="1"/>
          <p:nvPr/>
        </p:nvSpPr>
        <p:spPr>
          <a:xfrm>
            <a:off x="3732581" y="3543300"/>
            <a:ext cx="462686"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(税抜)</a:t>
            </a:r>
            <a:endParaRPr lang="en-US" sz="1000" dirty="0"/>
          </a:p>
        </p:txBody>
      </p:sp>
      <p:sp>
        <p:nvSpPr>
          <p:cNvPr id="17" name="Text 14"/>
          <p:cNvSpPr txBox="1"/>
          <p:nvPr/>
        </p:nvSpPr>
        <p:spPr>
          <a:xfrm>
            <a:off x="1067105" y="3952951"/>
            <a:ext cx="4677156" cy="476402"/>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目的：まずはシステムのコア機能に絞って開発し、現場でその効果を実証・検証します。</a:t>
            </a:r>
            <a:endParaRPr lang="en-US" sz="1200" dirty="0"/>
          </a:p>
        </p:txBody>
      </p:sp>
      <p:sp>
        <p:nvSpPr>
          <p:cNvPr id="18" name="Text 15"/>
          <p:cNvSpPr txBox="1"/>
          <p:nvPr/>
        </p:nvSpPr>
        <p:spPr>
          <a:xfrm>
            <a:off x="1295705" y="4554626"/>
            <a:ext cx="21058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自動位置・方位情報記録機能</a:t>
            </a:r>
            <a:endParaRPr lang="en-US" sz="1200" dirty="0"/>
          </a:p>
        </p:txBody>
      </p:sp>
      <p:sp>
        <p:nvSpPr>
          <p:cNvPr id="19" name="Text 16"/>
          <p:cNvSpPr txBox="1"/>
          <p:nvPr/>
        </p:nvSpPr>
        <p:spPr>
          <a:xfrm>
            <a:off x="1295705" y="4874666"/>
            <a:ext cx="1953158"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地図への自動プロット機能</a:t>
            </a:r>
            <a:endParaRPr lang="en-US" sz="1200" dirty="0"/>
          </a:p>
        </p:txBody>
      </p:sp>
      <p:sp>
        <p:nvSpPr>
          <p:cNvPr id="20" name="Text 17"/>
          <p:cNvSpPr txBox="1"/>
          <p:nvPr/>
        </p:nvSpPr>
        <p:spPr>
          <a:xfrm>
            <a:off x="1295705" y="5194706"/>
            <a:ext cx="2543861"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直感的な手動修正インターフェース</a:t>
            </a:r>
            <a:endParaRPr lang="en-US" sz="1200" dirty="0"/>
          </a:p>
        </p:txBody>
      </p:sp>
      <p:pic>
        <p:nvPicPr>
          <p:cNvPr id="21" name="Image 1" descr="preencoded.png">    </p:cNvPr>
          <p:cNvPicPr>
            <a:picLocks noChangeAspect="1"/>
          </p:cNvPicPr>
          <p:nvPr/>
        </p:nvPicPr>
        <p:blipFill>
          <a:blip r:embed="rId2"/>
          <a:srcRect l="-50" r="-50" t="0" b="0"/>
          <a:stretch/>
        </p:blipFill>
        <p:spPr>
          <a:xfrm>
            <a:off x="3243377" y="6015838"/>
            <a:ext cx="228600" cy="304495"/>
          </a:xfrm>
          <a:prstGeom prst="rect">
            <a:avLst/>
          </a:prstGeom>
        </p:spPr>
      </p:pic>
      <p:sp>
        <p:nvSpPr>
          <p:cNvPr id="22" name="Shape 18"/>
          <p:cNvSpPr/>
          <p:nvPr/>
        </p:nvSpPr>
        <p:spPr>
          <a:xfrm>
            <a:off x="6238951" y="2000707"/>
            <a:ext cx="5191049" cy="4019702"/>
          </a:xfrm>
          <a:prstGeom prst="roundRect">
            <a:avLst>
              <a:gd name="adj" fmla="val 431"/>
            </a:avLst>
          </a:prstGeom>
          <a:solidFill>
            <a:srgbClr val="FFC400">
              <a:alpha val="5000"/>
            </a:srgbClr>
          </a:solidFill>
          <a:ln w="25400">
            <a:solidFill>
              <a:srgbClr val="FFC400"/>
            </a:solidFill>
            <a:prstDash val="solid"/>
          </a:ln>
          <a:effectLst>
            <a:outerShdw sx="100000" sy="100000" kx="0" ky="0" algn="bl" rotWithShape="0" blurRad="63500" dist="38100" dir="5400000">
              <a:srgbClr val="000000">
                <a:alpha val="5000"/>
              </a:srgbClr>
            </a:outerShdw>
          </a:effectLst>
        </p:spPr>
      </p:sp>
      <p:sp>
        <p:nvSpPr>
          <p:cNvPr id="23" name="Shape 19"/>
          <p:cNvSpPr/>
          <p:nvPr/>
        </p:nvSpPr>
        <p:spPr>
          <a:xfrm>
            <a:off x="6543446" y="2257654"/>
            <a:ext cx="476402" cy="476402"/>
          </a:xfrm>
          <a:prstGeom prst="ellipse">
            <a:avLst/>
          </a:prstGeom>
          <a:solidFill>
            <a:srgbClr val="FFC400"/>
          </a:solidFill>
          <a:ln/>
        </p:spPr>
      </p:sp>
      <p:pic>
        <p:nvPicPr>
          <p:cNvPr id="24" name="Image 2" descr="preencoded.png">    </p:cNvPr>
          <p:cNvPicPr>
            <a:picLocks noChangeAspect="1"/>
          </p:cNvPicPr>
          <p:nvPr/>
        </p:nvPicPr>
        <p:blipFill>
          <a:blip r:embed="rId3"/>
          <a:srcRect l="-57" r="-57" t="0" b="0"/>
          <a:stretch/>
        </p:blipFill>
        <p:spPr>
          <a:xfrm>
            <a:off x="6681521" y="2381098"/>
            <a:ext cx="200254" cy="228600"/>
          </a:xfrm>
          <a:prstGeom prst="rect">
            <a:avLst/>
          </a:prstGeom>
        </p:spPr>
      </p:pic>
      <p:sp>
        <p:nvSpPr>
          <p:cNvPr id="25" name="Text 20"/>
          <p:cNvSpPr txBox="1"/>
          <p:nvPr/>
        </p:nvSpPr>
        <p:spPr>
          <a:xfrm>
            <a:off x="7162495" y="2324405"/>
            <a:ext cx="3038551" cy="333756"/>
          </a:xfrm>
          <a:prstGeom prst="rect">
            <a:avLst/>
          </a:prstGeom>
          <a:noFill/>
          <a:ln/>
        </p:spPr>
        <p:txBody>
          <a:bodyPr wrap="square" lIns="0" tIns="0" rIns="0" bIns="0" rtlCol="0" anchor="ctr"/>
          <a:lstStyle/>
          <a:p>
            <a:pPr algn="l" indent="0" marL="0">
              <a:buNone/>
            </a:pPr>
            <a:r>
              <a:rPr lang="en-US" sz="1800" b="1" dirty="0">
                <a:solidFill>
                  <a:srgbClr val="333333"/>
                </a:solidFill>
                <a:latin typeface="Noto Sans JP" pitchFamily="34" charset="0"/>
                <a:ea typeface="Noto Sans JP" pitchFamily="34" charset="-122"/>
                <a:cs typeface="Noto Sans JP" pitchFamily="34" charset="-120"/>
              </a:rPr>
              <a:t>フェーズ2：本システム開発</a:t>
            </a:r>
            <a:endParaRPr lang="en-US" sz="1800" dirty="0"/>
          </a:p>
        </p:txBody>
      </p:sp>
      <p:sp>
        <p:nvSpPr>
          <p:cNvPr id="26" name="Shape 21"/>
          <p:cNvSpPr/>
          <p:nvPr/>
        </p:nvSpPr>
        <p:spPr>
          <a:xfrm>
            <a:off x="6543446" y="2885846"/>
            <a:ext cx="4581144" cy="9144"/>
          </a:xfrm>
          <a:prstGeom prst="rect">
            <a:avLst/>
          </a:prstGeom>
          <a:solidFill>
            <a:srgbClr val="D1D5DB"/>
          </a:solidFill>
          <a:ln/>
        </p:spPr>
      </p:sp>
      <p:sp>
        <p:nvSpPr>
          <p:cNvPr id="27" name="Text 22"/>
          <p:cNvSpPr txBox="1"/>
          <p:nvPr/>
        </p:nvSpPr>
        <p:spPr>
          <a:xfrm>
            <a:off x="6543446" y="3076956"/>
            <a:ext cx="4288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期間</a:t>
            </a:r>
            <a:endParaRPr lang="en-US" sz="1200" dirty="0"/>
          </a:p>
        </p:txBody>
      </p:sp>
      <p:sp>
        <p:nvSpPr>
          <p:cNvPr id="28" name="Text 23"/>
          <p:cNvSpPr txBox="1"/>
          <p:nvPr/>
        </p:nvSpPr>
        <p:spPr>
          <a:xfrm>
            <a:off x="6543446" y="3504895"/>
            <a:ext cx="7342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概算費用</a:t>
            </a:r>
            <a:endParaRPr lang="en-US" sz="1200" dirty="0"/>
          </a:p>
        </p:txBody>
      </p:sp>
      <p:sp>
        <p:nvSpPr>
          <p:cNvPr id="29" name="Text 24"/>
          <p:cNvSpPr txBox="1"/>
          <p:nvPr/>
        </p:nvSpPr>
        <p:spPr>
          <a:xfrm>
            <a:off x="7496251" y="3047695"/>
            <a:ext cx="1515161"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約5ヶ月〜6ヶ月</a:t>
            </a:r>
            <a:endParaRPr lang="en-US" sz="1500" dirty="0"/>
          </a:p>
        </p:txBody>
      </p:sp>
      <p:sp>
        <p:nvSpPr>
          <p:cNvPr id="30" name="Text 25"/>
          <p:cNvSpPr txBox="1"/>
          <p:nvPr/>
        </p:nvSpPr>
        <p:spPr>
          <a:xfrm>
            <a:off x="7496251" y="3476549"/>
            <a:ext cx="2039112" cy="277063"/>
          </a:xfrm>
          <a:prstGeom prst="rect">
            <a:avLst/>
          </a:prstGeom>
          <a:noFill/>
          <a:ln/>
        </p:spPr>
        <p:txBody>
          <a:bodyPr wrap="square" lIns="0" tIns="0" rIns="0" bIns="0" rtlCol="0" anchor="ctr"/>
          <a:lstStyle/>
          <a:p>
            <a:pPr algn="l" indent="0" marL="0">
              <a:buNone/>
            </a:pPr>
            <a:r>
              <a:rPr lang="en-US" sz="1500" b="1" dirty="0">
                <a:solidFill>
                  <a:srgbClr val="333333"/>
                </a:solidFill>
                <a:latin typeface="Noto Sans JP" pitchFamily="34" charset="0"/>
                <a:ea typeface="Noto Sans JP" pitchFamily="34" charset="-122"/>
                <a:cs typeface="Noto Sans JP" pitchFamily="34" charset="-120"/>
              </a:rPr>
              <a:t>900万円 〜 1,200万円</a:t>
            </a:r>
            <a:endParaRPr lang="en-US" sz="1500" dirty="0"/>
          </a:p>
        </p:txBody>
      </p:sp>
      <p:sp>
        <p:nvSpPr>
          <p:cNvPr id="31" name="Text 26"/>
          <p:cNvSpPr txBox="1"/>
          <p:nvPr/>
        </p:nvSpPr>
        <p:spPr>
          <a:xfrm>
            <a:off x="9383573" y="3543300"/>
            <a:ext cx="462686" cy="191110"/>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(税抜)</a:t>
            </a:r>
            <a:endParaRPr lang="en-US" sz="1000" dirty="0"/>
          </a:p>
        </p:txBody>
      </p:sp>
      <p:sp>
        <p:nvSpPr>
          <p:cNvPr id="32" name="Text 27"/>
          <p:cNvSpPr txBox="1"/>
          <p:nvPr/>
        </p:nvSpPr>
        <p:spPr>
          <a:xfrm>
            <a:off x="6543446" y="3952951"/>
            <a:ext cx="4686300" cy="476402"/>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目的：MVPの評価を基に、追加機能を開発し、業務の完全自動化を目指します。</a:t>
            </a:r>
            <a:endParaRPr lang="en-US" sz="1200" dirty="0"/>
          </a:p>
        </p:txBody>
      </p:sp>
      <p:sp>
        <p:nvSpPr>
          <p:cNvPr id="33" name="Text 28"/>
          <p:cNvSpPr txBox="1"/>
          <p:nvPr/>
        </p:nvSpPr>
        <p:spPr>
          <a:xfrm>
            <a:off x="6772046" y="4554626"/>
            <a:ext cx="13432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撮り忘れ防止機能</a:t>
            </a:r>
            <a:endParaRPr lang="en-US" sz="1200" dirty="0"/>
          </a:p>
        </p:txBody>
      </p:sp>
      <p:sp>
        <p:nvSpPr>
          <p:cNvPr id="34" name="Text 29"/>
          <p:cNvSpPr txBox="1"/>
          <p:nvPr/>
        </p:nvSpPr>
        <p:spPr>
          <a:xfrm>
            <a:off x="6772046" y="4874666"/>
            <a:ext cx="1495958"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報告書自動出力機能</a:t>
            </a:r>
            <a:endParaRPr lang="en-US" sz="1200" dirty="0"/>
          </a:p>
        </p:txBody>
      </p:sp>
      <p:sp>
        <p:nvSpPr>
          <p:cNvPr id="35" name="Text 30"/>
          <p:cNvSpPr txBox="1"/>
          <p:nvPr/>
        </p:nvSpPr>
        <p:spPr>
          <a:xfrm>
            <a:off x="6772046" y="5194706"/>
            <a:ext cx="2076602"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AIによる画像解析・補正機能</a:t>
            </a:r>
            <a:endParaRPr lang="en-US" sz="1200" dirty="0"/>
          </a:p>
        </p:txBody>
      </p:sp>
      <p:sp>
        <p:nvSpPr>
          <p:cNvPr id="36" name="Text 31"/>
          <p:cNvSpPr txBox="1"/>
          <p:nvPr/>
        </p:nvSpPr>
        <p:spPr>
          <a:xfrm>
            <a:off x="6772046" y="5514746"/>
            <a:ext cx="21058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業務データの分析・活用機能</a:t>
            </a:r>
            <a:endParaRPr lang="en-US" sz="1200" dirty="0"/>
          </a:p>
        </p:txBody>
      </p:sp>
      <p:sp>
        <p:nvSpPr>
          <p:cNvPr id="37" name="Shape 32"/>
          <p:cNvSpPr/>
          <p:nvPr/>
        </p:nvSpPr>
        <p:spPr>
          <a:xfrm>
            <a:off x="761695" y="6396228"/>
            <a:ext cx="10668305" cy="3419856"/>
          </a:xfrm>
          <a:prstGeom prst="rect">
            <a:avLst/>
          </a:prstGeom>
          <a:solidFill>
            <a:srgbClr val="005BAC">
              <a:alpha val="3000"/>
            </a:srgbClr>
          </a:solidFill>
          <a:ln/>
        </p:spPr>
      </p:sp>
      <p:sp>
        <p:nvSpPr>
          <p:cNvPr id="38" name="Shape 33"/>
          <p:cNvSpPr/>
          <p:nvPr/>
        </p:nvSpPr>
        <p:spPr>
          <a:xfrm>
            <a:off x="761695" y="6396228"/>
            <a:ext cx="38405" cy="3419856"/>
          </a:xfrm>
          <a:prstGeom prst="rect">
            <a:avLst/>
          </a:prstGeom>
          <a:solidFill>
            <a:srgbClr val="005BAC"/>
          </a:solidFill>
          <a:ln/>
        </p:spPr>
      </p:sp>
      <p:sp>
        <p:nvSpPr>
          <p:cNvPr id="39" name="Shape 34"/>
          <p:cNvSpPr/>
          <p:nvPr/>
        </p:nvSpPr>
        <p:spPr>
          <a:xfrm>
            <a:off x="1037844" y="6634886"/>
            <a:ext cx="381305" cy="381305"/>
          </a:xfrm>
          <a:prstGeom prst="ellipse">
            <a:avLst/>
          </a:prstGeom>
          <a:solidFill>
            <a:srgbClr val="005BAC"/>
          </a:solidFill>
          <a:ln/>
        </p:spPr>
      </p:sp>
      <p:pic>
        <p:nvPicPr>
          <p:cNvPr id="40" name="Image 3" descr="preencoded.png">    </p:cNvPr>
          <p:cNvPicPr>
            <a:picLocks noChangeAspect="1"/>
          </p:cNvPicPr>
          <p:nvPr/>
        </p:nvPicPr>
        <p:blipFill>
          <a:blip r:embed="rId4"/>
          <a:srcRect l="0" r="0" t="0" b="0"/>
          <a:stretch/>
        </p:blipFill>
        <p:spPr>
          <a:xfrm>
            <a:off x="1128370" y="6725412"/>
            <a:ext cx="200254" cy="200254"/>
          </a:xfrm>
          <a:prstGeom prst="rect">
            <a:avLst/>
          </a:prstGeom>
        </p:spPr>
      </p:pic>
      <p:sp>
        <p:nvSpPr>
          <p:cNvPr id="41" name="Text 35"/>
          <p:cNvSpPr txBox="1"/>
          <p:nvPr/>
        </p:nvSpPr>
        <p:spPr>
          <a:xfrm>
            <a:off x="1561795" y="6676949"/>
            <a:ext cx="2711196" cy="286207"/>
          </a:xfrm>
          <a:prstGeom prst="rect">
            <a:avLst/>
          </a:prstGeom>
          <a:noFill/>
          <a:ln/>
        </p:spPr>
        <p:txBody>
          <a:bodyPr wrap="square" lIns="0" tIns="0" rIns="0" bIns="0" rtlCol="0" anchor="ctr"/>
          <a:lstStyle/>
          <a:p>
            <a:pPr algn="l" indent="0" marL="0">
              <a:buNone/>
            </a:pPr>
            <a:r>
              <a:rPr lang="en-US" sz="1500" b="1" dirty="0">
                <a:solidFill>
                  <a:srgbClr val="005BAC"/>
                </a:solidFill>
                <a:latin typeface="Noto Sans JP" pitchFamily="34" charset="0"/>
                <a:ea typeface="Noto Sans JP" pitchFamily="34" charset="-122"/>
                <a:cs typeface="Noto Sans JP" pitchFamily="34" charset="-120"/>
              </a:rPr>
              <a:t>AIによる業務効率化について</a:t>
            </a:r>
            <a:endParaRPr lang="en-US" sz="1500" dirty="0"/>
          </a:p>
        </p:txBody>
      </p:sp>
      <p:sp>
        <p:nvSpPr>
          <p:cNvPr id="42" name="Text 36"/>
          <p:cNvSpPr txBox="1"/>
          <p:nvPr/>
        </p:nvSpPr>
        <p:spPr>
          <a:xfrm>
            <a:off x="1037844" y="7167982"/>
            <a:ext cx="10230307" cy="476402"/>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フェーズ1では、位置情報や方位情報の自動記録機能により基本的なデータ収集を効率化します。この段階では報告書作成は担当者による手動作業で対応します。</a:t>
            </a:r>
            <a:endParaRPr lang="en-US" sz="1200" dirty="0"/>
          </a:p>
        </p:txBody>
      </p:sp>
      <p:sp>
        <p:nvSpPr>
          <p:cNvPr id="43" name="Text 37"/>
          <p:cNvSpPr txBox="1"/>
          <p:nvPr/>
        </p:nvSpPr>
        <p:spPr>
          <a:xfrm>
            <a:off x="1037844" y="7777886"/>
            <a:ext cx="8258861"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フェーズ2では、実際の運用から得られた知見を基に、AI機能を段階的に導入し、以下のような業務負担を軽減します：</a:t>
            </a:r>
            <a:endParaRPr lang="en-US" sz="1200" dirty="0"/>
          </a:p>
        </p:txBody>
      </p:sp>
      <p:sp>
        <p:nvSpPr>
          <p:cNvPr id="44" name="Text 38"/>
          <p:cNvSpPr txBox="1"/>
          <p:nvPr/>
        </p:nvSpPr>
        <p:spPr>
          <a:xfrm>
            <a:off x="1037844" y="9091879"/>
            <a:ext cx="10125151" cy="476402"/>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フェーズ1の実運用で明らかになった課題に対してAIで効果的に対応していくことがフェーズ2の核心です。現場の実情に即したAI機能の段階的な導入により、担当者様の作業負荷を効率的に軽減してまいります。</a:t>
            </a:r>
            <a:endParaRPr lang="en-US" sz="1200" dirty="0"/>
          </a:p>
        </p:txBody>
      </p:sp>
      <p:sp>
        <p:nvSpPr>
          <p:cNvPr id="45" name="Text 39"/>
          <p:cNvSpPr txBox="1"/>
          <p:nvPr/>
        </p:nvSpPr>
        <p:spPr>
          <a:xfrm>
            <a:off x="1266444" y="8129930"/>
            <a:ext cx="22576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画像からの建物特徴の自動認識</a:t>
            </a:r>
            <a:endParaRPr lang="en-US" sz="1200" dirty="0"/>
          </a:p>
        </p:txBody>
      </p:sp>
      <p:sp>
        <p:nvSpPr>
          <p:cNvPr id="46" name="Text 40"/>
          <p:cNvSpPr txBox="1"/>
          <p:nvPr/>
        </p:nvSpPr>
        <p:spPr>
          <a:xfrm>
            <a:off x="1266444" y="8435340"/>
            <a:ext cx="2257654"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撮影方向・撮影対象の自動判別</a:t>
            </a:r>
            <a:endParaRPr lang="en-US" sz="1200" dirty="0"/>
          </a:p>
        </p:txBody>
      </p:sp>
      <p:sp>
        <p:nvSpPr>
          <p:cNvPr id="47" name="Text 41"/>
          <p:cNvSpPr txBox="1"/>
          <p:nvPr/>
        </p:nvSpPr>
        <p:spPr>
          <a:xfrm>
            <a:off x="1266444" y="8739835"/>
            <a:ext cx="2105863" cy="228600"/>
          </a:xfrm>
          <a:prstGeom prst="rect">
            <a:avLst/>
          </a:prstGeom>
          <a:noFill/>
          <a:ln/>
        </p:spPr>
        <p:txBody>
          <a:bodyPr wrap="square" lIns="0" tIns="0" rIns="0" bIns="0" rtlCol="0" anchor="ctr"/>
          <a:lstStyle/>
          <a:p>
            <a:pPr algn="l" indent="0" marL="0">
              <a:buNone/>
            </a:pPr>
            <a:r>
              <a:rPr lang="en-US" sz="1200" dirty="0">
                <a:solidFill>
                  <a:srgbClr val="333333"/>
                </a:solidFill>
                <a:latin typeface="Noto Sans JP" pitchFamily="34" charset="0"/>
                <a:ea typeface="Noto Sans JP" pitchFamily="34" charset="-122"/>
                <a:cs typeface="Noto Sans JP" pitchFamily="34" charset="-120"/>
              </a:rPr>
              <a:t>レポート文章の自動生成補助</a:t>
            </a:r>
            <a:endParaRPr lang="en-US" sz="1200" dirty="0"/>
          </a:p>
        </p:txBody>
      </p:sp>
      <p:sp>
        <p:nvSpPr>
          <p:cNvPr id="48" name="Shape 42"/>
          <p:cNvSpPr/>
          <p:nvPr/>
        </p:nvSpPr>
        <p:spPr>
          <a:xfrm>
            <a:off x="761695" y="10197389"/>
            <a:ext cx="10668305" cy="495605"/>
          </a:xfrm>
          <a:prstGeom prst="roundRect">
            <a:avLst>
              <a:gd name="adj" fmla="val 14192"/>
            </a:avLst>
          </a:prstGeom>
          <a:solidFill>
            <a:srgbClr val="F8F8F8"/>
          </a:solidFill>
          <a:ln/>
        </p:spPr>
      </p:sp>
      <p:pic>
        <p:nvPicPr>
          <p:cNvPr id="49" name="Image 4" descr="preencoded.png">    </p:cNvPr>
          <p:cNvPicPr>
            <a:picLocks noChangeAspect="1"/>
          </p:cNvPicPr>
          <p:nvPr/>
        </p:nvPicPr>
        <p:blipFill>
          <a:blip r:embed="rId5"/>
          <a:srcRect l="0" r="0" t="0" b="0"/>
          <a:stretch/>
        </p:blipFill>
        <p:spPr>
          <a:xfrm>
            <a:off x="905256" y="10385755"/>
            <a:ext cx="133502" cy="133502"/>
          </a:xfrm>
          <a:prstGeom prst="rect">
            <a:avLst/>
          </a:prstGeom>
        </p:spPr>
      </p:pic>
      <p:sp>
        <p:nvSpPr>
          <p:cNvPr id="50" name="Text 43"/>
          <p:cNvSpPr txBox="1"/>
          <p:nvPr/>
        </p:nvSpPr>
        <p:spPr>
          <a:xfrm>
            <a:off x="1114654" y="10340035"/>
            <a:ext cx="6237122" cy="200254"/>
          </a:xfrm>
          <a:prstGeom prst="rect">
            <a:avLst/>
          </a:prstGeom>
          <a:noFill/>
          <a:ln/>
        </p:spPr>
        <p:txBody>
          <a:bodyPr wrap="square" lIns="0" tIns="0" rIns="0" bIns="0" rtlCol="0" anchor="ctr"/>
          <a:lstStyle/>
          <a:p>
            <a:pPr algn="l" indent="0" marL="0">
              <a:buNone/>
            </a:pPr>
            <a:r>
              <a:rPr lang="en-US" sz="1000" dirty="0">
                <a:solidFill>
                  <a:srgbClr val="333333"/>
                </a:solidFill>
                <a:latin typeface="Noto Sans JP" pitchFamily="34" charset="0"/>
                <a:ea typeface="Noto Sans JP" pitchFamily="34" charset="-122"/>
                <a:cs typeface="Noto Sans JP" pitchFamily="34" charset="-120"/>
              </a:rPr>
              <a:t>概算費用は、システム開発・テスト・実装までを含む金額です。別途保守運用費が必要となります。</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8191195"/>
          </a:xfrm>
          <a:prstGeom prst="rect">
            <a:avLst/>
          </a:prstGeom>
          <a:solidFill>
            <a:srgbClr val="FFFFFF"/>
          </a:solidFill>
          <a:ln/>
        </p:spPr>
      </p:sp>
      <p:sp>
        <p:nvSpPr>
          <p:cNvPr id="3" name="Shape 1"/>
          <p:cNvSpPr/>
          <p:nvPr/>
        </p:nvSpPr>
        <p:spPr>
          <a:xfrm>
            <a:off x="0" y="0"/>
            <a:ext cx="12191695" cy="8191195"/>
          </a:xfrm>
          <a:prstGeom prst="rect">
            <a:avLst/>
          </a:prstGeom>
          <a:solidFill>
            <a:srgbClr val="FFFFFF"/>
          </a:solidFill>
          <a:ln/>
        </p:spPr>
      </p:sp>
      <p:sp>
        <p:nvSpPr>
          <p:cNvPr id="4" name="Text 2"/>
          <p:cNvSpPr txBox="1"/>
          <p:nvPr/>
        </p:nvSpPr>
        <p:spPr>
          <a:xfrm>
            <a:off x="10895990" y="200254"/>
            <a:ext cx="1148486" cy="247802"/>
          </a:xfrm>
          <a:prstGeom prst="rect">
            <a:avLst/>
          </a:prstGeom>
          <a:noFill/>
          <a:ln/>
        </p:spPr>
        <p:txBody>
          <a:bodyPr wrap="square" lIns="0" tIns="0" rIns="0" bIns="0" rtlCol="0" anchor="ctr"/>
          <a:lstStyle/>
          <a:p>
            <a:pPr algn="l" indent="0" marL="0">
              <a:buNone/>
            </a:pPr>
            <a:r>
              <a:rPr lang="en-US" sz="1300" dirty="0">
                <a:solidFill>
                  <a:srgbClr val="FF0000"/>
                </a:solidFill>
                <a:latin typeface="Noto Sans JP" pitchFamily="34" charset="0"/>
                <a:ea typeface="Noto Sans JP" pitchFamily="34" charset="-122"/>
                <a:cs typeface="Noto Sans JP" pitchFamily="34" charset="-120"/>
              </a:rPr>
              <a:t>Confidential</a:t>
            </a:r>
            <a:endParaRPr lang="en-US" sz="1300" dirty="0"/>
          </a:p>
        </p:txBody>
      </p:sp>
      <p:sp>
        <p:nvSpPr>
          <p:cNvPr id="5" name="Text 3"/>
          <p:cNvSpPr txBox="1"/>
          <p:nvPr/>
        </p:nvSpPr>
        <p:spPr>
          <a:xfrm>
            <a:off x="761695" y="514807"/>
            <a:ext cx="1638605" cy="495605"/>
          </a:xfrm>
          <a:prstGeom prst="rect">
            <a:avLst/>
          </a:prstGeom>
          <a:noFill/>
          <a:ln/>
        </p:spPr>
        <p:txBody>
          <a:bodyPr wrap="square" lIns="0" tIns="0" rIns="0" bIns="0" rtlCol="0" anchor="ctr"/>
          <a:lstStyle/>
          <a:p>
            <a:pPr algn="l" indent="0" marL="0">
              <a:buNone/>
            </a:pPr>
            <a:r>
              <a:rPr lang="en-US" sz="2700" b="1" dirty="0">
                <a:solidFill>
                  <a:srgbClr val="005BAC"/>
                </a:solidFill>
                <a:latin typeface="Noto Sans JP" pitchFamily="34" charset="0"/>
                <a:ea typeface="Noto Sans JP" pitchFamily="34" charset="-122"/>
                <a:cs typeface="Noto Sans JP" pitchFamily="34" charset="-120"/>
              </a:rPr>
              <a:t>おわりに</a:t>
            </a:r>
            <a:endParaRPr lang="en-US" sz="2700" dirty="0"/>
          </a:p>
        </p:txBody>
      </p:sp>
      <p:sp>
        <p:nvSpPr>
          <p:cNvPr id="6" name="Text 4"/>
          <p:cNvSpPr txBox="1"/>
          <p:nvPr/>
        </p:nvSpPr>
        <p:spPr>
          <a:xfrm>
            <a:off x="761695" y="1742846"/>
            <a:ext cx="7329830" cy="562356"/>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本提案書では、株式会社グラフデポ様が抱える「現地調査における写真報告業務」の課題解決に向けた、効率的かつ実践的なDXソリューションをご提案させていただきました。</a:t>
            </a:r>
            <a:endParaRPr lang="en-US" sz="1300" dirty="0"/>
          </a:p>
        </p:txBody>
      </p:sp>
      <p:sp>
        <p:nvSpPr>
          <p:cNvPr id="7" name="Text 5"/>
          <p:cNvSpPr txBox="1"/>
          <p:nvPr/>
        </p:nvSpPr>
        <p:spPr>
          <a:xfrm>
            <a:off x="761695" y="2588666"/>
            <a:ext cx="7320686" cy="562356"/>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私たちは単なるシステム開発だけでなく、御社の業務を深く理解し、本質的な課題解決によって、より価値の高い業務へとリソースをシフトできる環境づくりを目指しております。</a:t>
            </a:r>
            <a:endParaRPr lang="en-US" sz="1300" dirty="0"/>
          </a:p>
        </p:txBody>
      </p:sp>
      <p:sp>
        <p:nvSpPr>
          <p:cNvPr id="8" name="Text 6"/>
          <p:cNvSpPr txBox="1"/>
          <p:nvPr/>
        </p:nvSpPr>
        <p:spPr>
          <a:xfrm>
            <a:off x="761695" y="5494630"/>
            <a:ext cx="7320686" cy="562356"/>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本提案内容につきまして、ご不明点やご要望などございましたら、どうぞお気軽にお申し付けください。御社の業務課題解決に向けて、誠意を持って対応させていただきます。</a:t>
            </a:r>
            <a:endParaRPr lang="en-US" sz="1300" dirty="0"/>
          </a:p>
        </p:txBody>
      </p:sp>
      <p:sp>
        <p:nvSpPr>
          <p:cNvPr id="9" name="Text 7"/>
          <p:cNvSpPr txBox="1"/>
          <p:nvPr/>
        </p:nvSpPr>
        <p:spPr>
          <a:xfrm>
            <a:off x="761695" y="6340450"/>
            <a:ext cx="7301484" cy="562356"/>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株式会社グラフデポ様の更なるご発展に貢献できることを心より楽しみにしております。何卒ご検討を賜りますよう、よろしくお願い申し上げます。</a:t>
            </a:r>
            <a:endParaRPr lang="en-US" sz="1300" dirty="0"/>
          </a:p>
        </p:txBody>
      </p:sp>
      <p:sp>
        <p:nvSpPr>
          <p:cNvPr id="10" name="Shape 8"/>
          <p:cNvSpPr/>
          <p:nvPr/>
        </p:nvSpPr>
        <p:spPr>
          <a:xfrm>
            <a:off x="761695" y="3463747"/>
            <a:ext cx="7334402" cy="1723644"/>
          </a:xfrm>
          <a:prstGeom prst="rect">
            <a:avLst/>
          </a:prstGeom>
          <a:solidFill>
            <a:srgbClr val="005BAC">
              <a:alpha val="5000"/>
            </a:srgbClr>
          </a:solidFill>
          <a:ln/>
        </p:spPr>
      </p:sp>
      <p:sp>
        <p:nvSpPr>
          <p:cNvPr id="11" name="Shape 9"/>
          <p:cNvSpPr/>
          <p:nvPr/>
        </p:nvSpPr>
        <p:spPr>
          <a:xfrm>
            <a:off x="761695" y="3463747"/>
            <a:ext cx="38405" cy="1723644"/>
          </a:xfrm>
          <a:prstGeom prst="rect">
            <a:avLst/>
          </a:prstGeom>
          <a:solidFill>
            <a:srgbClr val="005BAC"/>
          </a:solidFill>
          <a:ln/>
        </p:spPr>
      </p:sp>
      <p:sp>
        <p:nvSpPr>
          <p:cNvPr id="12" name="Text 10"/>
          <p:cNvSpPr txBox="1"/>
          <p:nvPr/>
        </p:nvSpPr>
        <p:spPr>
          <a:xfrm>
            <a:off x="1086307" y="3644798"/>
            <a:ext cx="2238451" cy="277063"/>
          </a:xfrm>
          <a:prstGeom prst="rect">
            <a:avLst/>
          </a:prstGeom>
          <a:noFill/>
          <a:ln/>
        </p:spPr>
        <p:txBody>
          <a:bodyPr wrap="square" lIns="0" tIns="0" rIns="0" bIns="0" rtlCol="0" anchor="ctr"/>
          <a:lstStyle/>
          <a:p>
            <a:pPr algn="l" indent="0" marL="0">
              <a:buNone/>
            </a:pPr>
            <a:r>
              <a:rPr lang="en-US" sz="1500" b="1" dirty="0">
                <a:solidFill>
                  <a:srgbClr val="005BAC"/>
                </a:solidFill>
                <a:latin typeface="Noto Sans JP" pitchFamily="34" charset="0"/>
                <a:ea typeface="Noto Sans JP" pitchFamily="34" charset="-122"/>
                <a:cs typeface="Noto Sans JP" pitchFamily="34" charset="-120"/>
              </a:rPr>
              <a:t>パートナーとしての想い</a:t>
            </a:r>
            <a:endParaRPr lang="en-US" sz="1500" dirty="0"/>
          </a:p>
        </p:txBody>
      </p:sp>
      <p:sp>
        <p:nvSpPr>
          <p:cNvPr id="13" name="Text 11"/>
          <p:cNvSpPr txBox="1"/>
          <p:nvPr/>
        </p:nvSpPr>
        <p:spPr>
          <a:xfrm>
            <a:off x="1086307" y="4091940"/>
            <a:ext cx="6805879" cy="866851"/>
          </a:xfrm>
          <a:prstGeom prst="rect">
            <a:avLst/>
          </a:prstGeom>
          <a:noFill/>
          <a:ln/>
        </p:spPr>
        <p:txBody>
          <a:bodyPr wrap="square" lIns="0" tIns="0" rIns="0" bIns="0" rtlCol="0" anchor="ctr"/>
          <a:lstStyle/>
          <a:p>
            <a:pPr algn="l" indent="0" marL="0">
              <a:buNone/>
            </a:pPr>
            <a:r>
              <a:rPr lang="en-US" sz="1300" dirty="0">
                <a:solidFill>
                  <a:srgbClr val="333333"/>
                </a:solidFill>
                <a:latin typeface="Noto Sans JP" pitchFamily="34" charset="0"/>
                <a:ea typeface="Noto Sans JP" pitchFamily="34" charset="-122"/>
                <a:cs typeface="Noto Sans JP" pitchFamily="34" charset="-120"/>
              </a:rPr>
              <a:t>本提案は「開発して納品して終わり」ではなく、長期的な視点で御社のビジネスの成長と発展をお手伝いするための第一歩と考えております。御社との信頼関係構築を大切にし、常に御社の立場に立ったサポートを提供してまいります。</a:t>
            </a:r>
            <a:endParaRPr lang="en-US" sz="1300" dirty="0"/>
          </a:p>
        </p:txBody>
      </p:sp>
      <p:sp>
        <p:nvSpPr>
          <p:cNvPr id="14" name="Text 12"/>
          <p:cNvSpPr txBox="1"/>
          <p:nvPr/>
        </p:nvSpPr>
        <p:spPr>
          <a:xfrm>
            <a:off x="6387084" y="7338974"/>
            <a:ext cx="1843430" cy="247802"/>
          </a:xfrm>
          <a:prstGeom prst="rect">
            <a:avLst/>
          </a:prstGeom>
          <a:noFill/>
          <a:ln/>
        </p:spPr>
        <p:txBody>
          <a:bodyPr wrap="square" lIns="0" tIns="0" rIns="0" bIns="0" rtlCol="0" anchor="ctr"/>
          <a:lstStyle/>
          <a:p>
            <a:pPr algn="r" indent="0" marL="0">
              <a:buNone/>
            </a:pPr>
            <a:r>
              <a:rPr lang="en-US" sz="1300" dirty="0">
                <a:solidFill>
                  <a:srgbClr val="333333"/>
                </a:solidFill>
                <a:latin typeface="Noto Sans JP" pitchFamily="34" charset="0"/>
                <a:ea typeface="Noto Sans JP" pitchFamily="34" charset="-122"/>
                <a:cs typeface="Noto Sans JP" pitchFamily="34" charset="-120"/>
              </a:rPr>
              <a:t>株式会社ミオシステム</a:t>
            </a:r>
            <a:endParaRPr lang="en-US" sz="1300" dirty="0"/>
          </a:p>
        </p:txBody>
      </p:sp>
      <p:sp>
        <p:nvSpPr>
          <p:cNvPr id="15" name="Shape 13"/>
          <p:cNvSpPr/>
          <p:nvPr/>
        </p:nvSpPr>
        <p:spPr>
          <a:xfrm>
            <a:off x="9525305" y="3785616"/>
            <a:ext cx="952805" cy="952805"/>
          </a:xfrm>
          <a:prstGeom prst="ellipse">
            <a:avLst/>
          </a:prstGeom>
          <a:solidFill>
            <a:srgbClr val="005BAC"/>
          </a:solidFill>
          <a:ln/>
        </p:spPr>
      </p:sp>
      <p:pic>
        <p:nvPicPr>
          <p:cNvPr id="16" name="Image 0" descr="preencoded.png">    </p:cNvPr>
          <p:cNvPicPr>
            <a:picLocks noChangeAspect="1"/>
          </p:cNvPicPr>
          <p:nvPr/>
        </p:nvPicPr>
        <p:blipFill>
          <a:blip r:embed="rId1"/>
          <a:srcRect l="0" r="0" t="0" b="0"/>
          <a:stretch/>
        </p:blipFill>
        <p:spPr>
          <a:xfrm>
            <a:off x="9715500" y="4033418"/>
            <a:ext cx="571500" cy="457200"/>
          </a:xfrm>
          <a:prstGeom prst="rect">
            <a:avLst/>
          </a:prstGeom>
        </p:spPr>
      </p:pic>
      <p:sp>
        <p:nvSpPr>
          <p:cNvPr id="17" name="Text 14"/>
          <p:cNvSpPr txBox="1"/>
          <p:nvPr/>
        </p:nvSpPr>
        <p:spPr>
          <a:xfrm>
            <a:off x="9430207" y="4967021"/>
            <a:ext cx="1286561" cy="277063"/>
          </a:xfrm>
          <a:prstGeom prst="rect">
            <a:avLst/>
          </a:prstGeom>
          <a:noFill/>
          <a:ln/>
        </p:spPr>
        <p:txBody>
          <a:bodyPr wrap="square" lIns="0" tIns="0" rIns="0" bIns="0" rtlCol="0" anchor="ctr"/>
          <a:lstStyle/>
          <a:p>
            <a:pPr algn="ctr" indent="0" marL="0">
              <a:buNone/>
            </a:pPr>
            <a:r>
              <a:rPr lang="en-US" sz="1500" dirty="0">
                <a:solidFill>
                  <a:srgbClr val="374151"/>
                </a:solidFill>
                <a:latin typeface="Noto Sans JP" pitchFamily="34" charset="0"/>
                <a:ea typeface="Noto Sans JP" pitchFamily="34" charset="-122"/>
                <a:cs typeface="Noto Sans JP" pitchFamily="34" charset="-120"/>
              </a:rPr>
              <a:t>共に成長する</a:t>
            </a:r>
            <a:endParaRPr lang="en-US" sz="1500" dirty="0"/>
          </a:p>
        </p:txBody>
      </p:sp>
      <p:sp>
        <p:nvSpPr>
          <p:cNvPr id="18" name="Text 15"/>
          <p:cNvSpPr txBox="1"/>
          <p:nvPr/>
        </p:nvSpPr>
        <p:spPr>
          <a:xfrm>
            <a:off x="9089136" y="5223967"/>
            <a:ext cx="2000707" cy="333756"/>
          </a:xfrm>
          <a:prstGeom prst="rect">
            <a:avLst/>
          </a:prstGeom>
          <a:noFill/>
          <a:ln/>
        </p:spPr>
        <p:txBody>
          <a:bodyPr wrap="square" lIns="0" tIns="0" rIns="0" bIns="0" rtlCol="0" anchor="ctr"/>
          <a:lstStyle/>
          <a:p>
            <a:pPr algn="ctr" indent="0" marL="0">
              <a:buNone/>
            </a:pPr>
            <a:r>
              <a:rPr lang="en-US" sz="1800" b="1" dirty="0">
                <a:solidFill>
                  <a:srgbClr val="1F2937"/>
                </a:solidFill>
                <a:latin typeface="Noto Sans JP" pitchFamily="34" charset="0"/>
                <a:ea typeface="Noto Sans JP" pitchFamily="34" charset="-122"/>
                <a:cs typeface="Noto Sans JP" pitchFamily="34" charset="-120"/>
              </a:rPr>
              <a:t>パートナーシップ</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2025-10-19T04:58:27Z</dcterms:created>
  <dcterms:modified xsi:type="dcterms:W3CDTF">2025-10-19T04:58:27Z</dcterms:modified>
</cp:coreProperties>
</file>